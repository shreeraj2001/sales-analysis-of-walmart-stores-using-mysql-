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5.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7" r:id="rId1"/>
  </p:sldMasterIdLst>
  <p:notesMasterIdLst>
    <p:notesMasterId r:id="rId19"/>
  </p:notesMasterIdLst>
  <p:sldIdLst>
    <p:sldId id="256" r:id="rId2"/>
    <p:sldId id="273" r:id="rId3"/>
    <p:sldId id="262" r:id="rId4"/>
    <p:sldId id="276" r:id="rId5"/>
    <p:sldId id="274" r:id="rId6"/>
    <p:sldId id="275" r:id="rId7"/>
    <p:sldId id="263" r:id="rId8"/>
    <p:sldId id="264" r:id="rId9"/>
    <p:sldId id="265" r:id="rId10"/>
    <p:sldId id="266" r:id="rId11"/>
    <p:sldId id="267" r:id="rId12"/>
    <p:sldId id="268" r:id="rId13"/>
    <p:sldId id="269" r:id="rId14"/>
    <p:sldId id="270" r:id="rId15"/>
    <p:sldId id="271" r:id="rId16"/>
    <p:sldId id="272" r:id="rId17"/>
    <p:sldId id="27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E34118A-CC4D-46F5-B184-C2F9D1FB5242}">
          <p14:sldIdLst>
            <p14:sldId id="256"/>
            <p14:sldId id="273"/>
            <p14:sldId id="262"/>
            <p14:sldId id="276"/>
            <p14:sldId id="274"/>
            <p14:sldId id="275"/>
            <p14:sldId id="263"/>
            <p14:sldId id="264"/>
            <p14:sldId id="265"/>
            <p14:sldId id="266"/>
            <p14:sldId id="267"/>
            <p14:sldId id="268"/>
            <p14:sldId id="269"/>
            <p14:sldId id="270"/>
            <p14:sldId id="271"/>
            <p14:sldId id="272"/>
            <p14:sldId id="277"/>
          </p14:sldIdLst>
        </p14:section>
        <p14:section name="Untitled Section" id="{0178B90D-E534-48A0-AFFC-0FD52BFD638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79" autoAdjust="0"/>
    <p:restoredTop sz="75786" autoAdjust="0"/>
  </p:normalViewPr>
  <p:slideViewPr>
    <p:cSldViewPr snapToGrid="0">
      <p:cViewPr varScale="1">
        <p:scale>
          <a:sx n="62" d="100"/>
          <a:sy n="62" d="100"/>
        </p:scale>
        <p:origin x="115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20SHREERAJ\Downloads\Walmartsales%20Dataset%20-%20walmartsales.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20SHREERAJ\Downloads\Walmartsales%20Dataset%20-%20walmartsales.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S%20SHREERAJ\Downloads\Walmartsales%20Dataset%20-%20walmartsales.csv"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S%20SHREERAJ\Downloads\Walmartsales%20Dataset%20-%20walmartsales.csv"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IN"/>
              <a:t>sALES</a:t>
            </a:r>
            <a:r>
              <a:rPr lang="en-IN" baseline="0"/>
              <a:t> gROWTH</a:t>
            </a:r>
            <a:endParaRPr lang="en-IN"/>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Sheet4!$B$1</c:f>
              <c:strCache>
                <c:ptCount val="1"/>
                <c:pt idx="0">
                  <c:v>MONTH</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val>
            <c:numRef>
              <c:f>Sheet4!$B$2:$B$4</c:f>
              <c:numCache>
                <c:formatCode>General</c:formatCode>
                <c:ptCount val="3"/>
                <c:pt idx="0">
                  <c:v>1</c:v>
                </c:pt>
                <c:pt idx="1">
                  <c:v>2</c:v>
                </c:pt>
                <c:pt idx="2">
                  <c:v>3</c:v>
                </c:pt>
              </c:numCache>
            </c:numRef>
          </c:val>
          <c:smooth val="0"/>
          <c:extLst>
            <c:ext xmlns:c16="http://schemas.microsoft.com/office/drawing/2014/chart" uri="{C3380CC4-5D6E-409C-BE32-E72D297353CC}">
              <c16:uniqueId val="{00000000-D7A0-4869-A2DF-B9FF8C17E0D1}"/>
            </c:ext>
          </c:extLst>
        </c:ser>
        <c:ser>
          <c:idx val="1"/>
          <c:order val="1"/>
          <c:tx>
            <c:strRef>
              <c:f>Sheet4!$C$1</c:f>
              <c:strCache>
                <c:ptCount val="1"/>
                <c:pt idx="0">
                  <c:v>SALES</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val>
            <c:numRef>
              <c:f>Sheet4!$C$2:$C$4</c:f>
              <c:numCache>
                <c:formatCode>General</c:formatCode>
                <c:ptCount val="3"/>
                <c:pt idx="0">
                  <c:v>38681.128499999999</c:v>
                </c:pt>
                <c:pt idx="1">
                  <c:v>29860.120500000001</c:v>
                </c:pt>
                <c:pt idx="2">
                  <c:v>37659.121500000001</c:v>
                </c:pt>
              </c:numCache>
            </c:numRef>
          </c:val>
          <c:smooth val="0"/>
          <c:extLst>
            <c:ext xmlns:c16="http://schemas.microsoft.com/office/drawing/2014/chart" uri="{C3380CC4-5D6E-409C-BE32-E72D297353CC}">
              <c16:uniqueId val="{00000001-D7A0-4869-A2DF-B9FF8C17E0D1}"/>
            </c:ext>
          </c:extLst>
        </c:ser>
        <c:dLbls>
          <c:showLegendKey val="0"/>
          <c:showVal val="0"/>
          <c:showCatName val="0"/>
          <c:showSerName val="0"/>
          <c:showPercent val="0"/>
          <c:showBubbleSize val="0"/>
        </c:dLbls>
        <c:marker val="1"/>
        <c:smooth val="0"/>
        <c:axId val="1770822800"/>
        <c:axId val="1770843440"/>
      </c:lineChart>
      <c:catAx>
        <c:axId val="17708228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1770843440"/>
        <c:crosses val="autoZero"/>
        <c:auto val="1"/>
        <c:lblAlgn val="ctr"/>
        <c:lblOffset val="100"/>
        <c:noMultiLvlLbl val="0"/>
      </c:catAx>
      <c:valAx>
        <c:axId val="1770843440"/>
        <c:scaling>
          <c:orientation val="minMax"/>
        </c:scaling>
        <c:delete val="0"/>
        <c:axPos val="l"/>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082280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Sheet1!$C$1</c:f>
              <c:strCache>
                <c:ptCount val="1"/>
                <c:pt idx="0">
                  <c:v>Profit</c:v>
                </c:pt>
              </c:strCache>
            </c:strRef>
          </c:tx>
          <c:spPr>
            <a:solidFill>
              <a:schemeClr val="accent1"/>
            </a:solidFill>
            <a:ln>
              <a:noFill/>
            </a:ln>
            <a:effectLst/>
          </c:spPr>
          <c:invertIfNegative val="0"/>
          <c:cat>
            <c:multiLvlStrRef>
              <c:f>Sheet1!$A$2:$B$4</c:f>
              <c:multiLvlStrCache>
                <c:ptCount val="3"/>
                <c:lvl>
                  <c:pt idx="0">
                    <c:v>Home and lifestyle</c:v>
                  </c:pt>
                  <c:pt idx="1">
                    <c:v>Sports and travel</c:v>
                  </c:pt>
                  <c:pt idx="2">
                    <c:v>Food and beverages</c:v>
                  </c:pt>
                </c:lvl>
                <c:lvl>
                  <c:pt idx="0">
                    <c:v>A</c:v>
                  </c:pt>
                  <c:pt idx="1">
                    <c:v>B</c:v>
                  </c:pt>
                  <c:pt idx="2">
                    <c:v>C</c:v>
                  </c:pt>
                </c:lvl>
              </c:multiLvlStrCache>
            </c:multiLvlStrRef>
          </c:cat>
          <c:val>
            <c:numRef>
              <c:f>Sheet1!$C$2:$C$4</c:f>
              <c:numCache>
                <c:formatCode>General</c:formatCode>
                <c:ptCount val="3"/>
                <c:pt idx="0">
                  <c:v>1067.49</c:v>
                </c:pt>
                <c:pt idx="1">
                  <c:v>951.82</c:v>
                </c:pt>
                <c:pt idx="2">
                  <c:v>1131.75</c:v>
                </c:pt>
              </c:numCache>
            </c:numRef>
          </c:val>
          <c:extLst>
            <c:ext xmlns:c16="http://schemas.microsoft.com/office/drawing/2014/chart" uri="{C3380CC4-5D6E-409C-BE32-E72D297353CC}">
              <c16:uniqueId val="{00000000-DE2E-4A6C-B2F3-3A2F369095AB}"/>
            </c:ext>
          </c:extLst>
        </c:ser>
        <c:dLbls>
          <c:showLegendKey val="0"/>
          <c:showVal val="0"/>
          <c:showCatName val="0"/>
          <c:showSerName val="0"/>
          <c:showPercent val="0"/>
          <c:showBubbleSize val="0"/>
        </c:dLbls>
        <c:gapWidth val="219"/>
        <c:overlap val="-27"/>
        <c:axId val="2002913376"/>
        <c:axId val="1593714688"/>
      </c:barChart>
      <c:catAx>
        <c:axId val="2002913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93714688"/>
        <c:crosses val="autoZero"/>
        <c:auto val="1"/>
        <c:lblAlgn val="ctr"/>
        <c:lblOffset val="100"/>
        <c:noMultiLvlLbl val="0"/>
      </c:catAx>
      <c:valAx>
        <c:axId val="15937146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291337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cap="all" spc="50" baseline="0">
                <a:solidFill>
                  <a:schemeClr val="tx1">
                    <a:lumMod val="65000"/>
                    <a:lumOff val="35000"/>
                  </a:schemeClr>
                </a:solidFill>
                <a:latin typeface="+mn-lt"/>
                <a:ea typeface="+mn-ea"/>
                <a:cs typeface="+mn-cs"/>
              </a:defRPr>
            </a:pPr>
            <a:r>
              <a:rPr lang="en-IN"/>
              <a:t>No Of Cash Payments</a:t>
            </a:r>
          </a:p>
        </c:rich>
      </c:tx>
      <c:overlay val="0"/>
      <c:spPr>
        <a:noFill/>
        <a:ln>
          <a:noFill/>
        </a:ln>
        <a:effectLst/>
      </c:spPr>
      <c:txPr>
        <a:bodyPr rot="0" spcFirstLastPara="1" vertOverflow="ellipsis" vert="horz" wrap="square" anchor="ctr" anchorCtr="1"/>
        <a:lstStyle/>
        <a:p>
          <a:pPr>
            <a:defRPr sz="1400" b="1" i="0" u="none" strike="noStrike" kern="1200" cap="all" spc="5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Sheet5!$H$1</c:f>
              <c:strCache>
                <c:ptCount val="1"/>
                <c:pt idx="0">
                  <c:v>No_Payments</c:v>
                </c:pt>
              </c:strCache>
            </c:strRef>
          </c:tx>
          <c:dPt>
            <c:idx val="0"/>
            <c:bubble3D val="0"/>
            <c:spPr>
              <a:solidFill>
                <a:schemeClr val="accent1"/>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2BE4-4939-A1B6-0621D19351E5}"/>
              </c:ext>
            </c:extLst>
          </c:dPt>
          <c:dPt>
            <c:idx val="1"/>
            <c:bubble3D val="0"/>
            <c:spPr>
              <a:solidFill>
                <a:schemeClr val="accent2"/>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2BE4-4939-A1B6-0621D19351E5}"/>
              </c:ext>
            </c:extLst>
          </c:dPt>
          <c:dPt>
            <c:idx val="2"/>
            <c:bubble3D val="0"/>
            <c:spPr>
              <a:solidFill>
                <a:schemeClr val="accent3"/>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2BE4-4939-A1B6-0621D19351E5}"/>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Sheet5!$G$2:$G$4</c:f>
              <c:strCache>
                <c:ptCount val="3"/>
                <c:pt idx="0">
                  <c:v>Mandalay</c:v>
                </c:pt>
                <c:pt idx="1">
                  <c:v>Naypyitaw</c:v>
                </c:pt>
                <c:pt idx="2">
                  <c:v>Yangon</c:v>
                </c:pt>
              </c:strCache>
            </c:strRef>
          </c:cat>
          <c:val>
            <c:numRef>
              <c:f>Sheet5!$H$2:$H$4</c:f>
              <c:numCache>
                <c:formatCode>General</c:formatCode>
                <c:ptCount val="3"/>
                <c:pt idx="0">
                  <c:v>110</c:v>
                </c:pt>
                <c:pt idx="1">
                  <c:v>124</c:v>
                </c:pt>
                <c:pt idx="2">
                  <c:v>110</c:v>
                </c:pt>
              </c:numCache>
            </c:numRef>
          </c:val>
          <c:extLst>
            <c:ext xmlns:c16="http://schemas.microsoft.com/office/drawing/2014/chart" uri="{C3380CC4-5D6E-409C-BE32-E72D297353CC}">
              <c16:uniqueId val="{00000006-2BE4-4939-A1B6-0621D19351E5}"/>
            </c:ext>
          </c:extLst>
        </c:ser>
        <c:dLbls>
          <c:dLblPos val="inEnd"/>
          <c:showLegendKey val="0"/>
          <c:showVal val="0"/>
          <c:showCatName val="1"/>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[Walmartsales Dataset - walmartsales.csv]Sheet8!PivotTable52</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Sum of Sales by Gender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Sheet8!$B$3</c:f>
              <c:strCache>
                <c:ptCount val="1"/>
                <c:pt idx="0">
                  <c:v>Total</c:v>
                </c:pt>
              </c:strCache>
            </c:strRef>
          </c:tx>
          <c:spPr>
            <a:solidFill>
              <a:schemeClr val="accent1"/>
            </a:solidFill>
            <a:ln>
              <a:noFill/>
            </a:ln>
            <a:effectLst/>
          </c:spPr>
          <c:invertIfNegative val="0"/>
          <c:cat>
            <c:strRef>
              <c:f>Sheet8!$A$4:$A$5</c:f>
              <c:strCache>
                <c:ptCount val="2"/>
                <c:pt idx="0">
                  <c:v>Female</c:v>
                </c:pt>
                <c:pt idx="1">
                  <c:v>Male</c:v>
                </c:pt>
              </c:strCache>
            </c:strRef>
          </c:cat>
          <c:val>
            <c:numRef>
              <c:f>Sheet8!$B$4:$B$5</c:f>
              <c:numCache>
                <c:formatCode>General</c:formatCode>
                <c:ptCount val="2"/>
                <c:pt idx="0">
                  <c:v>167882.93</c:v>
                </c:pt>
                <c:pt idx="1">
                  <c:v>155083.82999999999</c:v>
                </c:pt>
              </c:numCache>
            </c:numRef>
          </c:val>
          <c:extLst>
            <c:ext xmlns:c16="http://schemas.microsoft.com/office/drawing/2014/chart" uri="{C3380CC4-5D6E-409C-BE32-E72D297353CC}">
              <c16:uniqueId val="{00000000-44AE-48A2-80EC-7B28311EAA3C}"/>
            </c:ext>
          </c:extLst>
        </c:ser>
        <c:dLbls>
          <c:showLegendKey val="0"/>
          <c:showVal val="0"/>
          <c:showCatName val="0"/>
          <c:showSerName val="0"/>
          <c:showPercent val="0"/>
          <c:showBubbleSize val="0"/>
        </c:dLbls>
        <c:gapWidth val="219"/>
        <c:overlap val="-27"/>
        <c:axId val="2002916256"/>
        <c:axId val="2002917696"/>
      </c:barChart>
      <c:catAx>
        <c:axId val="2002916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2917696"/>
        <c:crosses val="autoZero"/>
        <c:auto val="1"/>
        <c:lblAlgn val="ctr"/>
        <c:lblOffset val="100"/>
        <c:noMultiLvlLbl val="0"/>
      </c:catAx>
      <c:valAx>
        <c:axId val="20029176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291625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Total sales of best product line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Sheet6!$C$11</c:f>
              <c:strCache>
                <c:ptCount val="1"/>
                <c:pt idx="0">
                  <c:v>Total sales</c:v>
                </c:pt>
              </c:strCache>
            </c:strRef>
          </c:tx>
          <c:spPr>
            <a:solidFill>
              <a:schemeClr val="accent1"/>
            </a:solidFill>
            <a:ln>
              <a:noFill/>
            </a:ln>
            <a:effectLst/>
          </c:spPr>
          <c:invertIfNegative val="0"/>
          <c:cat>
            <c:strRef>
              <c:f>Sheet6!$A$12:$A$13</c:f>
              <c:strCache>
                <c:ptCount val="2"/>
                <c:pt idx="0">
                  <c:v>Member</c:v>
                </c:pt>
                <c:pt idx="1">
                  <c:v>Normal</c:v>
                </c:pt>
              </c:strCache>
            </c:strRef>
          </c:cat>
          <c:val>
            <c:numRef>
              <c:f>Sheet6!$C$12:$C$13</c:f>
              <c:numCache>
                <c:formatCode>General</c:formatCode>
                <c:ptCount val="2"/>
                <c:pt idx="0">
                  <c:v>31358</c:v>
                </c:pt>
                <c:pt idx="1">
                  <c:v>29839</c:v>
                </c:pt>
              </c:numCache>
            </c:numRef>
          </c:val>
          <c:extLst>
            <c:ext xmlns:c16="http://schemas.microsoft.com/office/drawing/2014/chart" uri="{C3380CC4-5D6E-409C-BE32-E72D297353CC}">
              <c16:uniqueId val="{00000000-F2AE-46B9-BD0E-D519607F6E68}"/>
            </c:ext>
          </c:extLst>
        </c:ser>
        <c:dLbls>
          <c:showLegendKey val="0"/>
          <c:showVal val="0"/>
          <c:showCatName val="0"/>
          <c:showSerName val="0"/>
          <c:showPercent val="0"/>
          <c:showBubbleSize val="0"/>
        </c:dLbls>
        <c:gapWidth val="182"/>
        <c:axId val="2007401392"/>
        <c:axId val="2007389872"/>
      </c:barChart>
      <c:catAx>
        <c:axId val="2007401392"/>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 Customer</a:t>
                </a:r>
                <a:r>
                  <a:rPr lang="en-IN" baseline="0"/>
                  <a:t> type</a:t>
                </a:r>
                <a:endParaRPr lang="en-IN"/>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7389872"/>
        <c:crosses val="autoZero"/>
        <c:auto val="1"/>
        <c:lblAlgn val="ctr"/>
        <c:lblOffset val="100"/>
        <c:noMultiLvlLbl val="0"/>
      </c:catAx>
      <c:valAx>
        <c:axId val="200738987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Total</a:t>
                </a:r>
                <a:r>
                  <a:rPr lang="en-IN" baseline="0"/>
                  <a:t> sales</a:t>
                </a:r>
                <a:endParaRPr lang="en-IN"/>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74013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Sales</a:t>
            </a:r>
            <a:r>
              <a:rPr lang="en-IN" baseline="0"/>
              <a:t> Trend By Days</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cat>
            <c:strRef>
              <c:f>Sheet6!$H$25:$H$31</c:f>
              <c:strCache>
                <c:ptCount val="7"/>
                <c:pt idx="0">
                  <c:v>Saturday</c:v>
                </c:pt>
                <c:pt idx="1">
                  <c:v>Tuesday</c:v>
                </c:pt>
                <c:pt idx="2">
                  <c:v>Thursday</c:v>
                </c:pt>
                <c:pt idx="3">
                  <c:v>Sunday</c:v>
                </c:pt>
                <c:pt idx="4">
                  <c:v>Friday</c:v>
                </c:pt>
                <c:pt idx="5">
                  <c:v>Wednesday</c:v>
                </c:pt>
                <c:pt idx="6">
                  <c:v>Monday</c:v>
                </c:pt>
              </c:strCache>
            </c:strRef>
          </c:cat>
          <c:val>
            <c:numRef>
              <c:f>Sheet6!$I$25:$I$31</c:f>
              <c:numCache>
                <c:formatCode>General</c:formatCode>
                <c:ptCount val="7"/>
                <c:pt idx="0">
                  <c:v>56120.81</c:v>
                </c:pt>
                <c:pt idx="1">
                  <c:v>51482.25</c:v>
                </c:pt>
                <c:pt idx="2">
                  <c:v>45349.25</c:v>
                </c:pt>
                <c:pt idx="3">
                  <c:v>44457.89</c:v>
                </c:pt>
                <c:pt idx="4">
                  <c:v>43926.34</c:v>
                </c:pt>
                <c:pt idx="5">
                  <c:v>43731.14</c:v>
                </c:pt>
                <c:pt idx="6">
                  <c:v>37899.08</c:v>
                </c:pt>
              </c:numCache>
            </c:numRef>
          </c:val>
          <c:extLst>
            <c:ext xmlns:c16="http://schemas.microsoft.com/office/drawing/2014/chart" uri="{C3380CC4-5D6E-409C-BE32-E72D297353CC}">
              <c16:uniqueId val="{00000000-D467-4582-9A22-89065C2B0525}"/>
            </c:ext>
          </c:extLst>
        </c:ser>
        <c:dLbls>
          <c:showLegendKey val="0"/>
          <c:showVal val="0"/>
          <c:showCatName val="0"/>
          <c:showSerName val="0"/>
          <c:showPercent val="0"/>
          <c:showBubbleSize val="0"/>
        </c:dLbls>
        <c:gapWidth val="219"/>
        <c:overlap val="-27"/>
        <c:axId val="1595586608"/>
        <c:axId val="1595584688"/>
      </c:barChart>
      <c:catAx>
        <c:axId val="1595586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95584688"/>
        <c:crosses val="autoZero"/>
        <c:auto val="1"/>
        <c:lblAlgn val="ctr"/>
        <c:lblOffset val="100"/>
        <c:noMultiLvlLbl val="0"/>
      </c:catAx>
      <c:valAx>
        <c:axId val="15955846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955866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6D9A00-A169-4116-82B3-790AEA5FEA7D}"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C0F4E62-D326-42AD-8CDD-43B361B9B0DD}">
      <dgm:prSet/>
      <dgm:spPr/>
      <dgm:t>
        <a:bodyPr/>
        <a:lstStyle/>
        <a:p>
          <a:pPr>
            <a:lnSpc>
              <a:spcPct val="100000"/>
            </a:lnSpc>
          </a:pPr>
          <a:r>
            <a:rPr lang="en-US" dirty="0">
              <a:latin typeface="Consolas" panose="020B0609020204030204" pitchFamily="49" charset="0"/>
            </a:rPr>
            <a:t>Introduction</a:t>
          </a:r>
        </a:p>
      </dgm:t>
    </dgm:pt>
    <dgm:pt modelId="{F25B6AE2-3696-45CC-A10F-A98FB322258C}" type="parTrans" cxnId="{C5AC195E-87F5-4C4F-98D9-6ACE9BDBAC1F}">
      <dgm:prSet/>
      <dgm:spPr/>
      <dgm:t>
        <a:bodyPr/>
        <a:lstStyle/>
        <a:p>
          <a:endParaRPr lang="en-US"/>
        </a:p>
      </dgm:t>
    </dgm:pt>
    <dgm:pt modelId="{5ABB44A3-C47C-4F5E-BDFD-7ABAA309214A}" type="sibTrans" cxnId="{C5AC195E-87F5-4C4F-98D9-6ACE9BDBAC1F}">
      <dgm:prSet/>
      <dgm:spPr/>
      <dgm:t>
        <a:bodyPr/>
        <a:lstStyle/>
        <a:p>
          <a:endParaRPr lang="en-US"/>
        </a:p>
      </dgm:t>
    </dgm:pt>
    <dgm:pt modelId="{3539D2CF-C67D-4942-8F73-694A6C7BF258}">
      <dgm:prSet/>
      <dgm:spPr/>
      <dgm:t>
        <a:bodyPr/>
        <a:lstStyle/>
        <a:p>
          <a:pPr>
            <a:lnSpc>
              <a:spcPct val="100000"/>
            </a:lnSpc>
          </a:pPr>
          <a:r>
            <a:rPr lang="en-US" dirty="0">
              <a:latin typeface="Consolas" panose="020B0609020204030204" pitchFamily="49" charset="0"/>
            </a:rPr>
            <a:t>Business Problem</a:t>
          </a:r>
        </a:p>
      </dgm:t>
    </dgm:pt>
    <dgm:pt modelId="{8F4D8263-F8DA-4BC2-9A86-00E902EB7D43}" type="parTrans" cxnId="{482D11D7-98E8-429B-9D9B-3708341038A6}">
      <dgm:prSet/>
      <dgm:spPr/>
      <dgm:t>
        <a:bodyPr/>
        <a:lstStyle/>
        <a:p>
          <a:endParaRPr lang="en-US"/>
        </a:p>
      </dgm:t>
    </dgm:pt>
    <dgm:pt modelId="{25317CFB-91ED-426E-8CD7-93484ADF3664}" type="sibTrans" cxnId="{482D11D7-98E8-429B-9D9B-3708341038A6}">
      <dgm:prSet/>
      <dgm:spPr/>
      <dgm:t>
        <a:bodyPr/>
        <a:lstStyle/>
        <a:p>
          <a:endParaRPr lang="en-US"/>
        </a:p>
      </dgm:t>
    </dgm:pt>
    <dgm:pt modelId="{ED9754F3-1141-4E43-9977-BF19EEDCE751}">
      <dgm:prSet/>
      <dgm:spPr/>
      <dgm:t>
        <a:bodyPr/>
        <a:lstStyle/>
        <a:p>
          <a:pPr>
            <a:lnSpc>
              <a:spcPct val="100000"/>
            </a:lnSpc>
          </a:pPr>
          <a:r>
            <a:rPr lang="en-US" dirty="0">
              <a:latin typeface="Consolas" panose="020B0609020204030204" pitchFamily="49" charset="0"/>
            </a:rPr>
            <a:t>Dataset Link</a:t>
          </a:r>
        </a:p>
      </dgm:t>
    </dgm:pt>
    <dgm:pt modelId="{D2AE28D5-C3B2-4AA7-8591-80F515A023D0}" type="parTrans" cxnId="{7BE7BE02-06D6-48FD-B2E0-DB1059D14CD0}">
      <dgm:prSet/>
      <dgm:spPr/>
      <dgm:t>
        <a:bodyPr/>
        <a:lstStyle/>
        <a:p>
          <a:endParaRPr lang="en-US"/>
        </a:p>
      </dgm:t>
    </dgm:pt>
    <dgm:pt modelId="{ED7AEE89-CC64-43B0-AF84-8717A317864E}" type="sibTrans" cxnId="{7BE7BE02-06D6-48FD-B2E0-DB1059D14CD0}">
      <dgm:prSet/>
      <dgm:spPr/>
      <dgm:t>
        <a:bodyPr/>
        <a:lstStyle/>
        <a:p>
          <a:endParaRPr lang="en-US"/>
        </a:p>
      </dgm:t>
    </dgm:pt>
    <dgm:pt modelId="{B891EB20-1675-401D-8E82-D67F1CA8B79C}">
      <dgm:prSet/>
      <dgm:spPr/>
      <dgm:t>
        <a:bodyPr/>
        <a:lstStyle/>
        <a:p>
          <a:pPr>
            <a:lnSpc>
              <a:spcPct val="100000"/>
            </a:lnSpc>
          </a:pPr>
          <a:r>
            <a:rPr lang="en-US" dirty="0">
              <a:latin typeface="Consolas" panose="020B0609020204030204" pitchFamily="49" charset="0"/>
            </a:rPr>
            <a:t>Tasks and Queries</a:t>
          </a:r>
        </a:p>
      </dgm:t>
    </dgm:pt>
    <dgm:pt modelId="{F46128FE-224E-48BB-851A-F43D1471FC33}" type="parTrans" cxnId="{22EA8B56-6C6A-4DBE-9C89-8866AC67A0D8}">
      <dgm:prSet/>
      <dgm:spPr/>
      <dgm:t>
        <a:bodyPr/>
        <a:lstStyle/>
        <a:p>
          <a:endParaRPr lang="en-US"/>
        </a:p>
      </dgm:t>
    </dgm:pt>
    <dgm:pt modelId="{80973A61-161C-4B01-B71C-E8AABB2FC77E}" type="sibTrans" cxnId="{22EA8B56-6C6A-4DBE-9C89-8866AC67A0D8}">
      <dgm:prSet/>
      <dgm:spPr/>
      <dgm:t>
        <a:bodyPr/>
        <a:lstStyle/>
        <a:p>
          <a:endParaRPr lang="en-US"/>
        </a:p>
      </dgm:t>
    </dgm:pt>
    <dgm:pt modelId="{3AFFDBD3-E31E-487D-A02C-BB63E2EC0CA5}" type="pres">
      <dgm:prSet presAssocID="{D96D9A00-A169-4116-82B3-790AEA5FEA7D}" presName="root" presStyleCnt="0">
        <dgm:presLayoutVars>
          <dgm:dir/>
          <dgm:resizeHandles val="exact"/>
        </dgm:presLayoutVars>
      </dgm:prSet>
      <dgm:spPr/>
    </dgm:pt>
    <dgm:pt modelId="{D4CB2770-88DE-4B9C-8CF2-48A350129754}" type="pres">
      <dgm:prSet presAssocID="{3C0F4E62-D326-42AD-8CDD-43B361B9B0DD}" presName="compNode" presStyleCnt="0"/>
      <dgm:spPr/>
    </dgm:pt>
    <dgm:pt modelId="{08353178-AA42-4140-8E5C-962BAD093A9C}" type="pres">
      <dgm:prSet presAssocID="{3C0F4E62-D326-42AD-8CDD-43B361B9B0D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48017339-4CC3-45F4-BA41-F839D1ABCCEE}" type="pres">
      <dgm:prSet presAssocID="{3C0F4E62-D326-42AD-8CDD-43B361B9B0DD}" presName="spaceRect" presStyleCnt="0"/>
      <dgm:spPr/>
    </dgm:pt>
    <dgm:pt modelId="{9EDA1927-D5E2-4030-9712-5AACE5C6434B}" type="pres">
      <dgm:prSet presAssocID="{3C0F4E62-D326-42AD-8CDD-43B361B9B0DD}" presName="textRect" presStyleLbl="revTx" presStyleIdx="0" presStyleCnt="4">
        <dgm:presLayoutVars>
          <dgm:chMax val="1"/>
          <dgm:chPref val="1"/>
        </dgm:presLayoutVars>
      </dgm:prSet>
      <dgm:spPr/>
    </dgm:pt>
    <dgm:pt modelId="{636EEA01-B1E5-4CAF-9E4A-E46FE1B7A8E9}" type="pres">
      <dgm:prSet presAssocID="{5ABB44A3-C47C-4F5E-BDFD-7ABAA309214A}" presName="sibTrans" presStyleCnt="0"/>
      <dgm:spPr/>
    </dgm:pt>
    <dgm:pt modelId="{5421EB22-6052-47AC-AC4B-DB2B754FC06E}" type="pres">
      <dgm:prSet presAssocID="{3539D2CF-C67D-4942-8F73-694A6C7BF258}" presName="compNode" presStyleCnt="0"/>
      <dgm:spPr/>
    </dgm:pt>
    <dgm:pt modelId="{06E00CFD-ED97-475B-B886-B1D99A9483E4}" type="pres">
      <dgm:prSet presAssocID="{3539D2CF-C67D-4942-8F73-694A6C7BF25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andshake"/>
        </a:ext>
      </dgm:extLst>
    </dgm:pt>
    <dgm:pt modelId="{F4925AC4-C340-4736-B595-04C2822C0C5B}" type="pres">
      <dgm:prSet presAssocID="{3539D2CF-C67D-4942-8F73-694A6C7BF258}" presName="spaceRect" presStyleCnt="0"/>
      <dgm:spPr/>
    </dgm:pt>
    <dgm:pt modelId="{3A865F8A-CAFB-49BF-91C3-FF72EBDA324C}" type="pres">
      <dgm:prSet presAssocID="{3539D2CF-C67D-4942-8F73-694A6C7BF258}" presName="textRect" presStyleLbl="revTx" presStyleIdx="1" presStyleCnt="4">
        <dgm:presLayoutVars>
          <dgm:chMax val="1"/>
          <dgm:chPref val="1"/>
        </dgm:presLayoutVars>
      </dgm:prSet>
      <dgm:spPr/>
    </dgm:pt>
    <dgm:pt modelId="{EDEF83A3-7C74-414D-A8EE-83AE02285BD8}" type="pres">
      <dgm:prSet presAssocID="{25317CFB-91ED-426E-8CD7-93484ADF3664}" presName="sibTrans" presStyleCnt="0"/>
      <dgm:spPr/>
    </dgm:pt>
    <dgm:pt modelId="{1311B641-B520-4518-A6A0-8F1897200628}" type="pres">
      <dgm:prSet presAssocID="{ED9754F3-1141-4E43-9977-BF19EEDCE751}" presName="compNode" presStyleCnt="0"/>
      <dgm:spPr/>
    </dgm:pt>
    <dgm:pt modelId="{EEFD900C-E498-401E-9B25-18243CF1409E}" type="pres">
      <dgm:prSet presAssocID="{ED9754F3-1141-4E43-9977-BF19EEDCE75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nk"/>
        </a:ext>
      </dgm:extLst>
    </dgm:pt>
    <dgm:pt modelId="{7B2FEB86-CB6E-4971-AFC8-EF8403142D9B}" type="pres">
      <dgm:prSet presAssocID="{ED9754F3-1141-4E43-9977-BF19EEDCE751}" presName="spaceRect" presStyleCnt="0"/>
      <dgm:spPr/>
    </dgm:pt>
    <dgm:pt modelId="{7C68E7C7-EACB-4509-946A-543635573592}" type="pres">
      <dgm:prSet presAssocID="{ED9754F3-1141-4E43-9977-BF19EEDCE751}" presName="textRect" presStyleLbl="revTx" presStyleIdx="2" presStyleCnt="4">
        <dgm:presLayoutVars>
          <dgm:chMax val="1"/>
          <dgm:chPref val="1"/>
        </dgm:presLayoutVars>
      </dgm:prSet>
      <dgm:spPr/>
    </dgm:pt>
    <dgm:pt modelId="{CF2BBF15-996C-4EF1-84F1-B7E71AD848BD}" type="pres">
      <dgm:prSet presAssocID="{ED7AEE89-CC64-43B0-AF84-8717A317864E}" presName="sibTrans" presStyleCnt="0"/>
      <dgm:spPr/>
    </dgm:pt>
    <dgm:pt modelId="{FC4D449E-8E5D-4FC6-A4FA-2D231B0CB459}" type="pres">
      <dgm:prSet presAssocID="{B891EB20-1675-401D-8E82-D67F1CA8B79C}" presName="compNode" presStyleCnt="0"/>
      <dgm:spPr/>
    </dgm:pt>
    <dgm:pt modelId="{1C870FDD-A2FA-439B-972E-E4CF96D22226}" type="pres">
      <dgm:prSet presAssocID="{B891EB20-1675-401D-8E82-D67F1CA8B79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lp"/>
        </a:ext>
      </dgm:extLst>
    </dgm:pt>
    <dgm:pt modelId="{C449303A-FE9E-4669-BF62-0C2CD8B3A7D9}" type="pres">
      <dgm:prSet presAssocID="{B891EB20-1675-401D-8E82-D67F1CA8B79C}" presName="spaceRect" presStyleCnt="0"/>
      <dgm:spPr/>
    </dgm:pt>
    <dgm:pt modelId="{CC808135-8EAC-4EE8-A91E-D23FE22F03FD}" type="pres">
      <dgm:prSet presAssocID="{B891EB20-1675-401D-8E82-D67F1CA8B79C}" presName="textRect" presStyleLbl="revTx" presStyleIdx="3" presStyleCnt="4">
        <dgm:presLayoutVars>
          <dgm:chMax val="1"/>
          <dgm:chPref val="1"/>
        </dgm:presLayoutVars>
      </dgm:prSet>
      <dgm:spPr/>
    </dgm:pt>
  </dgm:ptLst>
  <dgm:cxnLst>
    <dgm:cxn modelId="{7BE7BE02-06D6-48FD-B2E0-DB1059D14CD0}" srcId="{D96D9A00-A169-4116-82B3-790AEA5FEA7D}" destId="{ED9754F3-1141-4E43-9977-BF19EEDCE751}" srcOrd="2" destOrd="0" parTransId="{D2AE28D5-C3B2-4AA7-8591-80F515A023D0}" sibTransId="{ED7AEE89-CC64-43B0-AF84-8717A317864E}"/>
    <dgm:cxn modelId="{3DDBD31C-BB4C-445A-BE93-B93833F2A38C}" type="presOf" srcId="{ED9754F3-1141-4E43-9977-BF19EEDCE751}" destId="{7C68E7C7-EACB-4509-946A-543635573592}" srcOrd="0" destOrd="0" presId="urn:microsoft.com/office/officeart/2018/2/layout/IconLabelList"/>
    <dgm:cxn modelId="{C5AC195E-87F5-4C4F-98D9-6ACE9BDBAC1F}" srcId="{D96D9A00-A169-4116-82B3-790AEA5FEA7D}" destId="{3C0F4E62-D326-42AD-8CDD-43B361B9B0DD}" srcOrd="0" destOrd="0" parTransId="{F25B6AE2-3696-45CC-A10F-A98FB322258C}" sibTransId="{5ABB44A3-C47C-4F5E-BDFD-7ABAA309214A}"/>
    <dgm:cxn modelId="{E0B9F85E-6FF3-4D1D-A716-53FED01EA14C}" type="presOf" srcId="{3C0F4E62-D326-42AD-8CDD-43B361B9B0DD}" destId="{9EDA1927-D5E2-4030-9712-5AACE5C6434B}" srcOrd="0" destOrd="0" presId="urn:microsoft.com/office/officeart/2018/2/layout/IconLabelList"/>
    <dgm:cxn modelId="{22EA8B56-6C6A-4DBE-9C89-8866AC67A0D8}" srcId="{D96D9A00-A169-4116-82B3-790AEA5FEA7D}" destId="{B891EB20-1675-401D-8E82-D67F1CA8B79C}" srcOrd="3" destOrd="0" parTransId="{F46128FE-224E-48BB-851A-F43D1471FC33}" sibTransId="{80973A61-161C-4B01-B71C-E8AABB2FC77E}"/>
    <dgm:cxn modelId="{5EF837C6-6D10-4565-8CE9-B784D6EF063F}" type="presOf" srcId="{3539D2CF-C67D-4942-8F73-694A6C7BF258}" destId="{3A865F8A-CAFB-49BF-91C3-FF72EBDA324C}" srcOrd="0" destOrd="0" presId="urn:microsoft.com/office/officeart/2018/2/layout/IconLabelList"/>
    <dgm:cxn modelId="{482D11D7-98E8-429B-9D9B-3708341038A6}" srcId="{D96D9A00-A169-4116-82B3-790AEA5FEA7D}" destId="{3539D2CF-C67D-4942-8F73-694A6C7BF258}" srcOrd="1" destOrd="0" parTransId="{8F4D8263-F8DA-4BC2-9A86-00E902EB7D43}" sibTransId="{25317CFB-91ED-426E-8CD7-93484ADF3664}"/>
    <dgm:cxn modelId="{806097E8-7F69-47F4-9774-B1A90C5B4260}" type="presOf" srcId="{B891EB20-1675-401D-8E82-D67F1CA8B79C}" destId="{CC808135-8EAC-4EE8-A91E-D23FE22F03FD}" srcOrd="0" destOrd="0" presId="urn:microsoft.com/office/officeart/2018/2/layout/IconLabelList"/>
    <dgm:cxn modelId="{3DA397E8-181A-4A3C-A1ED-6C21C1D4702B}" type="presOf" srcId="{D96D9A00-A169-4116-82B3-790AEA5FEA7D}" destId="{3AFFDBD3-E31E-487D-A02C-BB63E2EC0CA5}" srcOrd="0" destOrd="0" presId="urn:microsoft.com/office/officeart/2018/2/layout/IconLabelList"/>
    <dgm:cxn modelId="{12B38C69-DB96-4424-A682-DFE86951BFD9}" type="presParOf" srcId="{3AFFDBD3-E31E-487D-A02C-BB63E2EC0CA5}" destId="{D4CB2770-88DE-4B9C-8CF2-48A350129754}" srcOrd="0" destOrd="0" presId="urn:microsoft.com/office/officeart/2018/2/layout/IconLabelList"/>
    <dgm:cxn modelId="{0FADBBB9-7386-4359-82A8-2E2D169E4822}" type="presParOf" srcId="{D4CB2770-88DE-4B9C-8CF2-48A350129754}" destId="{08353178-AA42-4140-8E5C-962BAD093A9C}" srcOrd="0" destOrd="0" presId="urn:microsoft.com/office/officeart/2018/2/layout/IconLabelList"/>
    <dgm:cxn modelId="{B7AD51FF-F285-4E79-A130-5BDAB1C8D98E}" type="presParOf" srcId="{D4CB2770-88DE-4B9C-8CF2-48A350129754}" destId="{48017339-4CC3-45F4-BA41-F839D1ABCCEE}" srcOrd="1" destOrd="0" presId="urn:microsoft.com/office/officeart/2018/2/layout/IconLabelList"/>
    <dgm:cxn modelId="{4F979473-7D56-4EB6-AFF2-843D6F0977D9}" type="presParOf" srcId="{D4CB2770-88DE-4B9C-8CF2-48A350129754}" destId="{9EDA1927-D5E2-4030-9712-5AACE5C6434B}" srcOrd="2" destOrd="0" presId="urn:microsoft.com/office/officeart/2018/2/layout/IconLabelList"/>
    <dgm:cxn modelId="{14CC2A33-17F0-446B-9859-47DB7D13CAE9}" type="presParOf" srcId="{3AFFDBD3-E31E-487D-A02C-BB63E2EC0CA5}" destId="{636EEA01-B1E5-4CAF-9E4A-E46FE1B7A8E9}" srcOrd="1" destOrd="0" presId="urn:microsoft.com/office/officeart/2018/2/layout/IconLabelList"/>
    <dgm:cxn modelId="{474EBC1B-2BFF-4F22-9A4E-CFE9A2388BB0}" type="presParOf" srcId="{3AFFDBD3-E31E-487D-A02C-BB63E2EC0CA5}" destId="{5421EB22-6052-47AC-AC4B-DB2B754FC06E}" srcOrd="2" destOrd="0" presId="urn:microsoft.com/office/officeart/2018/2/layout/IconLabelList"/>
    <dgm:cxn modelId="{5A3350FB-2937-470C-A349-1CCA95C4C459}" type="presParOf" srcId="{5421EB22-6052-47AC-AC4B-DB2B754FC06E}" destId="{06E00CFD-ED97-475B-B886-B1D99A9483E4}" srcOrd="0" destOrd="0" presId="urn:microsoft.com/office/officeart/2018/2/layout/IconLabelList"/>
    <dgm:cxn modelId="{F2D435A7-4EF1-43C8-AA4A-C1C550D7E811}" type="presParOf" srcId="{5421EB22-6052-47AC-AC4B-DB2B754FC06E}" destId="{F4925AC4-C340-4736-B595-04C2822C0C5B}" srcOrd="1" destOrd="0" presId="urn:microsoft.com/office/officeart/2018/2/layout/IconLabelList"/>
    <dgm:cxn modelId="{B54B0453-E06C-4DF0-A7D9-7698B7C5B86D}" type="presParOf" srcId="{5421EB22-6052-47AC-AC4B-DB2B754FC06E}" destId="{3A865F8A-CAFB-49BF-91C3-FF72EBDA324C}" srcOrd="2" destOrd="0" presId="urn:microsoft.com/office/officeart/2018/2/layout/IconLabelList"/>
    <dgm:cxn modelId="{67C3CF7C-400D-44D3-A7D0-07504986A602}" type="presParOf" srcId="{3AFFDBD3-E31E-487D-A02C-BB63E2EC0CA5}" destId="{EDEF83A3-7C74-414D-A8EE-83AE02285BD8}" srcOrd="3" destOrd="0" presId="urn:microsoft.com/office/officeart/2018/2/layout/IconLabelList"/>
    <dgm:cxn modelId="{9FC5A38B-36ED-4C5E-81AC-2487741A5709}" type="presParOf" srcId="{3AFFDBD3-E31E-487D-A02C-BB63E2EC0CA5}" destId="{1311B641-B520-4518-A6A0-8F1897200628}" srcOrd="4" destOrd="0" presId="urn:microsoft.com/office/officeart/2018/2/layout/IconLabelList"/>
    <dgm:cxn modelId="{13D979BB-D5F3-4E7D-A7F6-AFDDF5431373}" type="presParOf" srcId="{1311B641-B520-4518-A6A0-8F1897200628}" destId="{EEFD900C-E498-401E-9B25-18243CF1409E}" srcOrd="0" destOrd="0" presId="urn:microsoft.com/office/officeart/2018/2/layout/IconLabelList"/>
    <dgm:cxn modelId="{96BF72FF-421C-4DA2-8CAF-9DD1E48E32C6}" type="presParOf" srcId="{1311B641-B520-4518-A6A0-8F1897200628}" destId="{7B2FEB86-CB6E-4971-AFC8-EF8403142D9B}" srcOrd="1" destOrd="0" presId="urn:microsoft.com/office/officeart/2018/2/layout/IconLabelList"/>
    <dgm:cxn modelId="{EFA55B51-7523-4740-B8D3-449A325CC45C}" type="presParOf" srcId="{1311B641-B520-4518-A6A0-8F1897200628}" destId="{7C68E7C7-EACB-4509-946A-543635573592}" srcOrd="2" destOrd="0" presId="urn:microsoft.com/office/officeart/2018/2/layout/IconLabelList"/>
    <dgm:cxn modelId="{48696777-EA7B-4CA3-8D12-D2D956E1A85D}" type="presParOf" srcId="{3AFFDBD3-E31E-487D-A02C-BB63E2EC0CA5}" destId="{CF2BBF15-996C-4EF1-84F1-B7E71AD848BD}" srcOrd="5" destOrd="0" presId="urn:microsoft.com/office/officeart/2018/2/layout/IconLabelList"/>
    <dgm:cxn modelId="{D5D55738-D61A-49D2-9621-D734655828F7}" type="presParOf" srcId="{3AFFDBD3-E31E-487D-A02C-BB63E2EC0CA5}" destId="{FC4D449E-8E5D-4FC6-A4FA-2D231B0CB459}" srcOrd="6" destOrd="0" presId="urn:microsoft.com/office/officeart/2018/2/layout/IconLabelList"/>
    <dgm:cxn modelId="{F043871A-5BE7-4E40-8139-17B7A8C1BE90}" type="presParOf" srcId="{FC4D449E-8E5D-4FC6-A4FA-2D231B0CB459}" destId="{1C870FDD-A2FA-439B-972E-E4CF96D22226}" srcOrd="0" destOrd="0" presId="urn:microsoft.com/office/officeart/2018/2/layout/IconLabelList"/>
    <dgm:cxn modelId="{F9C11C47-5AD1-4F10-AE29-207A3FECAAAB}" type="presParOf" srcId="{FC4D449E-8E5D-4FC6-A4FA-2D231B0CB459}" destId="{C449303A-FE9E-4669-BF62-0C2CD8B3A7D9}" srcOrd="1" destOrd="0" presId="urn:microsoft.com/office/officeart/2018/2/layout/IconLabelList"/>
    <dgm:cxn modelId="{41658914-0927-4589-81D9-D4517B3A1268}" type="presParOf" srcId="{FC4D449E-8E5D-4FC6-A4FA-2D231B0CB459}" destId="{CC808135-8EAC-4EE8-A91E-D23FE22F03FD}"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353178-AA42-4140-8E5C-962BAD093A9C}">
      <dsp:nvSpPr>
        <dsp:cNvPr id="0" name=""/>
        <dsp:cNvSpPr/>
      </dsp:nvSpPr>
      <dsp:spPr>
        <a:xfrm>
          <a:off x="712197" y="715776"/>
          <a:ext cx="1063698" cy="106369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EDA1927-D5E2-4030-9712-5AACE5C6434B}">
      <dsp:nvSpPr>
        <dsp:cNvPr id="0" name=""/>
        <dsp:cNvSpPr/>
      </dsp:nvSpPr>
      <dsp:spPr>
        <a:xfrm>
          <a:off x="62159" y="2094285"/>
          <a:ext cx="23637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latin typeface="Consolas" panose="020B0609020204030204" pitchFamily="49" charset="0"/>
            </a:rPr>
            <a:t>Introduction</a:t>
          </a:r>
        </a:p>
      </dsp:txBody>
      <dsp:txXfrm>
        <a:off x="62159" y="2094285"/>
        <a:ext cx="2363775" cy="720000"/>
      </dsp:txXfrm>
    </dsp:sp>
    <dsp:sp modelId="{06E00CFD-ED97-475B-B886-B1D99A9483E4}">
      <dsp:nvSpPr>
        <dsp:cNvPr id="0" name=""/>
        <dsp:cNvSpPr/>
      </dsp:nvSpPr>
      <dsp:spPr>
        <a:xfrm>
          <a:off x="3489632" y="715776"/>
          <a:ext cx="1063698" cy="106369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A865F8A-CAFB-49BF-91C3-FF72EBDA324C}">
      <dsp:nvSpPr>
        <dsp:cNvPr id="0" name=""/>
        <dsp:cNvSpPr/>
      </dsp:nvSpPr>
      <dsp:spPr>
        <a:xfrm>
          <a:off x="2839594" y="2094285"/>
          <a:ext cx="23637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latin typeface="Consolas" panose="020B0609020204030204" pitchFamily="49" charset="0"/>
            </a:rPr>
            <a:t>Business Problem</a:t>
          </a:r>
        </a:p>
      </dsp:txBody>
      <dsp:txXfrm>
        <a:off x="2839594" y="2094285"/>
        <a:ext cx="2363775" cy="720000"/>
      </dsp:txXfrm>
    </dsp:sp>
    <dsp:sp modelId="{EEFD900C-E498-401E-9B25-18243CF1409E}">
      <dsp:nvSpPr>
        <dsp:cNvPr id="0" name=""/>
        <dsp:cNvSpPr/>
      </dsp:nvSpPr>
      <dsp:spPr>
        <a:xfrm>
          <a:off x="6267068" y="715776"/>
          <a:ext cx="1063698" cy="106369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C68E7C7-EACB-4509-946A-543635573592}">
      <dsp:nvSpPr>
        <dsp:cNvPr id="0" name=""/>
        <dsp:cNvSpPr/>
      </dsp:nvSpPr>
      <dsp:spPr>
        <a:xfrm>
          <a:off x="5617030" y="2094285"/>
          <a:ext cx="23637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latin typeface="Consolas" panose="020B0609020204030204" pitchFamily="49" charset="0"/>
            </a:rPr>
            <a:t>Dataset Link</a:t>
          </a:r>
        </a:p>
      </dsp:txBody>
      <dsp:txXfrm>
        <a:off x="5617030" y="2094285"/>
        <a:ext cx="2363775" cy="720000"/>
      </dsp:txXfrm>
    </dsp:sp>
    <dsp:sp modelId="{1C870FDD-A2FA-439B-972E-E4CF96D22226}">
      <dsp:nvSpPr>
        <dsp:cNvPr id="0" name=""/>
        <dsp:cNvSpPr/>
      </dsp:nvSpPr>
      <dsp:spPr>
        <a:xfrm>
          <a:off x="9044504" y="715776"/>
          <a:ext cx="1063698" cy="106369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C808135-8EAC-4EE8-A91E-D23FE22F03FD}">
      <dsp:nvSpPr>
        <dsp:cNvPr id="0" name=""/>
        <dsp:cNvSpPr/>
      </dsp:nvSpPr>
      <dsp:spPr>
        <a:xfrm>
          <a:off x="8394465" y="2094285"/>
          <a:ext cx="23637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latin typeface="Consolas" panose="020B0609020204030204" pitchFamily="49" charset="0"/>
            </a:rPr>
            <a:t>Tasks and Queries</a:t>
          </a:r>
        </a:p>
      </dsp:txBody>
      <dsp:txXfrm>
        <a:off x="8394465" y="2094285"/>
        <a:ext cx="2363775"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829BB1-1420-4FF8-8289-6454DAD93FE5}" type="datetimeFigureOut">
              <a:rPr lang="en-IN" smtClean="0"/>
              <a:t>04-01-2025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5290F5-2B79-46DB-B24B-AB55803D7345}" type="slidenum">
              <a:rPr lang="en-IN" smtClean="0"/>
              <a:t>‹#›</a:t>
            </a:fld>
            <a:endParaRPr lang="en-IN"/>
          </a:p>
        </p:txBody>
      </p:sp>
    </p:spTree>
    <p:extLst>
      <p:ext uri="{BB962C8B-B14F-4D97-AF65-F5344CB8AC3E}">
        <p14:creationId xmlns:p14="http://schemas.microsoft.com/office/powerpoint/2010/main" val="3164715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5290F5-2B79-46DB-B24B-AB55803D7345}" type="slidenum">
              <a:rPr lang="en-IN" smtClean="0"/>
              <a:t>1</a:t>
            </a:fld>
            <a:endParaRPr lang="en-IN"/>
          </a:p>
        </p:txBody>
      </p:sp>
    </p:spTree>
    <p:extLst>
      <p:ext uri="{BB962C8B-B14F-4D97-AF65-F5344CB8AC3E}">
        <p14:creationId xmlns:p14="http://schemas.microsoft.com/office/powerpoint/2010/main" val="501682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A708F-3F8B-62F7-B9C1-FFD5D6D3E8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7F46B-ED9B-D24D-D846-ABD0ECE404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7AEF70-136C-F923-B43D-DA4FD3A3B18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276CBEA-0105-FF5F-1D7B-03767D427232}"/>
              </a:ext>
            </a:extLst>
          </p:cNvPr>
          <p:cNvSpPr>
            <a:spLocks noGrp="1"/>
          </p:cNvSpPr>
          <p:nvPr>
            <p:ph type="sldNum" sz="quarter" idx="5"/>
          </p:nvPr>
        </p:nvSpPr>
        <p:spPr/>
        <p:txBody>
          <a:bodyPr/>
          <a:lstStyle/>
          <a:p>
            <a:fld id="{FD5290F5-2B79-46DB-B24B-AB55803D7345}" type="slidenum">
              <a:rPr lang="en-IN" smtClean="0"/>
              <a:t>2</a:t>
            </a:fld>
            <a:endParaRPr lang="en-IN"/>
          </a:p>
        </p:txBody>
      </p:sp>
    </p:spTree>
    <p:extLst>
      <p:ext uri="{BB962C8B-B14F-4D97-AF65-F5344CB8AC3E}">
        <p14:creationId xmlns:p14="http://schemas.microsoft.com/office/powerpoint/2010/main" val="1086983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5290F5-2B79-46DB-B24B-AB55803D7345}" type="slidenum">
              <a:rPr lang="en-IN" smtClean="0"/>
              <a:t>5</a:t>
            </a:fld>
            <a:endParaRPr lang="en-IN"/>
          </a:p>
        </p:txBody>
      </p:sp>
    </p:spTree>
    <p:extLst>
      <p:ext uri="{BB962C8B-B14F-4D97-AF65-F5344CB8AC3E}">
        <p14:creationId xmlns:p14="http://schemas.microsoft.com/office/powerpoint/2010/main" val="1257089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5290F5-2B79-46DB-B24B-AB55803D7345}" type="slidenum">
              <a:rPr lang="en-IN" smtClean="0"/>
              <a:t>7</a:t>
            </a:fld>
            <a:endParaRPr lang="en-IN"/>
          </a:p>
        </p:txBody>
      </p:sp>
    </p:spTree>
    <p:extLst>
      <p:ext uri="{BB962C8B-B14F-4D97-AF65-F5344CB8AC3E}">
        <p14:creationId xmlns:p14="http://schemas.microsoft.com/office/powerpoint/2010/main" val="3317827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5290F5-2B79-46DB-B24B-AB55803D7345}" type="slidenum">
              <a:rPr lang="en-IN" smtClean="0"/>
              <a:t>16</a:t>
            </a:fld>
            <a:endParaRPr lang="en-IN"/>
          </a:p>
        </p:txBody>
      </p:sp>
    </p:spTree>
    <p:extLst>
      <p:ext uri="{BB962C8B-B14F-4D97-AF65-F5344CB8AC3E}">
        <p14:creationId xmlns:p14="http://schemas.microsoft.com/office/powerpoint/2010/main" val="2911370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32372-B5F6-FC3C-9479-F6E56B6338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9B86D9-B37E-9A19-91CD-374D051425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87C53-F4B3-483D-AEEC-75A504D7F98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44E17F5-C57A-FEE1-1681-4A7C4AD4987E}"/>
              </a:ext>
            </a:extLst>
          </p:cNvPr>
          <p:cNvSpPr>
            <a:spLocks noGrp="1"/>
          </p:cNvSpPr>
          <p:nvPr>
            <p:ph type="sldNum" sz="quarter" idx="5"/>
          </p:nvPr>
        </p:nvSpPr>
        <p:spPr/>
        <p:txBody>
          <a:bodyPr/>
          <a:lstStyle/>
          <a:p>
            <a:fld id="{FD5290F5-2B79-46DB-B24B-AB55803D7345}" type="slidenum">
              <a:rPr lang="en-IN" smtClean="0"/>
              <a:t>17</a:t>
            </a:fld>
            <a:endParaRPr lang="en-IN"/>
          </a:p>
        </p:txBody>
      </p:sp>
    </p:spTree>
    <p:extLst>
      <p:ext uri="{BB962C8B-B14F-4D97-AF65-F5344CB8AC3E}">
        <p14:creationId xmlns:p14="http://schemas.microsoft.com/office/powerpoint/2010/main" val="20500026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82A7FEF2-BBA8-4D85-B6DE-D642EF9A4369}" type="datetimeFigureOut">
              <a:rPr lang="en-IN" smtClean="0"/>
              <a:t>04-01-2025</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A90831CE-EFC9-440E-8068-FA94E2AE8B15}" type="slidenum">
              <a:rPr lang="en-IN" smtClean="0"/>
              <a:t>‹#›</a:t>
            </a:fld>
            <a:endParaRPr lang="en-IN"/>
          </a:p>
        </p:txBody>
      </p:sp>
    </p:spTree>
    <p:extLst>
      <p:ext uri="{BB962C8B-B14F-4D97-AF65-F5344CB8AC3E}">
        <p14:creationId xmlns:p14="http://schemas.microsoft.com/office/powerpoint/2010/main" val="1126552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A7FEF2-BBA8-4D85-B6DE-D642EF9A4369}" type="datetimeFigureOut">
              <a:rPr lang="en-IN" smtClean="0"/>
              <a:t>04-01-2025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0831CE-EFC9-440E-8068-FA94E2AE8B15}" type="slidenum">
              <a:rPr lang="en-IN" smtClean="0"/>
              <a:t>‹#›</a:t>
            </a:fld>
            <a:endParaRPr lang="en-IN"/>
          </a:p>
        </p:txBody>
      </p:sp>
    </p:spTree>
    <p:extLst>
      <p:ext uri="{BB962C8B-B14F-4D97-AF65-F5344CB8AC3E}">
        <p14:creationId xmlns:p14="http://schemas.microsoft.com/office/powerpoint/2010/main" val="345918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82A7FEF2-BBA8-4D85-B6DE-D642EF9A4369}" type="datetimeFigureOut">
              <a:rPr lang="en-IN" smtClean="0"/>
              <a:t>04-01-2025</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A90831CE-EFC9-440E-8068-FA94E2AE8B15}" type="slidenum">
              <a:rPr lang="en-IN" smtClean="0"/>
              <a:t>‹#›</a:t>
            </a:fld>
            <a:endParaRPr lang="en-IN"/>
          </a:p>
        </p:txBody>
      </p:sp>
    </p:spTree>
    <p:extLst>
      <p:ext uri="{BB962C8B-B14F-4D97-AF65-F5344CB8AC3E}">
        <p14:creationId xmlns:p14="http://schemas.microsoft.com/office/powerpoint/2010/main" val="1799571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2A7FEF2-BBA8-4D85-B6DE-D642EF9A4369}" type="datetimeFigureOut">
              <a:rPr lang="en-IN" smtClean="0"/>
              <a:t>04-01-2025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0831CE-EFC9-440E-8068-FA94E2AE8B15}" type="slidenum">
              <a:rPr lang="en-IN" smtClean="0"/>
              <a:t>‹#›</a:t>
            </a:fld>
            <a:endParaRPr lang="en-IN"/>
          </a:p>
        </p:txBody>
      </p:sp>
    </p:spTree>
    <p:extLst>
      <p:ext uri="{BB962C8B-B14F-4D97-AF65-F5344CB8AC3E}">
        <p14:creationId xmlns:p14="http://schemas.microsoft.com/office/powerpoint/2010/main" val="3380890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A7FEF2-BBA8-4D85-B6DE-D642EF9A4369}" type="datetimeFigureOut">
              <a:rPr lang="en-IN" smtClean="0"/>
              <a:t>04-01-2025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90831CE-EFC9-440E-8068-FA94E2AE8B15}" type="slidenum">
              <a:rPr lang="en-IN" smtClean="0"/>
              <a:t>‹#›</a:t>
            </a:fld>
            <a:endParaRPr lang="en-IN"/>
          </a:p>
        </p:txBody>
      </p:sp>
    </p:spTree>
    <p:extLst>
      <p:ext uri="{BB962C8B-B14F-4D97-AF65-F5344CB8AC3E}">
        <p14:creationId xmlns:p14="http://schemas.microsoft.com/office/powerpoint/2010/main" val="3357853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2A7FEF2-BBA8-4D85-B6DE-D642EF9A4369}" type="datetimeFigureOut">
              <a:rPr lang="en-IN" smtClean="0"/>
              <a:t>04-01-2025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0831CE-EFC9-440E-8068-FA94E2AE8B15}" type="slidenum">
              <a:rPr lang="en-IN" smtClean="0"/>
              <a:t>‹#›</a:t>
            </a:fld>
            <a:endParaRPr lang="en-IN"/>
          </a:p>
        </p:txBody>
      </p:sp>
    </p:spTree>
    <p:extLst>
      <p:ext uri="{BB962C8B-B14F-4D97-AF65-F5344CB8AC3E}">
        <p14:creationId xmlns:p14="http://schemas.microsoft.com/office/powerpoint/2010/main" val="62686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A7FEF2-BBA8-4D85-B6DE-D642EF9A4369}" type="datetimeFigureOut">
              <a:rPr lang="en-IN" smtClean="0"/>
              <a:t>04-01-2025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90831CE-EFC9-440E-8068-FA94E2AE8B15}" type="slidenum">
              <a:rPr lang="en-IN" smtClean="0"/>
              <a:t>‹#›</a:t>
            </a:fld>
            <a:endParaRPr lang="en-IN"/>
          </a:p>
        </p:txBody>
      </p:sp>
    </p:spTree>
    <p:extLst>
      <p:ext uri="{BB962C8B-B14F-4D97-AF65-F5344CB8AC3E}">
        <p14:creationId xmlns:p14="http://schemas.microsoft.com/office/powerpoint/2010/main" val="2378065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A7FEF2-BBA8-4D85-B6DE-D642EF9A4369}" type="datetimeFigureOut">
              <a:rPr lang="en-IN" smtClean="0"/>
              <a:t>04-01-2025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0831CE-EFC9-440E-8068-FA94E2AE8B15}" type="slidenum">
              <a:rPr lang="en-IN" smtClean="0"/>
              <a:t>‹#›</a:t>
            </a:fld>
            <a:endParaRPr lang="en-IN"/>
          </a:p>
        </p:txBody>
      </p:sp>
    </p:spTree>
    <p:extLst>
      <p:ext uri="{BB962C8B-B14F-4D97-AF65-F5344CB8AC3E}">
        <p14:creationId xmlns:p14="http://schemas.microsoft.com/office/powerpoint/2010/main" val="4168123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A7FEF2-BBA8-4D85-B6DE-D642EF9A4369}" type="datetimeFigureOut">
              <a:rPr lang="en-IN" smtClean="0"/>
              <a:t>04-01-2025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0831CE-EFC9-440E-8068-FA94E2AE8B15}" type="slidenum">
              <a:rPr lang="en-IN" smtClean="0"/>
              <a:t>‹#›</a:t>
            </a:fld>
            <a:endParaRPr lang="en-IN"/>
          </a:p>
        </p:txBody>
      </p:sp>
    </p:spTree>
    <p:extLst>
      <p:ext uri="{BB962C8B-B14F-4D97-AF65-F5344CB8AC3E}">
        <p14:creationId xmlns:p14="http://schemas.microsoft.com/office/powerpoint/2010/main" val="1838184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A7FEF2-BBA8-4D85-B6DE-D642EF9A4369}" type="datetimeFigureOut">
              <a:rPr lang="en-IN" smtClean="0"/>
              <a:t>04-01-2025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0831CE-EFC9-440E-8068-FA94E2AE8B15}" type="slidenum">
              <a:rPr lang="en-IN" smtClean="0"/>
              <a:t>‹#›</a:t>
            </a:fld>
            <a:endParaRPr lang="en-IN"/>
          </a:p>
        </p:txBody>
      </p:sp>
    </p:spTree>
    <p:extLst>
      <p:ext uri="{BB962C8B-B14F-4D97-AF65-F5344CB8AC3E}">
        <p14:creationId xmlns:p14="http://schemas.microsoft.com/office/powerpoint/2010/main" val="3730467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82A7FEF2-BBA8-4D85-B6DE-D642EF9A4369}" type="datetimeFigureOut">
              <a:rPr lang="en-IN" smtClean="0"/>
              <a:t>04-01-2025</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A90831CE-EFC9-440E-8068-FA94E2AE8B15}" type="slidenum">
              <a:rPr lang="en-IN" smtClean="0"/>
              <a:t>‹#›</a:t>
            </a:fld>
            <a:endParaRPr lang="en-IN"/>
          </a:p>
        </p:txBody>
      </p:sp>
    </p:spTree>
    <p:extLst>
      <p:ext uri="{BB962C8B-B14F-4D97-AF65-F5344CB8AC3E}">
        <p14:creationId xmlns:p14="http://schemas.microsoft.com/office/powerpoint/2010/main" val="1025432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82A7FEF2-BBA8-4D85-B6DE-D642EF9A4369}" type="datetimeFigureOut">
              <a:rPr lang="en-IN" smtClean="0"/>
              <a:t>04-01-2025</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A90831CE-EFC9-440E-8068-FA94E2AE8B15}"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351303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82A7FEF2-BBA8-4D85-B6DE-D642EF9A4369}" type="datetimeFigureOut">
              <a:rPr lang="en-IN" smtClean="0"/>
              <a:t>04-01-2025</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A90831CE-EFC9-440E-8068-FA94E2AE8B15}" type="slidenum">
              <a:rPr lang="en-IN" smtClean="0"/>
              <a:t>‹#›</a:t>
            </a:fld>
            <a:endParaRPr lang="en-IN"/>
          </a:p>
        </p:txBody>
      </p:sp>
    </p:spTree>
    <p:extLst>
      <p:ext uri="{BB962C8B-B14F-4D97-AF65-F5344CB8AC3E}">
        <p14:creationId xmlns:p14="http://schemas.microsoft.com/office/powerpoint/2010/main" val="21182164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2A7FEF2-BBA8-4D85-B6DE-D642EF9A4369}" type="datetimeFigureOut">
              <a:rPr lang="en-IN" smtClean="0"/>
              <a:t>04-01-2025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0831CE-EFC9-440E-8068-FA94E2AE8B15}" type="slidenum">
              <a:rPr lang="en-IN" smtClean="0"/>
              <a:t>‹#›</a:t>
            </a:fld>
            <a:endParaRPr lang="en-IN"/>
          </a:p>
        </p:txBody>
      </p:sp>
    </p:spTree>
    <p:extLst>
      <p:ext uri="{BB962C8B-B14F-4D97-AF65-F5344CB8AC3E}">
        <p14:creationId xmlns:p14="http://schemas.microsoft.com/office/powerpoint/2010/main" val="3541175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2A7FEF2-BBA8-4D85-B6DE-D642EF9A4369}" type="datetimeFigureOut">
              <a:rPr lang="en-IN" smtClean="0"/>
              <a:t>04-01-2025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0831CE-EFC9-440E-8068-FA94E2AE8B15}" type="slidenum">
              <a:rPr lang="en-IN" smtClean="0"/>
              <a:t>‹#›</a:t>
            </a:fld>
            <a:endParaRPr lang="en-IN"/>
          </a:p>
        </p:txBody>
      </p:sp>
    </p:spTree>
    <p:extLst>
      <p:ext uri="{BB962C8B-B14F-4D97-AF65-F5344CB8AC3E}">
        <p14:creationId xmlns:p14="http://schemas.microsoft.com/office/powerpoint/2010/main" val="27307194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A7FEF2-BBA8-4D85-B6DE-D642EF9A4369}" type="datetimeFigureOut">
              <a:rPr lang="en-IN" smtClean="0"/>
              <a:t>04-01-2025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0831CE-EFC9-440E-8068-FA94E2AE8B15}" type="slidenum">
              <a:rPr lang="en-IN" smtClean="0"/>
              <a:t>‹#›</a:t>
            </a:fld>
            <a:endParaRPr lang="en-IN"/>
          </a:p>
        </p:txBody>
      </p:sp>
    </p:spTree>
    <p:extLst>
      <p:ext uri="{BB962C8B-B14F-4D97-AF65-F5344CB8AC3E}">
        <p14:creationId xmlns:p14="http://schemas.microsoft.com/office/powerpoint/2010/main" val="25922298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82A7FEF2-BBA8-4D85-B6DE-D642EF9A4369}" type="datetimeFigureOut">
              <a:rPr lang="en-IN" smtClean="0"/>
              <a:t>04-01-2025</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A90831CE-EFC9-440E-8068-FA94E2AE8B15}" type="slidenum">
              <a:rPr lang="en-IN" smtClean="0"/>
              <a:t>‹#›</a:t>
            </a:fld>
            <a:endParaRPr lang="en-IN"/>
          </a:p>
        </p:txBody>
      </p:sp>
    </p:spTree>
    <p:extLst>
      <p:ext uri="{BB962C8B-B14F-4D97-AF65-F5344CB8AC3E}">
        <p14:creationId xmlns:p14="http://schemas.microsoft.com/office/powerpoint/2010/main" val="3010433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2A7FEF2-BBA8-4D85-B6DE-D642EF9A4369}" type="datetimeFigureOut">
              <a:rPr lang="en-IN" smtClean="0"/>
              <a:t>04-01-2025</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90831CE-EFC9-440E-8068-FA94E2AE8B15}" type="slidenum">
              <a:rPr lang="en-IN" smtClean="0"/>
              <a:t>‹#›</a:t>
            </a:fld>
            <a:endParaRPr lang="en-IN"/>
          </a:p>
        </p:txBody>
      </p:sp>
    </p:spTree>
    <p:extLst>
      <p:ext uri="{BB962C8B-B14F-4D97-AF65-F5344CB8AC3E}">
        <p14:creationId xmlns:p14="http://schemas.microsoft.com/office/powerpoint/2010/main" val="1321982787"/>
      </p:ext>
    </p:extLst>
  </p:cSld>
  <p:clrMap bg1="dk1" tx1="lt1" bg2="dk2" tx2="lt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hyperlink" Target="https://drive.google.com/file/d/1-1TpBZUU5KKqHnf3nzgPBJqNloWHhzl9/view?usp=sharing" TargetMode="Externa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docs.google.com/spreadsheets/d/1O-j6vD_uMm37pzYwvhVToTqZxw_01OTB0x2q0z00Yrc/edit?usp=sharin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DFADFB3-3D44-49A8-AE3B-A87C61607F7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1">
            <a:extLst>
              <a:ext uri="{FF2B5EF4-FFF2-40B4-BE49-F238E27FC236}">
                <a16:creationId xmlns:a16="http://schemas.microsoft.com/office/drawing/2014/main" id="{7D045746-E31B-6A44-96D9-159743A5BC48}"/>
              </a:ext>
            </a:extLst>
          </p:cNvPr>
          <p:cNvSpPr>
            <a:spLocks noGrp="1"/>
          </p:cNvSpPr>
          <p:nvPr>
            <p:ph type="title"/>
          </p:nvPr>
        </p:nvSpPr>
        <p:spPr>
          <a:xfrm>
            <a:off x="1449421" y="764373"/>
            <a:ext cx="10056779" cy="1823184"/>
          </a:xfrm>
        </p:spPr>
        <p:txBody>
          <a:bodyPr vert="horz" lIns="91440" tIns="45720" rIns="91440" bIns="45720" rtlCol="0" anchor="ctr">
            <a:normAutofit/>
          </a:bodyPr>
          <a:lstStyle/>
          <a:p>
            <a:r>
              <a:rPr lang="en-US" sz="3600" b="1" kern="1200" cap="all" baseline="0" dirty="0">
                <a:solidFill>
                  <a:schemeClr val="tx1"/>
                </a:solidFill>
                <a:latin typeface="Consolas" panose="020B0609020204030204" pitchFamily="49" charset="0"/>
              </a:rPr>
              <a:t>Sales Performance Analysis of Walmart Stores Using Advanced MySQL Techniques</a:t>
            </a:r>
          </a:p>
        </p:txBody>
      </p:sp>
      <p:pic>
        <p:nvPicPr>
          <p:cNvPr id="8" name="Graphic 7" descr="Kiosk">
            <a:extLst>
              <a:ext uri="{FF2B5EF4-FFF2-40B4-BE49-F238E27FC236}">
                <a16:creationId xmlns:a16="http://schemas.microsoft.com/office/drawing/2014/main" id="{18A11065-4566-CC00-A4D2-450655C1257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6731" y="2272748"/>
            <a:ext cx="3639337" cy="3639337"/>
          </a:xfrm>
          <a:prstGeom prst="rect">
            <a:avLst/>
          </a:prstGeom>
        </p:spPr>
      </p:pic>
      <p:sp>
        <p:nvSpPr>
          <p:cNvPr id="4" name="TextBox 3">
            <a:extLst>
              <a:ext uri="{FF2B5EF4-FFF2-40B4-BE49-F238E27FC236}">
                <a16:creationId xmlns:a16="http://schemas.microsoft.com/office/drawing/2014/main" id="{B5157A90-0F69-BE6B-3D44-0BA3B7A51831}"/>
              </a:ext>
            </a:extLst>
          </p:cNvPr>
          <p:cNvSpPr txBox="1"/>
          <p:nvPr/>
        </p:nvSpPr>
        <p:spPr>
          <a:xfrm>
            <a:off x="4960025" y="2914185"/>
            <a:ext cx="5816600" cy="2189155"/>
          </a:xfrm>
          <a:prstGeom prst="rect">
            <a:avLst/>
          </a:prstGeom>
        </p:spPr>
        <p:txBody>
          <a:bodyPr vert="horz" lIns="91440" tIns="45720" rIns="91440" bIns="45720" rtlCol="0">
            <a:normAutofit/>
          </a:bodyPr>
          <a:lstStyle/>
          <a:p>
            <a:pPr defTabSz="914400">
              <a:lnSpc>
                <a:spcPct val="90000"/>
              </a:lnSpc>
              <a:spcAft>
                <a:spcPts val="600"/>
              </a:spcAft>
            </a:pPr>
            <a:r>
              <a:rPr lang="en-US" sz="2000" dirty="0">
                <a:latin typeface="Consolas" panose="020B0609020204030204" pitchFamily="49" charset="0"/>
              </a:rPr>
              <a:t>Presented By : </a:t>
            </a:r>
          </a:p>
          <a:p>
            <a:pPr defTabSz="914400">
              <a:lnSpc>
                <a:spcPct val="90000"/>
              </a:lnSpc>
              <a:spcAft>
                <a:spcPts val="600"/>
              </a:spcAft>
            </a:pPr>
            <a:r>
              <a:rPr lang="en-US" sz="2000" dirty="0">
                <a:latin typeface="Consolas" panose="020B0609020204030204" pitchFamily="49" charset="0"/>
              </a:rPr>
              <a:t>S Shreeraj </a:t>
            </a:r>
          </a:p>
          <a:p>
            <a:pPr defTabSz="914400">
              <a:lnSpc>
                <a:spcPct val="90000"/>
              </a:lnSpc>
              <a:spcAft>
                <a:spcPts val="600"/>
              </a:spcAft>
            </a:pPr>
            <a:endParaRPr lang="en-US" sz="2000" dirty="0">
              <a:latin typeface="Consolas" panose="020B0609020204030204" pitchFamily="49" charset="0"/>
            </a:endParaRPr>
          </a:p>
          <a:p>
            <a:pPr defTabSz="914400">
              <a:lnSpc>
                <a:spcPct val="90000"/>
              </a:lnSpc>
              <a:spcAft>
                <a:spcPts val="600"/>
              </a:spcAft>
            </a:pPr>
            <a:r>
              <a:rPr lang="en-US" sz="2000" dirty="0">
                <a:latin typeface="Consolas" panose="020B0609020204030204" pitchFamily="49" charset="0"/>
              </a:rPr>
              <a:t>Video Link : </a:t>
            </a:r>
            <a:r>
              <a:rPr lang="en-US" sz="2000" dirty="0">
                <a:latin typeface="Consolas" panose="020B0609020204030204" pitchFamily="49" charset="0"/>
                <a:hlinkClick r:id="rId6"/>
              </a:rPr>
              <a:t>Click Here</a:t>
            </a:r>
            <a:endParaRPr lang="en-US" sz="2000" dirty="0">
              <a:latin typeface="Consolas" panose="020B0609020204030204" pitchFamily="49" charset="0"/>
            </a:endParaRPr>
          </a:p>
          <a:p>
            <a:pPr defTabSz="914400">
              <a:lnSpc>
                <a:spcPct val="90000"/>
              </a:lnSpc>
              <a:spcAft>
                <a:spcPts val="600"/>
              </a:spcAft>
            </a:pPr>
            <a:endParaRPr lang="en-US" sz="2000" dirty="0">
              <a:latin typeface="Consolas" panose="020B0609020204030204" pitchFamily="49" charset="0"/>
            </a:endParaRPr>
          </a:p>
          <a:p>
            <a:pPr defTabSz="914400">
              <a:lnSpc>
                <a:spcPct val="90000"/>
              </a:lnSpc>
              <a:spcAft>
                <a:spcPts val="600"/>
              </a:spcAft>
            </a:pPr>
            <a:endParaRPr lang="en-US" sz="2000" dirty="0">
              <a:latin typeface="Consolas" panose="020B0609020204030204" pitchFamily="49" charset="0"/>
            </a:endParaRPr>
          </a:p>
        </p:txBody>
      </p:sp>
    </p:spTree>
    <p:extLst>
      <p:ext uri="{BB962C8B-B14F-4D97-AF65-F5344CB8AC3E}">
        <p14:creationId xmlns:p14="http://schemas.microsoft.com/office/powerpoint/2010/main" val="2272776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C570C6-B96A-B1AA-29C2-497E2E5AFBF5}"/>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030FD700-069E-45B7-99EE-9FD40B196D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5" name="Title 4">
            <a:extLst>
              <a:ext uri="{FF2B5EF4-FFF2-40B4-BE49-F238E27FC236}">
                <a16:creationId xmlns:a16="http://schemas.microsoft.com/office/drawing/2014/main" id="{68D53ACB-82BE-53F2-FEF7-8406EA6ED00D}"/>
              </a:ext>
            </a:extLst>
          </p:cNvPr>
          <p:cNvSpPr>
            <a:spLocks noGrp="1"/>
          </p:cNvSpPr>
          <p:nvPr>
            <p:ph type="title"/>
          </p:nvPr>
        </p:nvSpPr>
        <p:spPr>
          <a:xfrm>
            <a:off x="2895600" y="764373"/>
            <a:ext cx="8610600" cy="1293028"/>
          </a:xfrm>
        </p:spPr>
        <p:txBody>
          <a:bodyPr vert="horz" lIns="91440" tIns="45720" rIns="91440" bIns="45720" rtlCol="0" anchor="ctr">
            <a:normAutofit/>
          </a:bodyPr>
          <a:lstStyle/>
          <a:p>
            <a:r>
              <a:rPr lang="en-US" b="1" dirty="0">
                <a:latin typeface="Consolas" panose="020B0609020204030204" pitchFamily="49" charset="0"/>
              </a:rPr>
              <a:t>Table of Contents</a:t>
            </a:r>
          </a:p>
        </p:txBody>
      </p:sp>
      <p:graphicFrame>
        <p:nvGraphicFramePr>
          <p:cNvPr id="9" name="TextBox 6">
            <a:extLst>
              <a:ext uri="{FF2B5EF4-FFF2-40B4-BE49-F238E27FC236}">
                <a16:creationId xmlns:a16="http://schemas.microsoft.com/office/drawing/2014/main" id="{590B49A2-D695-A834-3195-36DF59AFC37A}"/>
              </a:ext>
            </a:extLst>
          </p:cNvPr>
          <p:cNvGraphicFramePr/>
          <p:nvPr>
            <p:extLst>
              <p:ext uri="{D42A27DB-BD31-4B8C-83A1-F6EECF244321}">
                <p14:modId xmlns:p14="http://schemas.microsoft.com/office/powerpoint/2010/main" val="3706653175"/>
              </p:ext>
            </p:extLst>
          </p:nvPr>
        </p:nvGraphicFramePr>
        <p:xfrm>
          <a:off x="685800" y="2441051"/>
          <a:ext cx="10820400" cy="353006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27867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88835-0E65-3322-39BB-CA83623D72E6}"/>
              </a:ext>
            </a:extLst>
          </p:cNvPr>
          <p:cNvSpPr>
            <a:spLocks noGrp="1"/>
          </p:cNvSpPr>
          <p:nvPr>
            <p:ph type="title"/>
          </p:nvPr>
        </p:nvSpPr>
        <p:spPr>
          <a:xfrm>
            <a:off x="598251" y="416234"/>
            <a:ext cx="3977639" cy="704504"/>
          </a:xfrm>
        </p:spPr>
        <p:txBody>
          <a:bodyPr anchor="b">
            <a:normAutofit/>
          </a:bodyPr>
          <a:lstStyle/>
          <a:p>
            <a:pPr algn="l"/>
            <a:r>
              <a:rPr lang="en-IN" b="1" dirty="0" err="1">
                <a:latin typeface="Consolas" panose="020B0609020204030204" pitchFamily="49" charset="0"/>
              </a:rPr>
              <a:t>iNTRODUCTION</a:t>
            </a:r>
            <a:endParaRPr lang="en-IN" b="1" dirty="0">
              <a:latin typeface="Consolas" panose="020B0609020204030204" pitchFamily="49" charset="0"/>
            </a:endParaRPr>
          </a:p>
        </p:txBody>
      </p:sp>
      <p:sp>
        <p:nvSpPr>
          <p:cNvPr id="3" name="Content Placeholder 2">
            <a:extLst>
              <a:ext uri="{FF2B5EF4-FFF2-40B4-BE49-F238E27FC236}">
                <a16:creationId xmlns:a16="http://schemas.microsoft.com/office/drawing/2014/main" id="{62D65D6A-F2D6-958A-EC4F-B42E7E589254}"/>
              </a:ext>
            </a:extLst>
          </p:cNvPr>
          <p:cNvSpPr>
            <a:spLocks noGrp="1"/>
          </p:cNvSpPr>
          <p:nvPr>
            <p:ph idx="1"/>
          </p:nvPr>
        </p:nvSpPr>
        <p:spPr>
          <a:xfrm>
            <a:off x="598251" y="1536971"/>
            <a:ext cx="4460132" cy="4669276"/>
          </a:xfrm>
        </p:spPr>
        <p:txBody>
          <a:bodyPr>
            <a:normAutofit/>
          </a:bodyPr>
          <a:lstStyle/>
          <a:p>
            <a:pPr marL="0" indent="0">
              <a:lnSpc>
                <a:spcPct val="150000"/>
              </a:lnSpc>
              <a:buNone/>
            </a:pPr>
            <a:r>
              <a:rPr lang="en-US" sz="1600" dirty="0">
                <a:latin typeface="Consolas" panose="020B0609020204030204" pitchFamily="49" charset="0"/>
              </a:rPr>
              <a:t>Walmart, a major retail chain, operates across several cities, offering a wide range of products. The dataset provided contains detailed transaction data, including customer demographics, product lines, sales figures, and payment methods. This project will use advanced SQL techniques to uncover </a:t>
            </a:r>
            <a:r>
              <a:rPr lang="en-US" sz="1800" dirty="0">
                <a:latin typeface="Consolas" panose="020B0609020204030204" pitchFamily="49" charset="0"/>
              </a:rPr>
              <a:t>actionable</a:t>
            </a:r>
            <a:r>
              <a:rPr lang="en-US" sz="1600" dirty="0">
                <a:latin typeface="Consolas" panose="020B0609020204030204" pitchFamily="49" charset="0"/>
              </a:rPr>
              <a:t> insights into sales performance, customer behavior, and operational efficiencies.</a:t>
            </a:r>
            <a:endParaRPr lang="en-IN" sz="1600" dirty="0">
              <a:latin typeface="Consolas" panose="020B0609020204030204" pitchFamily="49" charset="0"/>
            </a:endParaRPr>
          </a:p>
        </p:txBody>
      </p:sp>
      <p:sp useBgFill="1">
        <p:nvSpPr>
          <p:cNvPr id="9" name="Rectangle 8">
            <a:extLst>
              <a:ext uri="{FF2B5EF4-FFF2-40B4-BE49-F238E27FC236}">
                <a16:creationId xmlns:a16="http://schemas.microsoft.com/office/drawing/2014/main" id="{8D25211A-4CA0-4B53-82BB-1EE7C7F3C7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1379" y="0"/>
            <a:ext cx="724061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
            <a:extLst>
              <a:ext uri="{FF2B5EF4-FFF2-40B4-BE49-F238E27FC236}">
                <a16:creationId xmlns:a16="http://schemas.microsoft.com/office/drawing/2014/main" id="{20D9E5C0-89F2-2420-D8B8-AC6493A9D13D}"/>
              </a:ext>
            </a:extLst>
          </p:cNvPr>
          <p:cNvPicPr>
            <a:picLocks noChangeAspect="1"/>
          </p:cNvPicPr>
          <p:nvPr/>
        </p:nvPicPr>
        <p:blipFill>
          <a:blip r:embed="rId2"/>
          <a:srcRect l="12981" r="24247"/>
          <a:stretch/>
        </p:blipFill>
        <p:spPr>
          <a:xfrm>
            <a:off x="5304147" y="10"/>
            <a:ext cx="6887853" cy="6857990"/>
          </a:xfrm>
          <a:prstGeom prst="rect">
            <a:avLst/>
          </a:prstGeom>
        </p:spPr>
      </p:pic>
    </p:spTree>
    <p:extLst>
      <p:ext uri="{BB962C8B-B14F-4D97-AF65-F5344CB8AC3E}">
        <p14:creationId xmlns:p14="http://schemas.microsoft.com/office/powerpoint/2010/main" val="570601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a:extLst>
            <a:ext uri="{FF2B5EF4-FFF2-40B4-BE49-F238E27FC236}">
              <a16:creationId xmlns:a16="http://schemas.microsoft.com/office/drawing/2014/main" id="{511580DD-CDBB-A859-34E8-30D1E178582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C41CF4-4A13-4AA9-9300-CB7A2E37C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183ED523-CE13-538D-4078-6430E40A2E31}"/>
              </a:ext>
            </a:extLst>
          </p:cNvPr>
          <p:cNvSpPr>
            <a:spLocks noGrp="1"/>
          </p:cNvSpPr>
          <p:nvPr>
            <p:ph type="title"/>
          </p:nvPr>
        </p:nvSpPr>
        <p:spPr>
          <a:xfrm>
            <a:off x="710569" y="1112946"/>
            <a:ext cx="3173688" cy="4313466"/>
          </a:xfrm>
        </p:spPr>
        <p:txBody>
          <a:bodyPr>
            <a:normAutofit/>
          </a:bodyPr>
          <a:lstStyle/>
          <a:p>
            <a:pPr algn="ctr"/>
            <a:r>
              <a:rPr lang="en-IN" b="1" dirty="0">
                <a:latin typeface="Consolas" panose="020B0609020204030204" pitchFamily="49" charset="0"/>
              </a:rPr>
              <a:t>BUSINESS </a:t>
            </a:r>
            <a:r>
              <a:rPr lang="en-IN" b="1" dirty="0" err="1">
                <a:latin typeface="Consolas" panose="020B0609020204030204" pitchFamily="49" charset="0"/>
              </a:rPr>
              <a:t>pROBLEM</a:t>
            </a:r>
            <a:endParaRPr lang="en-IN" b="1" dirty="0">
              <a:latin typeface="Consolas" panose="020B0609020204030204" pitchFamily="49" charset="0"/>
            </a:endParaRPr>
          </a:p>
        </p:txBody>
      </p:sp>
      <p:cxnSp>
        <p:nvCxnSpPr>
          <p:cNvPr id="10" name="Straight Connector 9">
            <a:extLst>
              <a:ext uri="{FF2B5EF4-FFF2-40B4-BE49-F238E27FC236}">
                <a16:creationId xmlns:a16="http://schemas.microsoft.com/office/drawing/2014/main" id="{7A77B115-9FF3-46AE-AE08-826DEB9A62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27197" y="1923563"/>
            <a:ext cx="0" cy="301752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5BD1309-79FE-B660-91C1-39F44C209179}"/>
              </a:ext>
            </a:extLst>
          </p:cNvPr>
          <p:cNvSpPr>
            <a:spLocks noGrp="1"/>
          </p:cNvSpPr>
          <p:nvPr>
            <p:ph idx="1"/>
          </p:nvPr>
        </p:nvSpPr>
        <p:spPr>
          <a:xfrm>
            <a:off x="4370138" y="764372"/>
            <a:ext cx="7086600" cy="5216013"/>
          </a:xfrm>
        </p:spPr>
        <p:txBody>
          <a:bodyPr anchor="ctr">
            <a:normAutofit/>
          </a:bodyPr>
          <a:lstStyle/>
          <a:p>
            <a:pPr marL="0" indent="0">
              <a:lnSpc>
                <a:spcPct val="150000"/>
              </a:lnSpc>
              <a:buNone/>
            </a:pPr>
            <a:r>
              <a:rPr lang="en-US" sz="1800" dirty="0">
                <a:latin typeface="Consolas" panose="020B0609020204030204" pitchFamily="49" charset="0"/>
                <a:cs typeface="Calibri" panose="020F0502020204030204" pitchFamily="34" charset="0"/>
              </a:rPr>
              <a:t>Walmart wants to optimize its sales strategies by analyzing historical transaction data across branches, customer types, payment methods, and product lines. To achieve this, advanced MySQL queries will be employed to answer challenging business questions related to sales performance, customer segmentation, and product trends.</a:t>
            </a:r>
            <a:endParaRPr lang="en-IN" sz="1800" dirty="0">
              <a:latin typeface="Consolas" panose="020B0609020204030204" pitchFamily="49" charset="0"/>
              <a:cs typeface="Calibri" panose="020F0502020204030204" pitchFamily="34" charset="0"/>
            </a:endParaRPr>
          </a:p>
        </p:txBody>
      </p:sp>
      <p:sp>
        <p:nvSpPr>
          <p:cNvPr id="4" name="TextBox 3">
            <a:extLst>
              <a:ext uri="{FF2B5EF4-FFF2-40B4-BE49-F238E27FC236}">
                <a16:creationId xmlns:a16="http://schemas.microsoft.com/office/drawing/2014/main" id="{885BDA7E-8514-92B4-E329-14A56F628239}"/>
              </a:ext>
            </a:extLst>
          </p:cNvPr>
          <p:cNvSpPr txBox="1"/>
          <p:nvPr/>
        </p:nvSpPr>
        <p:spPr>
          <a:xfrm>
            <a:off x="1207856" y="5520789"/>
            <a:ext cx="4463355" cy="369332"/>
          </a:xfrm>
          <a:prstGeom prst="rect">
            <a:avLst/>
          </a:prstGeom>
          <a:noFill/>
        </p:spPr>
        <p:txBody>
          <a:bodyPr wrap="square" rtlCol="0">
            <a:spAutoFit/>
          </a:bodyPr>
          <a:lstStyle/>
          <a:p>
            <a:r>
              <a:rPr lang="en-IN" b="1" dirty="0"/>
              <a:t>Dataset Link </a:t>
            </a:r>
            <a:r>
              <a:rPr lang="en-IN" dirty="0"/>
              <a:t>:  </a:t>
            </a:r>
            <a:r>
              <a:rPr lang="en-IN" dirty="0">
                <a:hlinkClick r:id="rId2"/>
              </a:rPr>
              <a:t>Walmart Sales </a:t>
            </a:r>
            <a:r>
              <a:rPr lang="en-IN" dirty="0" err="1">
                <a:hlinkClick r:id="rId2"/>
              </a:rPr>
              <a:t>DataSet</a:t>
            </a:r>
            <a:endParaRPr lang="en-IN" dirty="0"/>
          </a:p>
        </p:txBody>
      </p:sp>
    </p:spTree>
    <p:extLst>
      <p:ext uri="{BB962C8B-B14F-4D97-AF65-F5344CB8AC3E}">
        <p14:creationId xmlns:p14="http://schemas.microsoft.com/office/powerpoint/2010/main" val="2446391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1DB4FC-411B-1BA9-DD79-A6889C157B02}"/>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EA5387D-64D8-4D6C-B109-FF4E81DF60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gnifying glass showing decling performance">
            <a:extLst>
              <a:ext uri="{FF2B5EF4-FFF2-40B4-BE49-F238E27FC236}">
                <a16:creationId xmlns:a16="http://schemas.microsoft.com/office/drawing/2014/main" id="{386D1F2C-D692-750A-8638-9903D29C92BD}"/>
              </a:ext>
            </a:extLst>
          </p:cNvPr>
          <p:cNvPicPr>
            <a:picLocks noChangeAspect="1"/>
          </p:cNvPicPr>
          <p:nvPr/>
        </p:nvPicPr>
        <p:blipFill>
          <a:blip r:embed="rId3">
            <a:duotone>
              <a:prstClr val="black"/>
              <a:schemeClr val="tx2">
                <a:tint val="45000"/>
                <a:satMod val="400000"/>
              </a:schemeClr>
            </a:duotone>
            <a:alphaModFix amt="30000"/>
          </a:blip>
          <a:srcRect t="1220" b="14510"/>
          <a:stretch/>
        </p:blipFill>
        <p:spPr>
          <a:xfrm>
            <a:off x="20" y="10"/>
            <a:ext cx="12191980" cy="6857990"/>
          </a:xfrm>
          <a:prstGeom prst="rect">
            <a:avLst/>
          </a:prstGeom>
        </p:spPr>
      </p:pic>
      <p:pic>
        <p:nvPicPr>
          <p:cNvPr id="11" name="Picture 10">
            <a:extLst>
              <a:ext uri="{FF2B5EF4-FFF2-40B4-BE49-F238E27FC236}">
                <a16:creationId xmlns:a16="http://schemas.microsoft.com/office/drawing/2014/main" id="{6319FFD2-07B5-4029-BFB3-26FCFCC2F1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1">
            <a:extLst>
              <a:ext uri="{FF2B5EF4-FFF2-40B4-BE49-F238E27FC236}">
                <a16:creationId xmlns:a16="http://schemas.microsoft.com/office/drawing/2014/main" id="{BAC0DD11-7E3B-4C18-4EFF-253078B2BDF5}"/>
              </a:ext>
            </a:extLst>
          </p:cNvPr>
          <p:cNvSpPr>
            <a:spLocks noGrp="1"/>
          </p:cNvSpPr>
          <p:nvPr>
            <p:ph type="title"/>
          </p:nvPr>
        </p:nvSpPr>
        <p:spPr>
          <a:xfrm>
            <a:off x="2895600" y="764373"/>
            <a:ext cx="8610600" cy="1293028"/>
          </a:xfrm>
        </p:spPr>
        <p:txBody>
          <a:bodyPr>
            <a:normAutofit/>
          </a:bodyPr>
          <a:lstStyle/>
          <a:p>
            <a:r>
              <a:rPr lang="en-IN" b="1" dirty="0">
                <a:latin typeface="Consolas" panose="020B0609020204030204" pitchFamily="49" charset="0"/>
              </a:rPr>
              <a:t>TASKS AND QUERIES</a:t>
            </a:r>
          </a:p>
        </p:txBody>
      </p:sp>
      <p:sp>
        <p:nvSpPr>
          <p:cNvPr id="12" name="Content Placeholder 2">
            <a:extLst>
              <a:ext uri="{FF2B5EF4-FFF2-40B4-BE49-F238E27FC236}">
                <a16:creationId xmlns:a16="http://schemas.microsoft.com/office/drawing/2014/main" id="{E9DD4D3A-8E03-AD44-8B1F-7D63B68323F7}"/>
              </a:ext>
            </a:extLst>
          </p:cNvPr>
          <p:cNvSpPr>
            <a:spLocks noGrp="1"/>
          </p:cNvSpPr>
          <p:nvPr>
            <p:ph idx="1"/>
          </p:nvPr>
        </p:nvSpPr>
        <p:spPr>
          <a:xfrm>
            <a:off x="685800" y="2194560"/>
            <a:ext cx="10820400" cy="4024125"/>
          </a:xfrm>
        </p:spPr>
        <p:txBody>
          <a:bodyPr>
            <a:normAutofit/>
          </a:bodyPr>
          <a:lstStyle/>
          <a:p>
            <a:pPr>
              <a:buFont typeface="Wingdings" panose="05000000000000000000" pitchFamily="2" charset="2"/>
              <a:buChar char="§"/>
            </a:pPr>
            <a:r>
              <a:rPr lang="en-US" sz="1800" dirty="0">
                <a:latin typeface="Consolas" panose="020B0609020204030204" pitchFamily="49" charset="0"/>
              </a:rPr>
              <a:t>Task 1: Identifying the Top Branch by Sales Growth Rate </a:t>
            </a:r>
          </a:p>
          <a:p>
            <a:pPr>
              <a:buFont typeface="Wingdings" panose="05000000000000000000" pitchFamily="2" charset="2"/>
              <a:buChar char="§"/>
            </a:pPr>
            <a:r>
              <a:rPr lang="en-US" sz="1800" dirty="0">
                <a:latin typeface="Consolas" panose="020B0609020204030204" pitchFamily="49" charset="0"/>
              </a:rPr>
              <a:t>Task 2: Finding the Most Profitable Product Line for Each Branch  </a:t>
            </a:r>
          </a:p>
          <a:p>
            <a:pPr>
              <a:buFont typeface="Wingdings" panose="05000000000000000000" pitchFamily="2" charset="2"/>
              <a:buChar char="§"/>
            </a:pPr>
            <a:r>
              <a:rPr lang="en-US" sz="1800" dirty="0">
                <a:latin typeface="Consolas" panose="020B0609020204030204" pitchFamily="49" charset="0"/>
              </a:rPr>
              <a:t>Task 3: Analyzing Customer Segmentation Based on Spending  </a:t>
            </a:r>
          </a:p>
          <a:p>
            <a:pPr>
              <a:buFont typeface="Wingdings" panose="05000000000000000000" pitchFamily="2" charset="2"/>
              <a:buChar char="§"/>
            </a:pPr>
            <a:r>
              <a:rPr lang="en-US" sz="1800" dirty="0">
                <a:latin typeface="Consolas" panose="020B0609020204030204" pitchFamily="49" charset="0"/>
              </a:rPr>
              <a:t>Task 4: Detecting Anomalies in Sales Transactions </a:t>
            </a:r>
          </a:p>
          <a:p>
            <a:pPr>
              <a:buFont typeface="Wingdings" panose="05000000000000000000" pitchFamily="2" charset="2"/>
              <a:buChar char="§"/>
            </a:pPr>
            <a:r>
              <a:rPr lang="en-US" sz="1800" dirty="0">
                <a:latin typeface="Consolas" panose="020B0609020204030204" pitchFamily="49" charset="0"/>
              </a:rPr>
              <a:t>Task 5: Most Popular Payment Method by City  </a:t>
            </a:r>
          </a:p>
          <a:p>
            <a:pPr>
              <a:buFont typeface="Wingdings" panose="05000000000000000000" pitchFamily="2" charset="2"/>
              <a:buChar char="§"/>
            </a:pPr>
            <a:r>
              <a:rPr lang="en-US" sz="1800" dirty="0">
                <a:latin typeface="Consolas" panose="020B0609020204030204" pitchFamily="49" charset="0"/>
              </a:rPr>
              <a:t>Task 6: Monthly Sales Distribution by Gender </a:t>
            </a:r>
          </a:p>
          <a:p>
            <a:pPr>
              <a:buFont typeface="Wingdings" panose="05000000000000000000" pitchFamily="2" charset="2"/>
              <a:buChar char="§"/>
            </a:pPr>
            <a:r>
              <a:rPr lang="en-US" sz="1800" dirty="0">
                <a:latin typeface="Consolas" panose="020B0609020204030204" pitchFamily="49" charset="0"/>
              </a:rPr>
              <a:t>Task 7: Best Product Line by Customer Type  </a:t>
            </a:r>
          </a:p>
          <a:p>
            <a:pPr>
              <a:buFont typeface="Wingdings" panose="05000000000000000000" pitchFamily="2" charset="2"/>
              <a:buChar char="§"/>
            </a:pPr>
            <a:r>
              <a:rPr lang="en-US" sz="1800" dirty="0">
                <a:latin typeface="Consolas" panose="020B0609020204030204" pitchFamily="49" charset="0"/>
              </a:rPr>
              <a:t>Task 8: Identifying Repeat Customers </a:t>
            </a:r>
          </a:p>
          <a:p>
            <a:pPr>
              <a:buFont typeface="Wingdings" panose="05000000000000000000" pitchFamily="2" charset="2"/>
              <a:buChar char="§"/>
            </a:pPr>
            <a:r>
              <a:rPr lang="en-US" sz="1800" dirty="0">
                <a:latin typeface="Consolas" panose="020B0609020204030204" pitchFamily="49" charset="0"/>
              </a:rPr>
              <a:t>Task 9: Finding Top 5 Customers by Sales Volume </a:t>
            </a:r>
          </a:p>
          <a:p>
            <a:pPr>
              <a:buFont typeface="Wingdings" panose="05000000000000000000" pitchFamily="2" charset="2"/>
              <a:buChar char="§"/>
            </a:pPr>
            <a:r>
              <a:rPr lang="en-US" sz="1800" dirty="0">
                <a:latin typeface="Consolas" panose="020B0609020204030204" pitchFamily="49" charset="0"/>
              </a:rPr>
              <a:t>Task 10: Analyzing Sales Trends by Day of the Week  </a:t>
            </a:r>
            <a:endParaRPr lang="en-IN" sz="1800" dirty="0">
              <a:latin typeface="Consolas" panose="020B0609020204030204" pitchFamily="49" charset="0"/>
            </a:endParaRPr>
          </a:p>
        </p:txBody>
      </p:sp>
    </p:spTree>
    <p:extLst>
      <p:ext uri="{BB962C8B-B14F-4D97-AF65-F5344CB8AC3E}">
        <p14:creationId xmlns:p14="http://schemas.microsoft.com/office/powerpoint/2010/main" val="3772099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F5D2A-2B0A-260B-FEDF-03E020163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478136-84A3-D362-7EB7-4D98148615CD}"/>
              </a:ext>
            </a:extLst>
          </p:cNvPr>
          <p:cNvSpPr>
            <a:spLocks noGrp="1"/>
          </p:cNvSpPr>
          <p:nvPr>
            <p:ph type="title"/>
          </p:nvPr>
        </p:nvSpPr>
        <p:spPr>
          <a:xfrm>
            <a:off x="0" y="1"/>
            <a:ext cx="12192000" cy="481780"/>
          </a:xfrm>
        </p:spPr>
        <p:txBody>
          <a:bodyPr>
            <a:normAutofit/>
          </a:bodyPr>
          <a:lstStyle/>
          <a:p>
            <a:pPr algn="ctr"/>
            <a:r>
              <a:rPr lang="en-IN" sz="2000" dirty="0">
                <a:solidFill>
                  <a:srgbClr val="00B0F0"/>
                </a:solidFill>
              </a:rPr>
              <a:t>Changing Date Datatype</a:t>
            </a:r>
          </a:p>
        </p:txBody>
      </p:sp>
      <p:sp>
        <p:nvSpPr>
          <p:cNvPr id="3" name="Content Placeholder 2">
            <a:extLst>
              <a:ext uri="{FF2B5EF4-FFF2-40B4-BE49-F238E27FC236}">
                <a16:creationId xmlns:a16="http://schemas.microsoft.com/office/drawing/2014/main" id="{DE213E88-38CE-98CC-3717-FE99DD62A30D}"/>
              </a:ext>
            </a:extLst>
          </p:cNvPr>
          <p:cNvSpPr>
            <a:spLocks noGrp="1"/>
          </p:cNvSpPr>
          <p:nvPr>
            <p:ph idx="1"/>
          </p:nvPr>
        </p:nvSpPr>
        <p:spPr>
          <a:xfrm>
            <a:off x="1110168" y="1102518"/>
            <a:ext cx="10233800" cy="4652963"/>
          </a:xfrm>
        </p:spPr>
        <p:txBody>
          <a:bodyPr>
            <a:normAutofit/>
          </a:bodyPr>
          <a:lstStyle/>
          <a:p>
            <a:pPr marL="0" indent="0">
              <a:lnSpc>
                <a:spcPts val="1425"/>
              </a:lnSpc>
              <a:buNone/>
            </a:pPr>
            <a:r>
              <a:rPr lang="en-US" sz="1600" b="0" dirty="0">
                <a:solidFill>
                  <a:srgbClr val="00B0F0"/>
                </a:solidFill>
                <a:effectLst/>
                <a:latin typeface="Consolas" panose="020B0609020204030204" pitchFamily="49" charset="0"/>
              </a:rPr>
              <a:t>SQL QUERY :</a:t>
            </a:r>
          </a:p>
          <a:p>
            <a:pPr marL="0" indent="0">
              <a:lnSpc>
                <a:spcPts val="1425"/>
              </a:lnSpc>
              <a:buNone/>
            </a:pPr>
            <a:r>
              <a:rPr lang="en-US" sz="1400" b="0" dirty="0">
                <a:solidFill>
                  <a:schemeClr val="tx1"/>
                </a:solidFill>
                <a:effectLst/>
                <a:latin typeface="Consolas" panose="020B0609020204030204" pitchFamily="49" charset="0"/>
              </a:rPr>
              <a:t>UPDATE WALMART_SALES    </a:t>
            </a:r>
          </a:p>
          <a:p>
            <a:pPr marL="0" indent="0">
              <a:lnSpc>
                <a:spcPts val="1425"/>
              </a:lnSpc>
              <a:buNone/>
            </a:pPr>
            <a:r>
              <a:rPr lang="en-US" sz="1400" b="0" dirty="0">
                <a:solidFill>
                  <a:schemeClr val="tx1"/>
                </a:solidFill>
                <a:effectLst/>
                <a:latin typeface="Consolas" panose="020B0609020204030204" pitchFamily="49" charset="0"/>
              </a:rPr>
              <a:t>SET DATE = STR_TO_DATE(DATE, '%D-%M-%Y');</a:t>
            </a:r>
          </a:p>
          <a:p>
            <a:pPr marL="0" indent="0">
              <a:lnSpc>
                <a:spcPts val="1425"/>
              </a:lnSpc>
              <a:buNone/>
            </a:pPr>
            <a:br>
              <a:rPr lang="en-US" sz="1400" b="0" dirty="0">
                <a:solidFill>
                  <a:schemeClr val="tx1"/>
                </a:solidFill>
                <a:effectLst/>
                <a:latin typeface="Consolas" panose="020B0609020204030204" pitchFamily="49" charset="0"/>
              </a:rPr>
            </a:br>
            <a:r>
              <a:rPr lang="en-US" sz="1400" b="0" dirty="0">
                <a:solidFill>
                  <a:schemeClr val="tx1"/>
                </a:solidFill>
                <a:effectLst/>
                <a:latin typeface="Consolas" panose="020B0609020204030204" pitchFamily="49" charset="0"/>
              </a:rPr>
              <a:t>ALTER TABLE WALMART_SALES</a:t>
            </a:r>
          </a:p>
          <a:p>
            <a:pPr marL="0" indent="0">
              <a:lnSpc>
                <a:spcPts val="1425"/>
              </a:lnSpc>
              <a:buNone/>
            </a:pPr>
            <a:r>
              <a:rPr lang="en-US" sz="1400" b="0" dirty="0">
                <a:solidFill>
                  <a:schemeClr val="tx1"/>
                </a:solidFill>
                <a:effectLst/>
                <a:latin typeface="Consolas" panose="020B0609020204030204" pitchFamily="49" charset="0"/>
              </a:rPr>
              <a:t>MODIFY DATE DATE;</a:t>
            </a:r>
          </a:p>
          <a:p>
            <a:pPr marL="0" indent="0">
              <a:lnSpc>
                <a:spcPts val="1425"/>
              </a:lnSpc>
              <a:buNone/>
            </a:pPr>
            <a:br>
              <a:rPr lang="en-US" sz="1400" b="0" dirty="0">
                <a:solidFill>
                  <a:schemeClr val="tx1"/>
                </a:solidFill>
                <a:effectLst/>
                <a:latin typeface="Consolas" panose="020B0609020204030204" pitchFamily="49" charset="0"/>
              </a:rPr>
            </a:br>
            <a:r>
              <a:rPr lang="en-US" sz="1400" b="0" dirty="0">
                <a:solidFill>
                  <a:schemeClr val="tx1"/>
                </a:solidFill>
                <a:effectLst/>
                <a:latin typeface="Consolas" panose="020B0609020204030204" pitchFamily="49" charset="0"/>
              </a:rPr>
              <a:t>DESC WALMART_SALES;</a:t>
            </a:r>
          </a:p>
          <a:p>
            <a:endParaRPr lang="en-IN" sz="1400" dirty="0"/>
          </a:p>
        </p:txBody>
      </p:sp>
    </p:spTree>
    <p:extLst>
      <p:ext uri="{BB962C8B-B14F-4D97-AF65-F5344CB8AC3E}">
        <p14:creationId xmlns:p14="http://schemas.microsoft.com/office/powerpoint/2010/main" val="3943709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75645-D0EC-E872-560E-683006A29A87}"/>
              </a:ext>
            </a:extLst>
          </p:cNvPr>
          <p:cNvSpPr>
            <a:spLocks noGrp="1"/>
          </p:cNvSpPr>
          <p:nvPr>
            <p:ph type="title"/>
          </p:nvPr>
        </p:nvSpPr>
        <p:spPr>
          <a:xfrm>
            <a:off x="68826" y="40661"/>
            <a:ext cx="12123174" cy="480449"/>
          </a:xfrm>
        </p:spPr>
        <p:txBody>
          <a:bodyPr>
            <a:normAutofit/>
          </a:bodyPr>
          <a:lstStyle/>
          <a:p>
            <a:pPr algn="ctr"/>
            <a:r>
              <a:rPr lang="en-US" sz="2000" dirty="0">
                <a:solidFill>
                  <a:srgbClr val="00B0F0"/>
                </a:solidFill>
              </a:rPr>
              <a:t>Top Branch by Sales Growth Rate</a:t>
            </a:r>
            <a:endParaRPr lang="en-IN" sz="2000" dirty="0">
              <a:solidFill>
                <a:srgbClr val="00B0F0"/>
              </a:solidFill>
            </a:endParaRPr>
          </a:p>
        </p:txBody>
      </p:sp>
      <p:sp>
        <p:nvSpPr>
          <p:cNvPr id="3" name="Content Placeholder 2">
            <a:extLst>
              <a:ext uri="{FF2B5EF4-FFF2-40B4-BE49-F238E27FC236}">
                <a16:creationId xmlns:a16="http://schemas.microsoft.com/office/drawing/2014/main" id="{4BE42A9F-095D-088C-6B47-1B114F5838D5}"/>
              </a:ext>
            </a:extLst>
          </p:cNvPr>
          <p:cNvSpPr>
            <a:spLocks noGrp="1"/>
          </p:cNvSpPr>
          <p:nvPr>
            <p:ph sz="half" idx="1"/>
          </p:nvPr>
        </p:nvSpPr>
        <p:spPr>
          <a:xfrm>
            <a:off x="554501" y="521110"/>
            <a:ext cx="6170764" cy="6296229"/>
          </a:xfrm>
        </p:spPr>
        <p:txBody>
          <a:bodyPr>
            <a:normAutofit/>
          </a:bodyPr>
          <a:lstStyle/>
          <a:p>
            <a:pPr marL="0" indent="0">
              <a:buNone/>
            </a:pPr>
            <a:r>
              <a:rPr lang="en-US" sz="1600" b="1" dirty="0">
                <a:solidFill>
                  <a:srgbClr val="00B0F0"/>
                </a:solidFill>
              </a:rPr>
              <a:t>SQL QUERY :</a:t>
            </a:r>
          </a:p>
          <a:p>
            <a:pPr marL="0" indent="0">
              <a:lnSpc>
                <a:spcPct val="100000"/>
              </a:lnSpc>
              <a:buNone/>
            </a:pPr>
            <a:r>
              <a:rPr lang="en-US" sz="1400" dirty="0">
                <a:latin typeface="Consolas" panose="020B0609020204030204" pitchFamily="49" charset="0"/>
              </a:rPr>
              <a:t>WITH TOTAL_SALE AS</a:t>
            </a:r>
          </a:p>
          <a:p>
            <a:pPr marL="0" indent="0">
              <a:lnSpc>
                <a:spcPct val="100000"/>
              </a:lnSpc>
              <a:buNone/>
            </a:pPr>
            <a:r>
              <a:rPr lang="en-US" sz="1400" dirty="0">
                <a:latin typeface="Consolas" panose="020B0609020204030204" pitchFamily="49" charset="0"/>
              </a:rPr>
              <a:t>(SELECT BRANCH, MONTH(DATE) AS MONTHS, </a:t>
            </a:r>
          </a:p>
          <a:p>
            <a:pPr marL="0" indent="0">
              <a:lnSpc>
                <a:spcPct val="100000"/>
              </a:lnSpc>
              <a:buNone/>
            </a:pPr>
            <a:r>
              <a:rPr lang="en-US" sz="1400" dirty="0">
                <a:latin typeface="Consolas" panose="020B0609020204030204" pitchFamily="49" charset="0"/>
              </a:rPr>
              <a:t>SUM(TOTAL) AS SALES FROM WALMART_SALES</a:t>
            </a:r>
          </a:p>
          <a:p>
            <a:pPr marL="0" indent="0">
              <a:lnSpc>
                <a:spcPct val="100000"/>
              </a:lnSpc>
              <a:buNone/>
            </a:pPr>
            <a:r>
              <a:rPr lang="en-US" sz="1400" dirty="0">
                <a:latin typeface="Consolas" panose="020B0609020204030204" pitchFamily="49" charset="0"/>
              </a:rPr>
              <a:t>GROUP BY BRANCH, MONTHS</a:t>
            </a:r>
          </a:p>
          <a:p>
            <a:pPr marL="0" indent="0">
              <a:lnSpc>
                <a:spcPct val="100000"/>
              </a:lnSpc>
              <a:buNone/>
            </a:pPr>
            <a:r>
              <a:rPr lang="en-US" sz="1400" dirty="0">
                <a:latin typeface="Consolas" panose="020B0609020204030204" pitchFamily="49" charset="0"/>
              </a:rPr>
              <a:t>ORDER BY BRANCH),</a:t>
            </a:r>
          </a:p>
          <a:p>
            <a:pPr marL="0" indent="0">
              <a:lnSpc>
                <a:spcPct val="100000"/>
              </a:lnSpc>
              <a:buNone/>
            </a:pPr>
            <a:r>
              <a:rPr lang="en-US" sz="1400" dirty="0">
                <a:latin typeface="Consolas" panose="020B0609020204030204" pitchFamily="49" charset="0"/>
              </a:rPr>
              <a:t>GROWTH AS</a:t>
            </a:r>
          </a:p>
          <a:p>
            <a:pPr marL="0" indent="0">
              <a:lnSpc>
                <a:spcPct val="100000"/>
              </a:lnSpc>
              <a:buNone/>
            </a:pPr>
            <a:r>
              <a:rPr lang="en-US" sz="1400" dirty="0">
                <a:latin typeface="Consolas" panose="020B0609020204030204" pitchFamily="49" charset="0"/>
              </a:rPr>
              <a:t>(SELECT BRANCH, MONTHS, SALES,</a:t>
            </a:r>
          </a:p>
          <a:p>
            <a:pPr marL="0" indent="0">
              <a:lnSpc>
                <a:spcPct val="100000"/>
              </a:lnSpc>
              <a:buNone/>
            </a:pPr>
            <a:r>
              <a:rPr lang="en-US" sz="1400" dirty="0">
                <a:latin typeface="Consolas" panose="020B0609020204030204" pitchFamily="49" charset="0"/>
              </a:rPr>
              <a:t>LAG (SALES) OVER</a:t>
            </a:r>
          </a:p>
          <a:p>
            <a:pPr marL="0" indent="0">
              <a:lnSpc>
                <a:spcPct val="100000"/>
              </a:lnSpc>
              <a:buNone/>
            </a:pPr>
            <a:r>
              <a:rPr lang="en-US" sz="1400" dirty="0">
                <a:latin typeface="Consolas" panose="020B0609020204030204" pitchFamily="49" charset="0"/>
              </a:rPr>
              <a:t>(PARTITION BY BRANCH ORDER BY MONTHS) AS PRE_SALES,</a:t>
            </a:r>
          </a:p>
          <a:p>
            <a:pPr marL="0" indent="0">
              <a:lnSpc>
                <a:spcPct val="150000"/>
              </a:lnSpc>
              <a:buNone/>
            </a:pPr>
            <a:r>
              <a:rPr lang="en-US" sz="1400" dirty="0">
                <a:latin typeface="Consolas" panose="020B0609020204030204" pitchFamily="49" charset="0"/>
              </a:rPr>
              <a:t>(SALES - LAG (SALES) OVER (PARTITION BY BRANCH ORDER BY MONTHS)) *100 / LAG (SALES) OVER (PARTITION BY BRANCH ORDER BY MONTHS) AS GROWTH FROM TOTAL_SALE )</a:t>
            </a:r>
          </a:p>
          <a:p>
            <a:pPr marL="0" indent="0">
              <a:lnSpc>
                <a:spcPct val="100000"/>
              </a:lnSpc>
              <a:buNone/>
            </a:pPr>
            <a:r>
              <a:rPr lang="en-US" sz="1400" dirty="0">
                <a:latin typeface="Consolas" panose="020B0609020204030204" pitchFamily="49" charset="0"/>
              </a:rPr>
              <a:t>SELECT BRANCH, ROUND (AVG(GROWTH), 2) AS AVG_GROWTH FROM GROWTH</a:t>
            </a:r>
          </a:p>
          <a:p>
            <a:pPr marL="0" indent="0">
              <a:lnSpc>
                <a:spcPct val="100000"/>
              </a:lnSpc>
              <a:buNone/>
            </a:pPr>
            <a:r>
              <a:rPr lang="en-US" sz="1400" dirty="0">
                <a:latin typeface="Consolas" panose="020B0609020204030204" pitchFamily="49" charset="0"/>
              </a:rPr>
              <a:t>GROUP BY BRANCH</a:t>
            </a:r>
          </a:p>
          <a:p>
            <a:pPr marL="0" indent="0">
              <a:lnSpc>
                <a:spcPct val="100000"/>
              </a:lnSpc>
              <a:buNone/>
            </a:pPr>
            <a:r>
              <a:rPr lang="en-US" sz="1400" dirty="0">
                <a:latin typeface="Consolas" panose="020B0609020204030204" pitchFamily="49" charset="0"/>
              </a:rPr>
              <a:t>LIMIT 1;</a:t>
            </a:r>
          </a:p>
          <a:p>
            <a:endParaRPr lang="en-IN" sz="1400" dirty="0"/>
          </a:p>
        </p:txBody>
      </p:sp>
      <p:sp>
        <p:nvSpPr>
          <p:cNvPr id="4" name="Content Placeholder 3">
            <a:extLst>
              <a:ext uri="{FF2B5EF4-FFF2-40B4-BE49-F238E27FC236}">
                <a16:creationId xmlns:a16="http://schemas.microsoft.com/office/drawing/2014/main" id="{777CF988-0731-C4C2-DFF5-8B268C1BCE68}"/>
              </a:ext>
            </a:extLst>
          </p:cNvPr>
          <p:cNvSpPr>
            <a:spLocks noGrp="1"/>
          </p:cNvSpPr>
          <p:nvPr>
            <p:ph sz="half" idx="2"/>
          </p:nvPr>
        </p:nvSpPr>
        <p:spPr>
          <a:xfrm>
            <a:off x="6813755" y="521110"/>
            <a:ext cx="5378245" cy="6336890"/>
          </a:xfrm>
        </p:spPr>
        <p:txBody>
          <a:bodyPr>
            <a:normAutofit/>
          </a:bodyPr>
          <a:lstStyle/>
          <a:p>
            <a:pPr marL="0" indent="0">
              <a:buNone/>
            </a:pPr>
            <a:r>
              <a:rPr lang="en-IN" sz="1600" b="1" dirty="0">
                <a:solidFill>
                  <a:srgbClr val="00B0F0"/>
                </a:solidFill>
              </a:rPr>
              <a:t>OUTPUT :</a:t>
            </a:r>
          </a:p>
          <a:p>
            <a:pPr marL="0" indent="0">
              <a:buNone/>
            </a:pPr>
            <a:endParaRPr lang="en-IN" sz="1400" b="1" dirty="0"/>
          </a:p>
          <a:p>
            <a:pPr marL="0" indent="0">
              <a:buNone/>
            </a:pPr>
            <a:endParaRPr lang="en-IN" sz="1400" b="1" dirty="0"/>
          </a:p>
          <a:p>
            <a:pPr marL="0" indent="0">
              <a:buNone/>
            </a:pPr>
            <a:endParaRPr lang="en-IN" sz="1400" b="1" dirty="0"/>
          </a:p>
          <a:p>
            <a:pPr marL="0" indent="0">
              <a:buNone/>
            </a:pPr>
            <a:endParaRPr lang="en-IN" sz="1400" b="1" dirty="0"/>
          </a:p>
          <a:p>
            <a:pPr marL="0" indent="0">
              <a:buNone/>
            </a:pPr>
            <a:endParaRPr lang="en-IN" sz="1400" b="1" dirty="0"/>
          </a:p>
          <a:p>
            <a:pPr marL="0" indent="0">
              <a:buNone/>
            </a:pPr>
            <a:endParaRPr lang="en-IN" sz="1400" b="1" dirty="0"/>
          </a:p>
          <a:p>
            <a:pPr marL="0" indent="0">
              <a:buNone/>
            </a:pPr>
            <a:r>
              <a:rPr lang="en-IN" sz="1600" b="1" dirty="0">
                <a:solidFill>
                  <a:srgbClr val="00B0F0"/>
                </a:solidFill>
              </a:rPr>
              <a:t>VISUAL :</a:t>
            </a:r>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400" b="1" dirty="0"/>
          </a:p>
        </p:txBody>
      </p:sp>
      <p:pic>
        <p:nvPicPr>
          <p:cNvPr id="8" name="Picture 7">
            <a:extLst>
              <a:ext uri="{FF2B5EF4-FFF2-40B4-BE49-F238E27FC236}">
                <a16:creationId xmlns:a16="http://schemas.microsoft.com/office/drawing/2014/main" id="{10E15E88-9953-665E-A6A2-89C51C921289}"/>
              </a:ext>
            </a:extLst>
          </p:cNvPr>
          <p:cNvPicPr>
            <a:picLocks noChangeAspect="1"/>
          </p:cNvPicPr>
          <p:nvPr/>
        </p:nvPicPr>
        <p:blipFill>
          <a:blip r:embed="rId3"/>
          <a:stretch>
            <a:fillRect/>
          </a:stretch>
        </p:blipFill>
        <p:spPr>
          <a:xfrm>
            <a:off x="7065499" y="862547"/>
            <a:ext cx="3645724" cy="865707"/>
          </a:xfrm>
          <a:prstGeom prst="rect">
            <a:avLst/>
          </a:prstGeom>
        </p:spPr>
      </p:pic>
      <p:graphicFrame>
        <p:nvGraphicFramePr>
          <p:cNvPr id="9" name="Chart 8">
            <a:extLst>
              <a:ext uri="{FF2B5EF4-FFF2-40B4-BE49-F238E27FC236}">
                <a16:creationId xmlns:a16="http://schemas.microsoft.com/office/drawing/2014/main" id="{EC3A54FA-59D1-69B3-C120-03FE81F948A9}"/>
              </a:ext>
            </a:extLst>
          </p:cNvPr>
          <p:cNvGraphicFramePr>
            <a:graphicFrameLocks/>
          </p:cNvGraphicFramePr>
          <p:nvPr>
            <p:extLst>
              <p:ext uri="{D42A27DB-BD31-4B8C-83A1-F6EECF244321}">
                <p14:modId xmlns:p14="http://schemas.microsoft.com/office/powerpoint/2010/main" val="2187724530"/>
              </p:ext>
            </p:extLst>
          </p:nvPr>
        </p:nvGraphicFramePr>
        <p:xfrm>
          <a:off x="7065499" y="3079955"/>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991399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99E621-2F6E-5AD3-05C4-ED63A4100B7C}"/>
              </a:ext>
            </a:extLst>
          </p:cNvPr>
          <p:cNvSpPr>
            <a:spLocks noGrp="1"/>
          </p:cNvSpPr>
          <p:nvPr>
            <p:ph type="title"/>
          </p:nvPr>
        </p:nvSpPr>
        <p:spPr>
          <a:xfrm>
            <a:off x="0" y="0"/>
            <a:ext cx="12191999" cy="470617"/>
          </a:xfrm>
        </p:spPr>
        <p:txBody>
          <a:bodyPr>
            <a:normAutofit/>
          </a:bodyPr>
          <a:lstStyle/>
          <a:p>
            <a:pPr algn="ctr"/>
            <a:r>
              <a:rPr lang="en-US" sz="2000" dirty="0">
                <a:solidFill>
                  <a:srgbClr val="00B0F0"/>
                </a:solidFill>
              </a:rPr>
              <a:t>Most Profitable Product Line for Each Branch</a:t>
            </a:r>
            <a:endParaRPr lang="en-IN" sz="2000" dirty="0">
              <a:solidFill>
                <a:srgbClr val="00B0F0"/>
              </a:solidFill>
            </a:endParaRPr>
          </a:p>
        </p:txBody>
      </p:sp>
      <p:sp>
        <p:nvSpPr>
          <p:cNvPr id="4" name="Content Placeholder 3">
            <a:extLst>
              <a:ext uri="{FF2B5EF4-FFF2-40B4-BE49-F238E27FC236}">
                <a16:creationId xmlns:a16="http://schemas.microsoft.com/office/drawing/2014/main" id="{CAFCB9F8-EBE5-D2DA-061B-701114086046}"/>
              </a:ext>
            </a:extLst>
          </p:cNvPr>
          <p:cNvSpPr>
            <a:spLocks noGrp="1"/>
          </p:cNvSpPr>
          <p:nvPr>
            <p:ph sz="half" idx="1"/>
          </p:nvPr>
        </p:nvSpPr>
        <p:spPr>
          <a:xfrm>
            <a:off x="558800" y="470616"/>
            <a:ext cx="6146799" cy="6387383"/>
          </a:xfrm>
        </p:spPr>
        <p:txBody>
          <a:bodyPr>
            <a:normAutofit/>
          </a:bodyPr>
          <a:lstStyle/>
          <a:p>
            <a:pPr marL="0" indent="0">
              <a:lnSpc>
                <a:spcPts val="1425"/>
              </a:lnSpc>
              <a:buNone/>
            </a:pPr>
            <a:r>
              <a:rPr lang="en-US" sz="1600" b="1" dirty="0">
                <a:solidFill>
                  <a:srgbClr val="00B0F0"/>
                </a:solidFill>
              </a:rPr>
              <a:t>SQL QUERY :</a:t>
            </a:r>
            <a:endParaRPr lang="en-US" sz="1600" b="0" dirty="0">
              <a:solidFill>
                <a:srgbClr val="00B0F0"/>
              </a:solidFill>
              <a:effectLst/>
              <a:latin typeface="Consolas" panose="020B0609020204030204" pitchFamily="49" charset="0"/>
            </a:endParaRPr>
          </a:p>
          <a:p>
            <a:pPr marL="0" indent="0">
              <a:lnSpc>
                <a:spcPts val="1425"/>
              </a:lnSpc>
              <a:buNone/>
            </a:pPr>
            <a:r>
              <a:rPr lang="en-US" sz="1400" b="0" dirty="0">
                <a:solidFill>
                  <a:schemeClr val="tx1"/>
                </a:solidFill>
                <a:effectLst/>
                <a:latin typeface="Consolas" panose="020B0609020204030204" pitchFamily="49" charset="0"/>
              </a:rPr>
              <a:t>WITH SALES_COST AS</a:t>
            </a:r>
          </a:p>
          <a:p>
            <a:pPr marL="0" indent="0">
              <a:lnSpc>
                <a:spcPts val="1425"/>
              </a:lnSpc>
              <a:buNone/>
            </a:pPr>
            <a:r>
              <a:rPr lang="en-US" sz="1400" b="0" dirty="0">
                <a:solidFill>
                  <a:schemeClr val="tx1"/>
                </a:solidFill>
                <a:effectLst/>
                <a:latin typeface="Consolas" panose="020B0609020204030204" pitchFamily="49" charset="0"/>
              </a:rPr>
              <a:t>( SELECT BRANCH, PRODUCT_LINE, </a:t>
            </a:r>
          </a:p>
          <a:p>
            <a:pPr marL="0" indent="0">
              <a:lnSpc>
                <a:spcPts val="1425"/>
              </a:lnSpc>
              <a:buNone/>
            </a:pPr>
            <a:r>
              <a:rPr lang="en-US" sz="1400" b="0" dirty="0">
                <a:solidFill>
                  <a:schemeClr val="tx1"/>
                </a:solidFill>
                <a:effectLst/>
                <a:latin typeface="Consolas" panose="020B0609020204030204" pitchFamily="49" charset="0"/>
              </a:rPr>
              <a:t>SUM(TOTAL) AS SALES, </a:t>
            </a:r>
          </a:p>
          <a:p>
            <a:pPr marL="0" indent="0">
              <a:lnSpc>
                <a:spcPts val="1425"/>
              </a:lnSpc>
              <a:buNone/>
            </a:pPr>
            <a:r>
              <a:rPr lang="en-US" sz="1400" b="0" dirty="0">
                <a:solidFill>
                  <a:schemeClr val="tx1"/>
                </a:solidFill>
                <a:effectLst/>
                <a:latin typeface="Consolas" panose="020B0609020204030204" pitchFamily="49" charset="0"/>
              </a:rPr>
              <a:t>SUM(COGS) AS COST FROM WALMART_SALES</a:t>
            </a:r>
          </a:p>
          <a:p>
            <a:pPr marL="0" indent="0">
              <a:lnSpc>
                <a:spcPts val="1425"/>
              </a:lnSpc>
              <a:buNone/>
            </a:pPr>
            <a:r>
              <a:rPr lang="en-US" sz="1400" b="0" dirty="0">
                <a:solidFill>
                  <a:schemeClr val="tx1"/>
                </a:solidFill>
                <a:effectLst/>
                <a:latin typeface="Consolas" panose="020B0609020204030204" pitchFamily="49" charset="0"/>
              </a:rPr>
              <a:t>GROUP BY BRANCH, PRODUCT_LINE</a:t>
            </a:r>
          </a:p>
          <a:p>
            <a:pPr marL="0" indent="0">
              <a:lnSpc>
                <a:spcPts val="1425"/>
              </a:lnSpc>
              <a:buNone/>
            </a:pPr>
            <a:r>
              <a:rPr lang="en-US" sz="1400" b="0" dirty="0">
                <a:solidFill>
                  <a:schemeClr val="tx1"/>
                </a:solidFill>
                <a:effectLst/>
                <a:latin typeface="Consolas" panose="020B0609020204030204" pitchFamily="49" charset="0"/>
              </a:rPr>
              <a:t>ORDER BY BRANCH ), </a:t>
            </a:r>
          </a:p>
          <a:p>
            <a:pPr marL="0" indent="0">
              <a:lnSpc>
                <a:spcPts val="1425"/>
              </a:lnSpc>
              <a:buNone/>
            </a:pPr>
            <a:r>
              <a:rPr lang="en-US" sz="1400" b="0" dirty="0">
                <a:solidFill>
                  <a:schemeClr val="tx1"/>
                </a:solidFill>
                <a:effectLst/>
                <a:latin typeface="Consolas" panose="020B0609020204030204" pitchFamily="49" charset="0"/>
              </a:rPr>
              <a:t>PROFITS AS</a:t>
            </a:r>
          </a:p>
          <a:p>
            <a:pPr marL="0" indent="0">
              <a:lnSpc>
                <a:spcPts val="1425"/>
              </a:lnSpc>
              <a:buNone/>
            </a:pPr>
            <a:r>
              <a:rPr lang="en-US" sz="1400" b="0" dirty="0">
                <a:solidFill>
                  <a:schemeClr val="tx1"/>
                </a:solidFill>
                <a:effectLst/>
                <a:latin typeface="Consolas" panose="020B0609020204030204" pitchFamily="49" charset="0"/>
              </a:rPr>
              <a:t>( SELECT BRANCH, PRODUCT_LINE, </a:t>
            </a:r>
          </a:p>
          <a:p>
            <a:pPr marL="0" indent="0">
              <a:lnSpc>
                <a:spcPts val="1425"/>
              </a:lnSpc>
              <a:buNone/>
            </a:pPr>
            <a:r>
              <a:rPr lang="en-US" sz="1400" b="0" dirty="0">
                <a:solidFill>
                  <a:schemeClr val="tx1"/>
                </a:solidFill>
                <a:effectLst/>
                <a:latin typeface="Consolas" panose="020B0609020204030204" pitchFamily="49" charset="0"/>
              </a:rPr>
              <a:t>RANK() OVER </a:t>
            </a:r>
          </a:p>
          <a:p>
            <a:pPr marL="0" indent="0">
              <a:lnSpc>
                <a:spcPts val="1425"/>
              </a:lnSpc>
              <a:buNone/>
            </a:pPr>
            <a:r>
              <a:rPr lang="en-US" sz="1400" b="0" dirty="0">
                <a:solidFill>
                  <a:schemeClr val="tx1"/>
                </a:solidFill>
                <a:effectLst/>
                <a:latin typeface="Consolas" panose="020B0609020204030204" pitchFamily="49" charset="0"/>
              </a:rPr>
              <a:t>(PARTITION BY BRANCH ORDER BY SALES DESC) AS RANKS,</a:t>
            </a:r>
          </a:p>
          <a:p>
            <a:pPr marL="0" indent="0">
              <a:lnSpc>
                <a:spcPts val="1425"/>
              </a:lnSpc>
              <a:buNone/>
            </a:pPr>
            <a:r>
              <a:rPr lang="en-US" sz="1400" b="0" dirty="0">
                <a:solidFill>
                  <a:schemeClr val="tx1"/>
                </a:solidFill>
                <a:effectLst/>
                <a:latin typeface="Consolas" panose="020B0609020204030204" pitchFamily="49" charset="0"/>
              </a:rPr>
              <a:t>(SALES - COST) AS PROFIT</a:t>
            </a:r>
          </a:p>
          <a:p>
            <a:pPr marL="0" indent="0">
              <a:lnSpc>
                <a:spcPts val="1425"/>
              </a:lnSpc>
              <a:buNone/>
            </a:pPr>
            <a:r>
              <a:rPr lang="en-US" sz="1400" b="0" dirty="0">
                <a:solidFill>
                  <a:schemeClr val="tx1"/>
                </a:solidFill>
                <a:effectLst/>
                <a:latin typeface="Consolas" panose="020B0609020204030204" pitchFamily="49" charset="0"/>
              </a:rPr>
              <a:t>FROM SALES_COST )</a:t>
            </a:r>
          </a:p>
          <a:p>
            <a:pPr marL="0" indent="0">
              <a:lnSpc>
                <a:spcPts val="1425"/>
              </a:lnSpc>
              <a:buNone/>
            </a:pPr>
            <a:r>
              <a:rPr lang="en-US" sz="1400" b="0" dirty="0">
                <a:solidFill>
                  <a:schemeClr val="tx1"/>
                </a:solidFill>
                <a:effectLst/>
                <a:latin typeface="Consolas" panose="020B0609020204030204" pitchFamily="49" charset="0"/>
              </a:rPr>
              <a:t>SELECT BRANCH, PRODUCT_LINE, </a:t>
            </a:r>
          </a:p>
          <a:p>
            <a:pPr marL="0" indent="0">
              <a:lnSpc>
                <a:spcPts val="1425"/>
              </a:lnSpc>
              <a:buNone/>
            </a:pPr>
            <a:r>
              <a:rPr lang="en-US" sz="1400" b="0" dirty="0">
                <a:solidFill>
                  <a:schemeClr val="tx1"/>
                </a:solidFill>
                <a:effectLst/>
                <a:latin typeface="Consolas" panose="020B0609020204030204" pitchFamily="49" charset="0"/>
              </a:rPr>
              <a:t>ROUND(PROFIT, 2) AS PROFIT FROM PROFITS</a:t>
            </a:r>
          </a:p>
          <a:p>
            <a:pPr marL="0" indent="0">
              <a:lnSpc>
                <a:spcPts val="1425"/>
              </a:lnSpc>
              <a:buNone/>
            </a:pPr>
            <a:r>
              <a:rPr lang="en-US" sz="1400" b="0" dirty="0">
                <a:solidFill>
                  <a:schemeClr val="tx1"/>
                </a:solidFill>
                <a:effectLst/>
                <a:latin typeface="Consolas" panose="020B0609020204030204" pitchFamily="49" charset="0"/>
              </a:rPr>
              <a:t>WHERE RANKS = 1;</a:t>
            </a:r>
          </a:p>
          <a:p>
            <a:pPr marL="0" indent="0">
              <a:buNone/>
            </a:pPr>
            <a:endParaRPr lang="en-IN" sz="1400" dirty="0"/>
          </a:p>
        </p:txBody>
      </p:sp>
      <p:sp>
        <p:nvSpPr>
          <p:cNvPr id="5" name="Content Placeholder 4">
            <a:extLst>
              <a:ext uri="{FF2B5EF4-FFF2-40B4-BE49-F238E27FC236}">
                <a16:creationId xmlns:a16="http://schemas.microsoft.com/office/drawing/2014/main" id="{BDD5038A-19EA-B1CF-00F8-CD19B38A2BDB}"/>
              </a:ext>
            </a:extLst>
          </p:cNvPr>
          <p:cNvSpPr>
            <a:spLocks noGrp="1"/>
          </p:cNvSpPr>
          <p:nvPr>
            <p:ph sz="half" idx="2"/>
          </p:nvPr>
        </p:nvSpPr>
        <p:spPr>
          <a:xfrm>
            <a:off x="6617110" y="470616"/>
            <a:ext cx="5574890" cy="6387383"/>
          </a:xfrm>
        </p:spPr>
        <p:txBody>
          <a:bodyPr>
            <a:normAutofit/>
          </a:bodyPr>
          <a:lstStyle/>
          <a:p>
            <a:pPr marL="0" indent="0">
              <a:buNone/>
            </a:pPr>
            <a:r>
              <a:rPr lang="en-IN" sz="1600" b="1" dirty="0">
                <a:solidFill>
                  <a:srgbClr val="00B0F0"/>
                </a:solidFill>
              </a:rPr>
              <a:t>OUTPUT :</a:t>
            </a:r>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r>
              <a:rPr lang="en-IN" sz="1600" b="1" dirty="0">
                <a:solidFill>
                  <a:srgbClr val="00B0F0"/>
                </a:solidFill>
              </a:rPr>
              <a:t>VISUAL</a:t>
            </a:r>
            <a:r>
              <a:rPr lang="en-IN" sz="1600" dirty="0">
                <a:solidFill>
                  <a:srgbClr val="00B0F0"/>
                </a:solidFill>
              </a:rPr>
              <a:t> :</a:t>
            </a:r>
          </a:p>
          <a:p>
            <a:pPr marL="0" indent="0">
              <a:buNone/>
            </a:pPr>
            <a:endParaRPr lang="en-IN" sz="1600" dirty="0"/>
          </a:p>
          <a:p>
            <a:pPr marL="0" indent="0">
              <a:buNone/>
            </a:pPr>
            <a:endParaRPr lang="en-IN" sz="1600" dirty="0"/>
          </a:p>
          <a:p>
            <a:pPr marL="0" indent="0">
              <a:buNone/>
            </a:pPr>
            <a:endParaRPr lang="en-IN" sz="1600" dirty="0"/>
          </a:p>
          <a:p>
            <a:endParaRPr lang="en-IN" sz="1600" dirty="0"/>
          </a:p>
        </p:txBody>
      </p:sp>
      <p:graphicFrame>
        <p:nvGraphicFramePr>
          <p:cNvPr id="6" name="Table 5">
            <a:extLst>
              <a:ext uri="{FF2B5EF4-FFF2-40B4-BE49-F238E27FC236}">
                <a16:creationId xmlns:a16="http://schemas.microsoft.com/office/drawing/2014/main" id="{2C327A0F-3DD5-F907-A51A-5141F91D8DA8}"/>
              </a:ext>
            </a:extLst>
          </p:cNvPr>
          <p:cNvGraphicFramePr>
            <a:graphicFrameLocks noGrp="1"/>
          </p:cNvGraphicFramePr>
          <p:nvPr>
            <p:extLst>
              <p:ext uri="{D42A27DB-BD31-4B8C-83A1-F6EECF244321}">
                <p14:modId xmlns:p14="http://schemas.microsoft.com/office/powerpoint/2010/main" val="2352835470"/>
              </p:ext>
            </p:extLst>
          </p:nvPr>
        </p:nvGraphicFramePr>
        <p:xfrm>
          <a:off x="6705600" y="956613"/>
          <a:ext cx="4927600" cy="1383465"/>
        </p:xfrm>
        <a:graphic>
          <a:graphicData uri="http://schemas.openxmlformats.org/drawingml/2006/table">
            <a:tbl>
              <a:tblPr firstRow="1" bandRow="1"/>
              <a:tblGrid>
                <a:gridCol w="1485900">
                  <a:extLst>
                    <a:ext uri="{9D8B030D-6E8A-4147-A177-3AD203B41FA5}">
                      <a16:colId xmlns:a16="http://schemas.microsoft.com/office/drawing/2014/main" val="21465369"/>
                    </a:ext>
                  </a:extLst>
                </a:gridCol>
                <a:gridCol w="2019300">
                  <a:extLst>
                    <a:ext uri="{9D8B030D-6E8A-4147-A177-3AD203B41FA5}">
                      <a16:colId xmlns:a16="http://schemas.microsoft.com/office/drawing/2014/main" val="3969179459"/>
                    </a:ext>
                  </a:extLst>
                </a:gridCol>
                <a:gridCol w="1422400">
                  <a:extLst>
                    <a:ext uri="{9D8B030D-6E8A-4147-A177-3AD203B41FA5}">
                      <a16:colId xmlns:a16="http://schemas.microsoft.com/office/drawing/2014/main" val="2717669285"/>
                    </a:ext>
                  </a:extLst>
                </a:gridCol>
              </a:tblGrid>
              <a:tr h="393669">
                <a:tc>
                  <a:txBody>
                    <a:bodyPr/>
                    <a:lstStyle/>
                    <a:p>
                      <a:pPr algn="l" rtl="0" fontAlgn="ctr"/>
                      <a:r>
                        <a:rPr lang="en-IN" sz="1600" b="1" i="0" u="none" strike="noStrike">
                          <a:solidFill>
                            <a:srgbClr val="FFFFFF"/>
                          </a:solidFill>
                          <a:effectLst/>
                          <a:latin typeface="Century Gothic" panose="020B0502020202020204" pitchFamily="34" charset="0"/>
                        </a:rPr>
                        <a:t>Branch</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tc>
                  <a:txBody>
                    <a:bodyPr/>
                    <a:lstStyle/>
                    <a:p>
                      <a:pPr algn="l" rtl="0" fontAlgn="ctr"/>
                      <a:r>
                        <a:rPr lang="en-IN" sz="1600" b="1" i="0" u="none" strike="noStrike">
                          <a:solidFill>
                            <a:srgbClr val="FFFFFF"/>
                          </a:solidFill>
                          <a:effectLst/>
                          <a:latin typeface="Century Gothic" panose="020B0502020202020204" pitchFamily="34" charset="0"/>
                        </a:rPr>
                        <a:t>Product line</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tc>
                  <a:txBody>
                    <a:bodyPr/>
                    <a:lstStyle/>
                    <a:p>
                      <a:pPr algn="l" rtl="0" fontAlgn="ctr"/>
                      <a:r>
                        <a:rPr lang="en-IN" sz="1600" b="1" i="0" u="none" strike="noStrike">
                          <a:solidFill>
                            <a:srgbClr val="FFFFFF"/>
                          </a:solidFill>
                          <a:effectLst/>
                          <a:latin typeface="Century Gothic" panose="020B0502020202020204" pitchFamily="34" charset="0"/>
                        </a:rPr>
                        <a:t>Profit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extLst>
                  <a:ext uri="{0D108BD9-81ED-4DB2-BD59-A6C34878D82A}">
                    <a16:rowId xmlns:a16="http://schemas.microsoft.com/office/drawing/2014/main" val="954676724"/>
                  </a:ext>
                </a:extLst>
              </a:tr>
              <a:tr h="337430">
                <a:tc>
                  <a:txBody>
                    <a:bodyPr/>
                    <a:lstStyle/>
                    <a:p>
                      <a:pPr algn="l" rtl="0" fontAlgn="ctr"/>
                      <a:r>
                        <a:rPr lang="en-IN" sz="1400" b="0" i="0" u="none" strike="noStrike">
                          <a:solidFill>
                            <a:srgbClr val="000000"/>
                          </a:solidFill>
                          <a:effectLst/>
                          <a:latin typeface="Century Gothic" panose="020B0502020202020204" pitchFamily="34" charset="0"/>
                        </a:rPr>
                        <a:t>A</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a:solidFill>
                            <a:srgbClr val="000000"/>
                          </a:solidFill>
                          <a:effectLst/>
                          <a:latin typeface="Century Gothic" panose="020B0502020202020204" pitchFamily="34" charset="0"/>
                        </a:rPr>
                        <a:t>Home and lifestyle</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a:solidFill>
                            <a:srgbClr val="000000"/>
                          </a:solidFill>
                          <a:effectLst/>
                          <a:latin typeface="Century Gothic" panose="020B0502020202020204" pitchFamily="34" charset="0"/>
                        </a:rPr>
                        <a:t>1067.49</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4283788405"/>
                  </a:ext>
                </a:extLst>
              </a:tr>
              <a:tr h="326183">
                <a:tc>
                  <a:txBody>
                    <a:bodyPr/>
                    <a:lstStyle/>
                    <a:p>
                      <a:pPr algn="l" rtl="0" fontAlgn="ctr"/>
                      <a:r>
                        <a:rPr lang="en-IN" sz="1400" b="0" i="0" u="none" strike="noStrike">
                          <a:solidFill>
                            <a:srgbClr val="000000"/>
                          </a:solidFill>
                          <a:effectLst/>
                          <a:latin typeface="Century Gothic" panose="020B0502020202020204" pitchFamily="34" charset="0"/>
                        </a:rPr>
                        <a:t>B</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400" b="0" i="0" u="none" strike="noStrike">
                          <a:solidFill>
                            <a:srgbClr val="000000"/>
                          </a:solidFill>
                          <a:effectLst/>
                          <a:latin typeface="Century Gothic" panose="020B0502020202020204" pitchFamily="34" charset="0"/>
                        </a:rPr>
                        <a:t>Sports and travel</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400" b="0" i="0" u="none" strike="noStrike">
                          <a:solidFill>
                            <a:srgbClr val="000000"/>
                          </a:solidFill>
                          <a:effectLst/>
                          <a:latin typeface="Century Gothic" panose="020B0502020202020204" pitchFamily="34" charset="0"/>
                        </a:rPr>
                        <a:t>951.82</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3997635529"/>
                  </a:ext>
                </a:extLst>
              </a:tr>
              <a:tr h="326183">
                <a:tc>
                  <a:txBody>
                    <a:bodyPr/>
                    <a:lstStyle/>
                    <a:p>
                      <a:pPr algn="l" rtl="0" fontAlgn="ctr"/>
                      <a:r>
                        <a:rPr lang="en-IN" sz="1400" b="0" i="0" u="none" strike="noStrike">
                          <a:solidFill>
                            <a:srgbClr val="000000"/>
                          </a:solidFill>
                          <a:effectLst/>
                          <a:latin typeface="Century Gothic" panose="020B0502020202020204" pitchFamily="34" charset="0"/>
                        </a:rPr>
                        <a:t>C</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a:solidFill>
                            <a:srgbClr val="000000"/>
                          </a:solidFill>
                          <a:effectLst/>
                          <a:latin typeface="Century Gothic" panose="020B0502020202020204" pitchFamily="34" charset="0"/>
                        </a:rPr>
                        <a:t>Food and beverages</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dirty="0">
                          <a:solidFill>
                            <a:srgbClr val="000000"/>
                          </a:solidFill>
                          <a:effectLst/>
                          <a:latin typeface="Century Gothic" panose="020B0502020202020204" pitchFamily="34" charset="0"/>
                        </a:rPr>
                        <a:t>1131.75</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1690960894"/>
                  </a:ext>
                </a:extLst>
              </a:tr>
            </a:tbl>
          </a:graphicData>
        </a:graphic>
      </p:graphicFrame>
      <p:graphicFrame>
        <p:nvGraphicFramePr>
          <p:cNvPr id="8" name="Chart 7">
            <a:extLst>
              <a:ext uri="{FF2B5EF4-FFF2-40B4-BE49-F238E27FC236}">
                <a16:creationId xmlns:a16="http://schemas.microsoft.com/office/drawing/2014/main" id="{F53CD646-D1EC-CE64-AE2F-27A5B89F63B8}"/>
              </a:ext>
            </a:extLst>
          </p:cNvPr>
          <p:cNvGraphicFramePr>
            <a:graphicFrameLocks/>
          </p:cNvGraphicFramePr>
          <p:nvPr>
            <p:extLst>
              <p:ext uri="{D42A27DB-BD31-4B8C-83A1-F6EECF244321}">
                <p14:modId xmlns:p14="http://schemas.microsoft.com/office/powerpoint/2010/main" val="2472666249"/>
              </p:ext>
            </p:extLst>
          </p:nvPr>
        </p:nvGraphicFramePr>
        <p:xfrm>
          <a:off x="6617110" y="3546987"/>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45759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F12953-F75C-6291-4755-F2A546DF736A}"/>
              </a:ext>
            </a:extLst>
          </p:cNvPr>
          <p:cNvSpPr>
            <a:spLocks noGrp="1"/>
          </p:cNvSpPr>
          <p:nvPr>
            <p:ph type="title"/>
          </p:nvPr>
        </p:nvSpPr>
        <p:spPr>
          <a:xfrm>
            <a:off x="0" y="2"/>
            <a:ext cx="12192000" cy="511276"/>
          </a:xfrm>
        </p:spPr>
        <p:txBody>
          <a:bodyPr>
            <a:normAutofit/>
          </a:bodyPr>
          <a:lstStyle/>
          <a:p>
            <a:pPr algn="ctr"/>
            <a:r>
              <a:rPr lang="en-US" sz="2000" dirty="0">
                <a:solidFill>
                  <a:srgbClr val="00B0F0"/>
                </a:solidFill>
              </a:rPr>
              <a:t>Customer Segmentation Based on Spending</a:t>
            </a:r>
            <a:endParaRPr lang="en-IN" sz="2000" dirty="0">
              <a:solidFill>
                <a:srgbClr val="00B0F0"/>
              </a:solidFill>
            </a:endParaRPr>
          </a:p>
        </p:txBody>
      </p:sp>
      <p:sp>
        <p:nvSpPr>
          <p:cNvPr id="6" name="Content Placeholder 5">
            <a:extLst>
              <a:ext uri="{FF2B5EF4-FFF2-40B4-BE49-F238E27FC236}">
                <a16:creationId xmlns:a16="http://schemas.microsoft.com/office/drawing/2014/main" id="{A24540F7-93A1-CE08-EB0E-131D7EDF403E}"/>
              </a:ext>
            </a:extLst>
          </p:cNvPr>
          <p:cNvSpPr>
            <a:spLocks noGrp="1"/>
          </p:cNvSpPr>
          <p:nvPr>
            <p:ph sz="half" idx="1"/>
          </p:nvPr>
        </p:nvSpPr>
        <p:spPr>
          <a:xfrm>
            <a:off x="486383" y="511278"/>
            <a:ext cx="5894752" cy="6346722"/>
          </a:xfrm>
        </p:spPr>
        <p:txBody>
          <a:bodyPr>
            <a:normAutofit/>
          </a:bodyPr>
          <a:lstStyle/>
          <a:p>
            <a:pPr marL="0" indent="0">
              <a:buNone/>
            </a:pPr>
            <a:r>
              <a:rPr lang="en-US" sz="1600" b="1" dirty="0">
                <a:solidFill>
                  <a:srgbClr val="00B0F0"/>
                </a:solidFill>
              </a:rPr>
              <a:t>SQL QUERY :</a:t>
            </a:r>
            <a:endParaRPr lang="en-US" sz="1600" b="0" dirty="0">
              <a:solidFill>
                <a:srgbClr val="00B0F0"/>
              </a:solidFill>
              <a:effectLst/>
              <a:latin typeface="Consolas" panose="020B0609020204030204" pitchFamily="49" charset="0"/>
            </a:endParaRPr>
          </a:p>
          <a:p>
            <a:pPr marL="0" indent="0">
              <a:lnSpc>
                <a:spcPts val="1425"/>
              </a:lnSpc>
              <a:buNone/>
            </a:pPr>
            <a:r>
              <a:rPr lang="en-US" sz="1400" b="0" dirty="0">
                <a:solidFill>
                  <a:schemeClr val="tx1"/>
                </a:solidFill>
                <a:effectLst/>
                <a:latin typeface="Consolas" panose="020B0609020204030204" pitchFamily="49" charset="0"/>
              </a:rPr>
              <a:t>WITH TOTAL_PURCHASES AS</a:t>
            </a:r>
          </a:p>
          <a:p>
            <a:pPr marL="0" indent="0">
              <a:lnSpc>
                <a:spcPts val="1425"/>
              </a:lnSpc>
              <a:buNone/>
            </a:pPr>
            <a:r>
              <a:rPr lang="en-US" sz="1400" b="0" dirty="0">
                <a:solidFill>
                  <a:schemeClr val="tx1"/>
                </a:solidFill>
                <a:effectLst/>
                <a:latin typeface="Consolas" panose="020B0609020204030204" pitchFamily="49" charset="0"/>
              </a:rPr>
              <a:t>(</a:t>
            </a:r>
          </a:p>
          <a:p>
            <a:pPr marL="0" indent="0">
              <a:lnSpc>
                <a:spcPts val="1425"/>
              </a:lnSpc>
              <a:buNone/>
            </a:pPr>
            <a:r>
              <a:rPr lang="en-US" sz="1400" b="0" dirty="0">
                <a:solidFill>
                  <a:schemeClr val="tx1"/>
                </a:solidFill>
                <a:effectLst/>
                <a:latin typeface="Consolas" panose="020B0609020204030204" pitchFamily="49" charset="0"/>
              </a:rPr>
              <a:t>SELECT CUSTOMER_ID, </a:t>
            </a:r>
          </a:p>
          <a:p>
            <a:pPr marL="0" indent="0">
              <a:lnSpc>
                <a:spcPts val="1425"/>
              </a:lnSpc>
              <a:buNone/>
            </a:pPr>
            <a:r>
              <a:rPr lang="en-US" sz="1400" dirty="0">
                <a:solidFill>
                  <a:schemeClr val="tx1"/>
                </a:solidFill>
                <a:latin typeface="Consolas" panose="020B0609020204030204" pitchFamily="49" charset="0"/>
              </a:rPr>
              <a:t>ROUND(</a:t>
            </a:r>
            <a:r>
              <a:rPr lang="en-US" sz="1400" b="0" dirty="0">
                <a:solidFill>
                  <a:schemeClr val="tx1"/>
                </a:solidFill>
                <a:effectLst/>
                <a:latin typeface="Consolas" panose="020B0609020204030204" pitchFamily="49" charset="0"/>
              </a:rPr>
              <a:t>SUM(TOTAL), 2) AS AMOUNT FROM WALMART_SALES</a:t>
            </a:r>
          </a:p>
          <a:p>
            <a:pPr marL="0" indent="0">
              <a:lnSpc>
                <a:spcPts val="1425"/>
              </a:lnSpc>
              <a:buNone/>
            </a:pPr>
            <a:r>
              <a:rPr lang="en-US" sz="1400" b="0" dirty="0">
                <a:solidFill>
                  <a:schemeClr val="tx1"/>
                </a:solidFill>
                <a:effectLst/>
                <a:latin typeface="Consolas" panose="020B0609020204030204" pitchFamily="49" charset="0"/>
              </a:rPr>
              <a:t>GROUP BY CUSTOMER_ID</a:t>
            </a:r>
          </a:p>
          <a:p>
            <a:pPr marL="0" indent="0">
              <a:lnSpc>
                <a:spcPts val="1425"/>
              </a:lnSpc>
              <a:buNone/>
            </a:pPr>
            <a:r>
              <a:rPr lang="en-US" sz="1400" b="0" dirty="0">
                <a:solidFill>
                  <a:schemeClr val="tx1"/>
                </a:solidFill>
                <a:effectLst/>
                <a:latin typeface="Consolas" panose="020B0609020204030204" pitchFamily="49" charset="0"/>
              </a:rPr>
              <a:t>ORDER BY CUSTOMER_ID</a:t>
            </a:r>
          </a:p>
          <a:p>
            <a:pPr marL="0" indent="0">
              <a:lnSpc>
                <a:spcPts val="1425"/>
              </a:lnSpc>
              <a:buNone/>
            </a:pPr>
            <a:r>
              <a:rPr lang="en-US" sz="1400" b="0" dirty="0">
                <a:solidFill>
                  <a:schemeClr val="tx1"/>
                </a:solidFill>
                <a:effectLst/>
                <a:latin typeface="Consolas" panose="020B0609020204030204" pitchFamily="49" charset="0"/>
              </a:rPr>
              <a:t>)</a:t>
            </a:r>
          </a:p>
          <a:p>
            <a:pPr marL="0" indent="0">
              <a:lnSpc>
                <a:spcPts val="1425"/>
              </a:lnSpc>
              <a:buNone/>
            </a:pPr>
            <a:r>
              <a:rPr lang="en-US" sz="1400" b="0" dirty="0">
                <a:solidFill>
                  <a:schemeClr val="tx1"/>
                </a:solidFill>
                <a:effectLst/>
                <a:latin typeface="Consolas" panose="020B0609020204030204" pitchFamily="49" charset="0"/>
              </a:rPr>
              <a:t>SELECT CUSTOMER_ID, AMOUNT,</a:t>
            </a:r>
          </a:p>
          <a:p>
            <a:pPr marL="0" indent="0">
              <a:lnSpc>
                <a:spcPts val="1425"/>
              </a:lnSpc>
              <a:buNone/>
            </a:pPr>
            <a:r>
              <a:rPr lang="en-US" sz="1400" b="0" dirty="0">
                <a:solidFill>
                  <a:schemeClr val="tx1"/>
                </a:solidFill>
                <a:effectLst/>
                <a:latin typeface="Consolas" panose="020B0609020204030204" pitchFamily="49" charset="0"/>
              </a:rPr>
              <a:t>CASE </a:t>
            </a:r>
          </a:p>
          <a:p>
            <a:pPr marL="0" indent="0">
              <a:lnSpc>
                <a:spcPts val="1425"/>
              </a:lnSpc>
              <a:buNone/>
            </a:pPr>
            <a:r>
              <a:rPr lang="en-US" sz="1400" b="0" dirty="0">
                <a:solidFill>
                  <a:schemeClr val="tx1"/>
                </a:solidFill>
                <a:effectLst/>
                <a:latin typeface="Consolas" panose="020B0609020204030204" pitchFamily="49" charset="0"/>
              </a:rPr>
              <a:t>WHEN AMOUNT &lt; 20000 THEN 'LOW'</a:t>
            </a:r>
          </a:p>
          <a:p>
            <a:pPr marL="0" indent="0">
              <a:lnSpc>
                <a:spcPts val="1425"/>
              </a:lnSpc>
              <a:buNone/>
            </a:pPr>
            <a:r>
              <a:rPr lang="en-US" sz="1400" b="0" dirty="0">
                <a:solidFill>
                  <a:schemeClr val="tx1"/>
                </a:solidFill>
                <a:effectLst/>
                <a:latin typeface="Consolas" panose="020B0609020204030204" pitchFamily="49" charset="0"/>
              </a:rPr>
              <a:t>WHEN AMOUNT &lt; 22000 THEN 'MEDIUM'</a:t>
            </a:r>
          </a:p>
          <a:p>
            <a:pPr marL="0" indent="0">
              <a:lnSpc>
                <a:spcPts val="1425"/>
              </a:lnSpc>
              <a:buNone/>
            </a:pPr>
            <a:r>
              <a:rPr lang="en-US" sz="1400" b="0" dirty="0">
                <a:solidFill>
                  <a:schemeClr val="tx1"/>
                </a:solidFill>
                <a:effectLst/>
                <a:latin typeface="Consolas" panose="020B0609020204030204" pitchFamily="49" charset="0"/>
              </a:rPr>
              <a:t>ELSE 'HIGH'</a:t>
            </a:r>
          </a:p>
          <a:p>
            <a:pPr marL="0" indent="0">
              <a:lnSpc>
                <a:spcPts val="1425"/>
              </a:lnSpc>
              <a:buNone/>
            </a:pPr>
            <a:r>
              <a:rPr lang="en-US" sz="1400" b="0" dirty="0">
                <a:solidFill>
                  <a:schemeClr val="tx1"/>
                </a:solidFill>
                <a:effectLst/>
                <a:latin typeface="Consolas" panose="020B0609020204030204" pitchFamily="49" charset="0"/>
              </a:rPr>
              <a:t>END AS 'CUSTOMER_SEGMENTS'</a:t>
            </a:r>
          </a:p>
          <a:p>
            <a:pPr marL="0" indent="0">
              <a:lnSpc>
                <a:spcPts val="1425"/>
              </a:lnSpc>
              <a:buNone/>
            </a:pPr>
            <a:r>
              <a:rPr lang="en-US" sz="1400" b="0" dirty="0">
                <a:solidFill>
                  <a:schemeClr val="tx1"/>
                </a:solidFill>
                <a:effectLst/>
                <a:latin typeface="Consolas" panose="020B0609020204030204" pitchFamily="49" charset="0"/>
              </a:rPr>
              <a:t>FROM TOTAL_PURCHASES;</a:t>
            </a:r>
          </a:p>
          <a:p>
            <a:endParaRPr lang="en-IN" sz="1400" dirty="0"/>
          </a:p>
        </p:txBody>
      </p:sp>
      <p:sp>
        <p:nvSpPr>
          <p:cNvPr id="7" name="Content Placeholder 6">
            <a:extLst>
              <a:ext uri="{FF2B5EF4-FFF2-40B4-BE49-F238E27FC236}">
                <a16:creationId xmlns:a16="http://schemas.microsoft.com/office/drawing/2014/main" id="{67BC7487-1020-170E-0079-18AED80DBFBF}"/>
              </a:ext>
            </a:extLst>
          </p:cNvPr>
          <p:cNvSpPr>
            <a:spLocks noGrp="1"/>
          </p:cNvSpPr>
          <p:nvPr>
            <p:ph sz="half" idx="2"/>
          </p:nvPr>
        </p:nvSpPr>
        <p:spPr>
          <a:xfrm>
            <a:off x="6892412" y="491614"/>
            <a:ext cx="5299587" cy="6346720"/>
          </a:xfrm>
        </p:spPr>
        <p:txBody>
          <a:bodyPr>
            <a:normAutofit/>
          </a:bodyPr>
          <a:lstStyle/>
          <a:p>
            <a:pPr marL="0" indent="0">
              <a:buNone/>
            </a:pPr>
            <a:r>
              <a:rPr lang="en-IN" sz="1600" b="1" dirty="0">
                <a:solidFill>
                  <a:srgbClr val="00B0F0"/>
                </a:solidFill>
              </a:rPr>
              <a:t>OUTPUT :</a:t>
            </a:r>
          </a:p>
          <a:p>
            <a:pPr marL="0" indent="0">
              <a:buNone/>
            </a:pPr>
            <a:endParaRPr lang="en-IN" sz="1600" dirty="0"/>
          </a:p>
        </p:txBody>
      </p:sp>
      <p:graphicFrame>
        <p:nvGraphicFramePr>
          <p:cNvPr id="8" name="Table 7">
            <a:extLst>
              <a:ext uri="{FF2B5EF4-FFF2-40B4-BE49-F238E27FC236}">
                <a16:creationId xmlns:a16="http://schemas.microsoft.com/office/drawing/2014/main" id="{644CFF7A-0AFA-4914-B6BD-70AE98326DF7}"/>
              </a:ext>
            </a:extLst>
          </p:cNvPr>
          <p:cNvGraphicFramePr>
            <a:graphicFrameLocks noGrp="1"/>
          </p:cNvGraphicFramePr>
          <p:nvPr>
            <p:extLst>
              <p:ext uri="{D42A27DB-BD31-4B8C-83A1-F6EECF244321}">
                <p14:modId xmlns:p14="http://schemas.microsoft.com/office/powerpoint/2010/main" val="1867140672"/>
              </p:ext>
            </p:extLst>
          </p:nvPr>
        </p:nvGraphicFramePr>
        <p:xfrm>
          <a:off x="6892411" y="1002890"/>
          <a:ext cx="4424316" cy="4457184"/>
        </p:xfrm>
        <a:graphic>
          <a:graphicData uri="http://schemas.openxmlformats.org/drawingml/2006/table">
            <a:tbl>
              <a:tblPr firstRow="1" bandRow="1"/>
              <a:tblGrid>
                <a:gridCol w="1334137">
                  <a:extLst>
                    <a:ext uri="{9D8B030D-6E8A-4147-A177-3AD203B41FA5}">
                      <a16:colId xmlns:a16="http://schemas.microsoft.com/office/drawing/2014/main" val="3793942959"/>
                    </a:ext>
                  </a:extLst>
                </a:gridCol>
                <a:gridCol w="1813057">
                  <a:extLst>
                    <a:ext uri="{9D8B030D-6E8A-4147-A177-3AD203B41FA5}">
                      <a16:colId xmlns:a16="http://schemas.microsoft.com/office/drawing/2014/main" val="232605281"/>
                    </a:ext>
                  </a:extLst>
                </a:gridCol>
                <a:gridCol w="1277122">
                  <a:extLst>
                    <a:ext uri="{9D8B030D-6E8A-4147-A177-3AD203B41FA5}">
                      <a16:colId xmlns:a16="http://schemas.microsoft.com/office/drawing/2014/main" val="1034821718"/>
                    </a:ext>
                  </a:extLst>
                </a:gridCol>
              </a:tblGrid>
              <a:tr h="245285">
                <a:tc>
                  <a:txBody>
                    <a:bodyPr/>
                    <a:lstStyle/>
                    <a:p>
                      <a:pPr algn="l" rtl="0" fontAlgn="ctr"/>
                      <a:r>
                        <a:rPr lang="en-IN" sz="1400" b="1" i="0" u="none" strike="noStrike" dirty="0">
                          <a:solidFill>
                            <a:srgbClr val="FFFFFF"/>
                          </a:solidFill>
                          <a:effectLst/>
                          <a:latin typeface="Century Gothic" panose="020B0502020202020204" pitchFamily="34" charset="0"/>
                        </a:rPr>
                        <a:t>   Customer id</a:t>
                      </a:r>
                    </a:p>
                  </a:txBody>
                  <a:tcPr marL="6842"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tc>
                  <a:txBody>
                    <a:bodyPr/>
                    <a:lstStyle/>
                    <a:p>
                      <a:pPr algn="l" rtl="0" fontAlgn="ctr"/>
                      <a:r>
                        <a:rPr lang="en-IN" sz="1400" b="1" i="0" u="none" strike="noStrike" dirty="0">
                          <a:solidFill>
                            <a:srgbClr val="FFFFFF"/>
                          </a:solidFill>
                          <a:effectLst/>
                          <a:latin typeface="Century Gothic" panose="020B0502020202020204" pitchFamily="34" charset="0"/>
                        </a:rPr>
                        <a:t>Amount</a:t>
                      </a:r>
                    </a:p>
                  </a:txBody>
                  <a:tcPr marL="6842"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tc>
                  <a:txBody>
                    <a:bodyPr/>
                    <a:lstStyle/>
                    <a:p>
                      <a:pPr algn="l" rtl="0" fontAlgn="ctr"/>
                      <a:r>
                        <a:rPr lang="en-IN" sz="1400" b="1" i="0" u="none" strike="noStrike" dirty="0">
                          <a:solidFill>
                            <a:srgbClr val="FFFFFF"/>
                          </a:solidFill>
                          <a:effectLst/>
                          <a:latin typeface="Century Gothic" panose="020B0502020202020204" pitchFamily="34" charset="0"/>
                        </a:rPr>
                        <a:t>Segments</a:t>
                      </a:r>
                    </a:p>
                  </a:txBody>
                  <a:tcPr marL="6842"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extLst>
                  <a:ext uri="{0D108BD9-81ED-4DB2-BD59-A6C34878D82A}">
                    <a16:rowId xmlns:a16="http://schemas.microsoft.com/office/drawing/2014/main" val="2592707217"/>
                  </a:ext>
                </a:extLst>
              </a:tr>
              <a:tr h="287335">
                <a:tc>
                  <a:txBody>
                    <a:bodyPr/>
                    <a:lstStyle/>
                    <a:p>
                      <a:pPr algn="l" rtl="0" fontAlgn="ctr"/>
                      <a:r>
                        <a:rPr lang="en-IN" sz="1600" b="0" i="0" u="none" strike="noStrike" dirty="0">
                          <a:solidFill>
                            <a:srgbClr val="000000"/>
                          </a:solidFill>
                          <a:effectLst/>
                          <a:latin typeface="Century Gothic" panose="020B0502020202020204" pitchFamily="34" charset="0"/>
                        </a:rPr>
                        <a:t>1</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600" b="0" i="0" u="none" strike="noStrike">
                          <a:solidFill>
                            <a:srgbClr val="000000"/>
                          </a:solidFill>
                          <a:effectLst/>
                          <a:latin typeface="Century Gothic" panose="020B0502020202020204" pitchFamily="34" charset="0"/>
                        </a:rPr>
                        <a:t>22634.55</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600" b="0" i="0" u="none" strike="noStrike">
                          <a:solidFill>
                            <a:srgbClr val="000000"/>
                          </a:solidFill>
                          <a:effectLst/>
                          <a:latin typeface="Century Gothic" panose="020B0502020202020204" pitchFamily="34" charset="0"/>
                        </a:rPr>
                        <a:t>High</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3073515481"/>
                  </a:ext>
                </a:extLst>
              </a:tr>
              <a:tr h="280326">
                <a:tc>
                  <a:txBody>
                    <a:bodyPr/>
                    <a:lstStyle/>
                    <a:p>
                      <a:pPr algn="l" rtl="0" fontAlgn="ctr"/>
                      <a:r>
                        <a:rPr lang="en-IN" sz="1600" b="0" i="0" u="none" strike="noStrike">
                          <a:solidFill>
                            <a:srgbClr val="000000"/>
                          </a:solidFill>
                          <a:effectLst/>
                          <a:latin typeface="Century Gothic" panose="020B0502020202020204" pitchFamily="34" charset="0"/>
                        </a:rPr>
                        <a:t>2</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600" b="0" i="0" u="none" strike="noStrike" dirty="0">
                          <a:solidFill>
                            <a:srgbClr val="000000"/>
                          </a:solidFill>
                          <a:effectLst/>
                          <a:latin typeface="Century Gothic" panose="020B0502020202020204" pitchFamily="34" charset="0"/>
                        </a:rPr>
                        <a:t>23392.28</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600" b="0" i="0" u="none" strike="noStrike">
                          <a:solidFill>
                            <a:srgbClr val="000000"/>
                          </a:solidFill>
                          <a:effectLst/>
                          <a:latin typeface="Century Gothic" panose="020B0502020202020204" pitchFamily="34" charset="0"/>
                        </a:rPr>
                        <a:t>High</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325689561"/>
                  </a:ext>
                </a:extLst>
              </a:tr>
              <a:tr h="280326">
                <a:tc>
                  <a:txBody>
                    <a:bodyPr/>
                    <a:lstStyle/>
                    <a:p>
                      <a:pPr algn="l" rtl="0" fontAlgn="ctr"/>
                      <a:r>
                        <a:rPr lang="en-IN" sz="1600" b="0" i="0" u="none" strike="noStrike">
                          <a:solidFill>
                            <a:srgbClr val="000000"/>
                          </a:solidFill>
                          <a:effectLst/>
                          <a:latin typeface="Century Gothic" panose="020B0502020202020204" pitchFamily="34" charset="0"/>
                        </a:rPr>
                        <a:t>3</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600" b="0" i="0" u="none" strike="noStrike">
                          <a:solidFill>
                            <a:srgbClr val="000000"/>
                          </a:solidFill>
                          <a:effectLst/>
                          <a:latin typeface="Century Gothic" panose="020B0502020202020204" pitchFamily="34" charset="0"/>
                        </a:rPr>
                        <a:t>23402.26</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600" b="0" i="0" u="none" strike="noStrike">
                          <a:solidFill>
                            <a:srgbClr val="000000"/>
                          </a:solidFill>
                          <a:effectLst/>
                          <a:latin typeface="Century Gothic" panose="020B0502020202020204" pitchFamily="34" charset="0"/>
                        </a:rPr>
                        <a:t>High</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2893971408"/>
                  </a:ext>
                </a:extLst>
              </a:tr>
              <a:tr h="280326">
                <a:tc>
                  <a:txBody>
                    <a:bodyPr/>
                    <a:lstStyle/>
                    <a:p>
                      <a:pPr algn="l" rtl="0" fontAlgn="ctr"/>
                      <a:r>
                        <a:rPr lang="en-IN" sz="1600" b="0" i="0" u="none" strike="noStrike">
                          <a:solidFill>
                            <a:srgbClr val="000000"/>
                          </a:solidFill>
                          <a:effectLst/>
                          <a:latin typeface="Century Gothic" panose="020B0502020202020204" pitchFamily="34" charset="0"/>
                        </a:rPr>
                        <a:t>4</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600" b="0" i="0" u="none" strike="noStrike">
                          <a:solidFill>
                            <a:srgbClr val="000000"/>
                          </a:solidFill>
                          <a:effectLst/>
                          <a:latin typeface="Century Gothic" panose="020B0502020202020204" pitchFamily="34" charset="0"/>
                        </a:rPr>
                        <a:t>17656.72</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600" b="0" i="0" u="none" strike="noStrike">
                          <a:solidFill>
                            <a:srgbClr val="000000"/>
                          </a:solidFill>
                          <a:effectLst/>
                          <a:latin typeface="Century Gothic" panose="020B0502020202020204" pitchFamily="34" charset="0"/>
                        </a:rPr>
                        <a:t>low</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3828034309"/>
                  </a:ext>
                </a:extLst>
              </a:tr>
              <a:tr h="280326">
                <a:tc>
                  <a:txBody>
                    <a:bodyPr/>
                    <a:lstStyle/>
                    <a:p>
                      <a:pPr algn="l" rtl="0" fontAlgn="ctr"/>
                      <a:r>
                        <a:rPr lang="en-IN" sz="1600" b="0" i="0" u="none" strike="noStrike">
                          <a:solidFill>
                            <a:srgbClr val="000000"/>
                          </a:solidFill>
                          <a:effectLst/>
                          <a:latin typeface="Century Gothic" panose="020B0502020202020204" pitchFamily="34" charset="0"/>
                        </a:rPr>
                        <a:t>5</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600" b="0" i="0" u="none" strike="noStrike">
                          <a:solidFill>
                            <a:srgbClr val="000000"/>
                          </a:solidFill>
                          <a:effectLst/>
                          <a:latin typeface="Century Gothic" panose="020B0502020202020204" pitchFamily="34" charset="0"/>
                        </a:rPr>
                        <a:t>19632.04</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600" b="0" i="0" u="none" strike="noStrike">
                          <a:solidFill>
                            <a:srgbClr val="000000"/>
                          </a:solidFill>
                          <a:effectLst/>
                          <a:latin typeface="Century Gothic" panose="020B0502020202020204" pitchFamily="34" charset="0"/>
                        </a:rPr>
                        <a:t>low</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1658413789"/>
                  </a:ext>
                </a:extLst>
              </a:tr>
              <a:tr h="280326">
                <a:tc>
                  <a:txBody>
                    <a:bodyPr/>
                    <a:lstStyle/>
                    <a:p>
                      <a:pPr algn="l" rtl="0" fontAlgn="ctr"/>
                      <a:r>
                        <a:rPr lang="en-IN" sz="1600" b="0" i="0" u="none" strike="noStrike" dirty="0">
                          <a:solidFill>
                            <a:srgbClr val="000000"/>
                          </a:solidFill>
                          <a:effectLst/>
                          <a:latin typeface="Century Gothic" panose="020B0502020202020204" pitchFamily="34" charset="0"/>
                        </a:rPr>
                        <a:t>6</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600" b="0" i="0" u="none" strike="noStrike">
                          <a:solidFill>
                            <a:srgbClr val="000000"/>
                          </a:solidFill>
                          <a:effectLst/>
                          <a:latin typeface="Century Gothic" panose="020B0502020202020204" pitchFamily="34" charset="0"/>
                        </a:rPr>
                        <a:t>20693.96</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600" b="0" i="0" u="none" strike="noStrike">
                          <a:solidFill>
                            <a:srgbClr val="000000"/>
                          </a:solidFill>
                          <a:effectLst/>
                          <a:latin typeface="Century Gothic" panose="020B0502020202020204" pitchFamily="34" charset="0"/>
                        </a:rPr>
                        <a:t>Medium</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4029590510"/>
                  </a:ext>
                </a:extLst>
              </a:tr>
              <a:tr h="280326">
                <a:tc>
                  <a:txBody>
                    <a:bodyPr/>
                    <a:lstStyle/>
                    <a:p>
                      <a:pPr algn="l" rtl="0" fontAlgn="ctr"/>
                      <a:r>
                        <a:rPr lang="en-IN" sz="1600" b="0" i="0" u="none" strike="noStrike">
                          <a:solidFill>
                            <a:srgbClr val="000000"/>
                          </a:solidFill>
                          <a:effectLst/>
                          <a:latin typeface="Century Gothic" panose="020B0502020202020204" pitchFamily="34" charset="0"/>
                        </a:rPr>
                        <a:t>7</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600" b="0" i="0" u="none" strike="noStrike">
                          <a:solidFill>
                            <a:srgbClr val="000000"/>
                          </a:solidFill>
                          <a:effectLst/>
                          <a:latin typeface="Century Gothic" panose="020B0502020202020204" pitchFamily="34" charset="0"/>
                        </a:rPr>
                        <a:t>20628.09</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600" b="0" i="0" u="none" strike="noStrike">
                          <a:solidFill>
                            <a:srgbClr val="000000"/>
                          </a:solidFill>
                          <a:effectLst/>
                          <a:latin typeface="Century Gothic" panose="020B0502020202020204" pitchFamily="34" charset="0"/>
                        </a:rPr>
                        <a:t>Medium</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4014331518"/>
                  </a:ext>
                </a:extLst>
              </a:tr>
              <a:tr h="280326">
                <a:tc>
                  <a:txBody>
                    <a:bodyPr/>
                    <a:lstStyle/>
                    <a:p>
                      <a:pPr algn="l" rtl="0" fontAlgn="ctr"/>
                      <a:r>
                        <a:rPr lang="en-IN" sz="1600" b="0" i="0" u="none" strike="noStrike" dirty="0">
                          <a:solidFill>
                            <a:srgbClr val="000000"/>
                          </a:solidFill>
                          <a:effectLst/>
                          <a:latin typeface="Century Gothic" panose="020B0502020202020204" pitchFamily="34" charset="0"/>
                        </a:rPr>
                        <a:t>8</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600" b="0" i="0" u="none" strike="noStrike">
                          <a:solidFill>
                            <a:srgbClr val="000000"/>
                          </a:solidFill>
                          <a:effectLst/>
                          <a:latin typeface="Century Gothic" panose="020B0502020202020204" pitchFamily="34" charset="0"/>
                        </a:rPr>
                        <a:t>26634.34</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600" b="0" i="0" u="none" strike="noStrike">
                          <a:solidFill>
                            <a:srgbClr val="000000"/>
                          </a:solidFill>
                          <a:effectLst/>
                          <a:latin typeface="Century Gothic" panose="020B0502020202020204" pitchFamily="34" charset="0"/>
                        </a:rPr>
                        <a:t>High</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2208534957"/>
                  </a:ext>
                </a:extLst>
              </a:tr>
              <a:tr h="280326">
                <a:tc>
                  <a:txBody>
                    <a:bodyPr/>
                    <a:lstStyle/>
                    <a:p>
                      <a:pPr algn="l" rtl="0" fontAlgn="ctr"/>
                      <a:r>
                        <a:rPr lang="en-IN" sz="1600" b="0" i="0" u="none" strike="noStrike">
                          <a:solidFill>
                            <a:srgbClr val="000000"/>
                          </a:solidFill>
                          <a:effectLst/>
                          <a:latin typeface="Century Gothic" panose="020B0502020202020204" pitchFamily="34" charset="0"/>
                        </a:rPr>
                        <a:t>9</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600" b="0" i="0" u="none" strike="noStrike">
                          <a:solidFill>
                            <a:srgbClr val="000000"/>
                          </a:solidFill>
                          <a:effectLst/>
                          <a:latin typeface="Century Gothic" panose="020B0502020202020204" pitchFamily="34" charset="0"/>
                        </a:rPr>
                        <a:t>19661.6</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600" b="0" i="0" u="none" strike="noStrike">
                          <a:solidFill>
                            <a:srgbClr val="000000"/>
                          </a:solidFill>
                          <a:effectLst/>
                          <a:latin typeface="Century Gothic" panose="020B0502020202020204" pitchFamily="34" charset="0"/>
                        </a:rPr>
                        <a:t>low</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3707378817"/>
                  </a:ext>
                </a:extLst>
              </a:tr>
              <a:tr h="280326">
                <a:tc>
                  <a:txBody>
                    <a:bodyPr/>
                    <a:lstStyle/>
                    <a:p>
                      <a:pPr algn="l" rtl="0" fontAlgn="ctr"/>
                      <a:r>
                        <a:rPr lang="en-IN" sz="1600" b="0" i="0" u="none" strike="noStrike">
                          <a:solidFill>
                            <a:srgbClr val="000000"/>
                          </a:solidFill>
                          <a:effectLst/>
                          <a:latin typeface="Century Gothic" panose="020B0502020202020204" pitchFamily="34" charset="0"/>
                        </a:rPr>
                        <a:t>10</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600" b="0" i="0" u="none" strike="noStrike">
                          <a:solidFill>
                            <a:srgbClr val="000000"/>
                          </a:solidFill>
                          <a:effectLst/>
                          <a:latin typeface="Century Gothic" panose="020B0502020202020204" pitchFamily="34" charset="0"/>
                        </a:rPr>
                        <a:t>20723.93</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600" b="0" i="0" u="none" strike="noStrike">
                          <a:solidFill>
                            <a:srgbClr val="000000"/>
                          </a:solidFill>
                          <a:effectLst/>
                          <a:latin typeface="Century Gothic" panose="020B0502020202020204" pitchFamily="34" charset="0"/>
                        </a:rPr>
                        <a:t>Medium</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535357262"/>
                  </a:ext>
                </a:extLst>
              </a:tr>
              <a:tr h="280326">
                <a:tc>
                  <a:txBody>
                    <a:bodyPr/>
                    <a:lstStyle/>
                    <a:p>
                      <a:pPr algn="l" rtl="0" fontAlgn="ctr"/>
                      <a:r>
                        <a:rPr lang="en-IN" sz="1600" b="0" i="0" u="none" strike="noStrike">
                          <a:solidFill>
                            <a:srgbClr val="000000"/>
                          </a:solidFill>
                          <a:effectLst/>
                          <a:latin typeface="Century Gothic" panose="020B0502020202020204" pitchFamily="34" charset="0"/>
                        </a:rPr>
                        <a:t>11</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600" b="0" i="0" u="none" strike="noStrike">
                          <a:solidFill>
                            <a:srgbClr val="000000"/>
                          </a:solidFill>
                          <a:effectLst/>
                          <a:latin typeface="Century Gothic" panose="020B0502020202020204" pitchFamily="34" charset="0"/>
                        </a:rPr>
                        <a:t>21398.82</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600" b="0" i="0" u="none" strike="noStrike">
                          <a:solidFill>
                            <a:srgbClr val="000000"/>
                          </a:solidFill>
                          <a:effectLst/>
                          <a:latin typeface="Century Gothic" panose="020B0502020202020204" pitchFamily="34" charset="0"/>
                        </a:rPr>
                        <a:t>Medium</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122511516"/>
                  </a:ext>
                </a:extLst>
              </a:tr>
              <a:tr h="280326">
                <a:tc>
                  <a:txBody>
                    <a:bodyPr/>
                    <a:lstStyle/>
                    <a:p>
                      <a:pPr algn="l" rtl="0" fontAlgn="ctr"/>
                      <a:r>
                        <a:rPr lang="en-IN" sz="1600" b="0" i="0" u="none" strike="noStrike">
                          <a:solidFill>
                            <a:srgbClr val="000000"/>
                          </a:solidFill>
                          <a:effectLst/>
                          <a:latin typeface="Century Gothic" panose="020B0502020202020204" pitchFamily="34" charset="0"/>
                        </a:rPr>
                        <a:t>12</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600" b="0" i="0" u="none" strike="noStrike">
                          <a:solidFill>
                            <a:srgbClr val="000000"/>
                          </a:solidFill>
                          <a:effectLst/>
                          <a:latin typeface="Century Gothic" panose="020B0502020202020204" pitchFamily="34" charset="0"/>
                        </a:rPr>
                        <a:t>21720.65</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600" b="0" i="0" u="none" strike="noStrike">
                          <a:solidFill>
                            <a:srgbClr val="000000"/>
                          </a:solidFill>
                          <a:effectLst/>
                          <a:latin typeface="Century Gothic" panose="020B0502020202020204" pitchFamily="34" charset="0"/>
                        </a:rPr>
                        <a:t>Medium</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3567942809"/>
                  </a:ext>
                </a:extLst>
              </a:tr>
              <a:tr h="280326">
                <a:tc>
                  <a:txBody>
                    <a:bodyPr/>
                    <a:lstStyle/>
                    <a:p>
                      <a:pPr algn="l" rtl="0" fontAlgn="ctr"/>
                      <a:r>
                        <a:rPr lang="en-IN" sz="1600" b="0" i="0" u="none" strike="noStrike">
                          <a:solidFill>
                            <a:srgbClr val="000000"/>
                          </a:solidFill>
                          <a:effectLst/>
                          <a:latin typeface="Century Gothic" panose="020B0502020202020204" pitchFamily="34" charset="0"/>
                        </a:rPr>
                        <a:t>13</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600" b="0" i="0" u="none" strike="noStrike">
                          <a:solidFill>
                            <a:srgbClr val="000000"/>
                          </a:solidFill>
                          <a:effectLst/>
                          <a:latin typeface="Century Gothic" panose="020B0502020202020204" pitchFamily="34" charset="0"/>
                        </a:rPr>
                        <a:t>21063.66</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600" b="0" i="0" u="none" strike="noStrike">
                          <a:solidFill>
                            <a:srgbClr val="000000"/>
                          </a:solidFill>
                          <a:effectLst/>
                          <a:latin typeface="Century Gothic" panose="020B0502020202020204" pitchFamily="34" charset="0"/>
                        </a:rPr>
                        <a:t>Medium</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2261185200"/>
                  </a:ext>
                </a:extLst>
              </a:tr>
              <a:tr h="280326">
                <a:tc>
                  <a:txBody>
                    <a:bodyPr/>
                    <a:lstStyle/>
                    <a:p>
                      <a:pPr algn="l" rtl="0" fontAlgn="ctr"/>
                      <a:r>
                        <a:rPr lang="en-IN" sz="1600" b="0" i="0" u="none" strike="noStrike">
                          <a:solidFill>
                            <a:srgbClr val="000000"/>
                          </a:solidFill>
                          <a:effectLst/>
                          <a:latin typeface="Century Gothic" panose="020B0502020202020204" pitchFamily="34" charset="0"/>
                        </a:rPr>
                        <a:t>14</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600" b="0" i="0" u="none" strike="noStrike">
                          <a:solidFill>
                            <a:srgbClr val="000000"/>
                          </a:solidFill>
                          <a:effectLst/>
                          <a:latin typeface="Century Gothic" panose="020B0502020202020204" pitchFamily="34" charset="0"/>
                        </a:rPr>
                        <a:t>21049.4</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600" b="0" i="0" u="none" strike="noStrike">
                          <a:solidFill>
                            <a:srgbClr val="000000"/>
                          </a:solidFill>
                          <a:effectLst/>
                          <a:latin typeface="Century Gothic" panose="020B0502020202020204" pitchFamily="34" charset="0"/>
                        </a:rPr>
                        <a:t>Medium</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4073287081"/>
                  </a:ext>
                </a:extLst>
              </a:tr>
              <a:tr h="280326">
                <a:tc>
                  <a:txBody>
                    <a:bodyPr/>
                    <a:lstStyle/>
                    <a:p>
                      <a:pPr algn="l" rtl="0" fontAlgn="ctr"/>
                      <a:r>
                        <a:rPr lang="en-IN" sz="1600" b="0" i="0" u="none" strike="noStrike" dirty="0">
                          <a:solidFill>
                            <a:srgbClr val="000000"/>
                          </a:solidFill>
                          <a:effectLst/>
                          <a:latin typeface="Century Gothic" panose="020B0502020202020204" pitchFamily="34" charset="0"/>
                        </a:rPr>
                        <a:t>15</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600" b="0" i="0" u="none" strike="noStrike" dirty="0">
                          <a:solidFill>
                            <a:srgbClr val="000000"/>
                          </a:solidFill>
                          <a:effectLst/>
                          <a:latin typeface="Century Gothic" panose="020B0502020202020204" pitchFamily="34" charset="0"/>
                        </a:rPr>
                        <a:t>22674.46</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600" b="0" i="0" u="none" strike="noStrike" dirty="0">
                          <a:solidFill>
                            <a:srgbClr val="000000"/>
                          </a:solidFill>
                          <a:effectLst/>
                          <a:latin typeface="Century Gothic" panose="020B0502020202020204" pitchFamily="34" charset="0"/>
                        </a:rPr>
                        <a:t>High</a:t>
                      </a:r>
                    </a:p>
                  </a:txBody>
                  <a:tcPr marL="82101" marR="6842" marT="68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4188137919"/>
                  </a:ext>
                </a:extLst>
              </a:tr>
            </a:tbl>
          </a:graphicData>
        </a:graphic>
      </p:graphicFrame>
    </p:spTree>
    <p:extLst>
      <p:ext uri="{BB962C8B-B14F-4D97-AF65-F5344CB8AC3E}">
        <p14:creationId xmlns:p14="http://schemas.microsoft.com/office/powerpoint/2010/main" val="2063735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7B3AF-505F-5239-B9F8-8FAB55185687}"/>
              </a:ext>
            </a:extLst>
          </p:cNvPr>
          <p:cNvSpPr>
            <a:spLocks noGrp="1"/>
          </p:cNvSpPr>
          <p:nvPr>
            <p:ph type="title"/>
          </p:nvPr>
        </p:nvSpPr>
        <p:spPr>
          <a:xfrm>
            <a:off x="0" y="1"/>
            <a:ext cx="12192000" cy="491612"/>
          </a:xfrm>
        </p:spPr>
        <p:txBody>
          <a:bodyPr>
            <a:normAutofit/>
          </a:bodyPr>
          <a:lstStyle/>
          <a:p>
            <a:pPr algn="ctr"/>
            <a:r>
              <a:rPr lang="en-IN" sz="2000" dirty="0">
                <a:solidFill>
                  <a:srgbClr val="00B0F0"/>
                </a:solidFill>
              </a:rPr>
              <a:t>Anomalies in Sales Transactions</a:t>
            </a:r>
          </a:p>
        </p:txBody>
      </p:sp>
      <p:sp>
        <p:nvSpPr>
          <p:cNvPr id="3" name="Content Placeholder 2">
            <a:extLst>
              <a:ext uri="{FF2B5EF4-FFF2-40B4-BE49-F238E27FC236}">
                <a16:creationId xmlns:a16="http://schemas.microsoft.com/office/drawing/2014/main" id="{AD15353D-6F49-0D0B-A811-79288E86E913}"/>
              </a:ext>
            </a:extLst>
          </p:cNvPr>
          <p:cNvSpPr>
            <a:spLocks noGrp="1"/>
          </p:cNvSpPr>
          <p:nvPr>
            <p:ph sz="half" idx="1"/>
          </p:nvPr>
        </p:nvSpPr>
        <p:spPr>
          <a:xfrm>
            <a:off x="437744" y="491613"/>
            <a:ext cx="5569765" cy="6366386"/>
          </a:xfrm>
        </p:spPr>
        <p:txBody>
          <a:bodyPr/>
          <a:lstStyle/>
          <a:p>
            <a:pPr marL="0" indent="0">
              <a:buNone/>
            </a:pPr>
            <a:r>
              <a:rPr lang="en-US" sz="1600" b="1" dirty="0">
                <a:solidFill>
                  <a:srgbClr val="00B0F0"/>
                </a:solidFill>
              </a:rPr>
              <a:t>SQL QUERY :</a:t>
            </a:r>
          </a:p>
          <a:p>
            <a:pPr marL="0" indent="0">
              <a:lnSpc>
                <a:spcPts val="1425"/>
              </a:lnSpc>
              <a:buNone/>
            </a:pPr>
            <a:r>
              <a:rPr lang="en-US" sz="1400" b="0" dirty="0">
                <a:solidFill>
                  <a:schemeClr val="tx1"/>
                </a:solidFill>
                <a:effectLst/>
                <a:latin typeface="Consolas" panose="020B0609020204030204" pitchFamily="49" charset="0"/>
              </a:rPr>
              <a:t>WITH AVEAGE_SALES AS </a:t>
            </a:r>
          </a:p>
          <a:p>
            <a:pPr marL="0" indent="0">
              <a:lnSpc>
                <a:spcPts val="1425"/>
              </a:lnSpc>
              <a:buNone/>
            </a:pPr>
            <a:r>
              <a:rPr lang="en-US" sz="1400" b="0" dirty="0">
                <a:solidFill>
                  <a:schemeClr val="tx1"/>
                </a:solidFill>
                <a:effectLst/>
                <a:latin typeface="Consolas" panose="020B0609020204030204" pitchFamily="49" charset="0"/>
              </a:rPr>
              <a:t>(</a:t>
            </a:r>
          </a:p>
          <a:p>
            <a:pPr marL="0" indent="0">
              <a:lnSpc>
                <a:spcPts val="1425"/>
              </a:lnSpc>
              <a:buNone/>
            </a:pPr>
            <a:r>
              <a:rPr lang="en-US" sz="1400" b="0" dirty="0">
                <a:solidFill>
                  <a:schemeClr val="tx1"/>
                </a:solidFill>
                <a:effectLst/>
                <a:latin typeface="Consolas" panose="020B0609020204030204" pitchFamily="49" charset="0"/>
              </a:rPr>
              <a:t>SELECT PRODUCT_LINE, </a:t>
            </a:r>
          </a:p>
          <a:p>
            <a:pPr marL="0" indent="0">
              <a:lnSpc>
                <a:spcPts val="1425"/>
              </a:lnSpc>
              <a:buNone/>
            </a:pPr>
            <a:r>
              <a:rPr lang="en-US" sz="1400" dirty="0">
                <a:solidFill>
                  <a:schemeClr val="tx1"/>
                </a:solidFill>
                <a:latin typeface="Consolas" panose="020B0609020204030204" pitchFamily="49" charset="0"/>
              </a:rPr>
              <a:t>ROUND(</a:t>
            </a:r>
            <a:r>
              <a:rPr lang="en-US" sz="1400" b="0" dirty="0">
                <a:solidFill>
                  <a:schemeClr val="tx1"/>
                </a:solidFill>
                <a:effectLst/>
                <a:latin typeface="Consolas" panose="020B0609020204030204" pitchFamily="49" charset="0"/>
              </a:rPr>
              <a:t>AVG(TOTAL), 2) AS AVG_SALES</a:t>
            </a:r>
          </a:p>
          <a:p>
            <a:pPr marL="0" indent="0">
              <a:lnSpc>
                <a:spcPts val="1425"/>
              </a:lnSpc>
              <a:buNone/>
            </a:pPr>
            <a:r>
              <a:rPr lang="en-US" sz="1400" b="0" dirty="0">
                <a:solidFill>
                  <a:schemeClr val="tx1"/>
                </a:solidFill>
                <a:effectLst/>
                <a:latin typeface="Consolas" panose="020B0609020204030204" pitchFamily="49" charset="0"/>
              </a:rPr>
              <a:t>FROM WALMART_SALES</a:t>
            </a:r>
          </a:p>
          <a:p>
            <a:pPr marL="0" indent="0">
              <a:lnSpc>
                <a:spcPts val="1425"/>
              </a:lnSpc>
              <a:buNone/>
            </a:pPr>
            <a:r>
              <a:rPr lang="en-US" sz="1400" b="0" dirty="0">
                <a:solidFill>
                  <a:schemeClr val="tx1"/>
                </a:solidFill>
                <a:effectLst/>
                <a:latin typeface="Consolas" panose="020B0609020204030204" pitchFamily="49" charset="0"/>
              </a:rPr>
              <a:t>GROUP BY PRODUCT_LINE</a:t>
            </a:r>
          </a:p>
          <a:p>
            <a:pPr marL="0" indent="0">
              <a:lnSpc>
                <a:spcPts val="1425"/>
              </a:lnSpc>
              <a:buNone/>
            </a:pPr>
            <a:r>
              <a:rPr lang="en-US" sz="1400" b="0" dirty="0">
                <a:solidFill>
                  <a:schemeClr val="tx1"/>
                </a:solidFill>
                <a:effectLst/>
                <a:latin typeface="Consolas" panose="020B0609020204030204" pitchFamily="49" charset="0"/>
              </a:rPr>
              <a:t>)</a:t>
            </a:r>
          </a:p>
          <a:p>
            <a:pPr marL="0" indent="0">
              <a:lnSpc>
                <a:spcPts val="1425"/>
              </a:lnSpc>
              <a:buNone/>
            </a:pPr>
            <a:r>
              <a:rPr lang="en-US" sz="1400" b="0" dirty="0">
                <a:solidFill>
                  <a:schemeClr val="tx1"/>
                </a:solidFill>
                <a:effectLst/>
                <a:latin typeface="Consolas" panose="020B0609020204030204" pitchFamily="49" charset="0"/>
              </a:rPr>
              <a:t>SELECT W.INVOICE_ID, W.PRODUCT_LINE,</a:t>
            </a:r>
          </a:p>
          <a:p>
            <a:pPr marL="0" indent="0">
              <a:lnSpc>
                <a:spcPts val="1425"/>
              </a:lnSpc>
              <a:buNone/>
            </a:pPr>
            <a:r>
              <a:rPr lang="en-US" sz="1400" b="0" dirty="0">
                <a:solidFill>
                  <a:schemeClr val="tx1"/>
                </a:solidFill>
                <a:effectLst/>
                <a:latin typeface="Consolas" panose="020B0609020204030204" pitchFamily="49" charset="0"/>
              </a:rPr>
              <a:t>W.TOTAL AS SALES_AMOUNT, A.AVG_SALES,</a:t>
            </a:r>
          </a:p>
          <a:p>
            <a:pPr marL="0" indent="0">
              <a:lnSpc>
                <a:spcPts val="1425"/>
              </a:lnSpc>
              <a:buNone/>
            </a:pPr>
            <a:r>
              <a:rPr lang="en-US" sz="1400" b="0" dirty="0">
                <a:solidFill>
                  <a:schemeClr val="tx1"/>
                </a:solidFill>
                <a:effectLst/>
                <a:latin typeface="Consolas" panose="020B0609020204030204" pitchFamily="49" charset="0"/>
              </a:rPr>
              <a:t>CASE </a:t>
            </a:r>
          </a:p>
          <a:p>
            <a:pPr marL="0" indent="0">
              <a:lnSpc>
                <a:spcPts val="1425"/>
              </a:lnSpc>
              <a:buNone/>
            </a:pPr>
            <a:r>
              <a:rPr lang="en-US" sz="1400" b="0" dirty="0">
                <a:solidFill>
                  <a:schemeClr val="tx1"/>
                </a:solidFill>
                <a:effectLst/>
                <a:latin typeface="Consolas" panose="020B0609020204030204" pitchFamily="49" charset="0"/>
              </a:rPr>
              <a:t>WHEN (W.TOTAL - A.AVG_SALES) &gt; 2 * A.AVG_SALES </a:t>
            </a:r>
          </a:p>
          <a:p>
            <a:pPr marL="0" indent="0">
              <a:lnSpc>
                <a:spcPts val="1425"/>
              </a:lnSpc>
              <a:buNone/>
            </a:pPr>
            <a:r>
              <a:rPr lang="en-US" sz="1400" b="0" dirty="0">
                <a:solidFill>
                  <a:schemeClr val="tx1"/>
                </a:solidFill>
                <a:effectLst/>
                <a:latin typeface="Consolas" panose="020B0609020204030204" pitchFamily="49" charset="0"/>
              </a:rPr>
              <a:t>THEN 'ANOMALY' </a:t>
            </a:r>
          </a:p>
          <a:p>
            <a:pPr marL="0" indent="0">
              <a:lnSpc>
                <a:spcPts val="1425"/>
              </a:lnSpc>
              <a:buNone/>
            </a:pPr>
            <a:r>
              <a:rPr lang="en-US" sz="1400" b="0" dirty="0">
                <a:solidFill>
                  <a:schemeClr val="tx1"/>
                </a:solidFill>
                <a:effectLst/>
                <a:latin typeface="Consolas" panose="020B0609020204030204" pitchFamily="49" charset="0"/>
              </a:rPr>
              <a:t>ELSE 'NORMAL'</a:t>
            </a:r>
          </a:p>
          <a:p>
            <a:pPr marL="0" indent="0">
              <a:lnSpc>
                <a:spcPts val="1425"/>
              </a:lnSpc>
              <a:buNone/>
            </a:pPr>
            <a:r>
              <a:rPr lang="en-US" sz="1400" b="0" dirty="0">
                <a:solidFill>
                  <a:schemeClr val="tx1"/>
                </a:solidFill>
                <a:effectLst/>
                <a:latin typeface="Consolas" panose="020B0609020204030204" pitchFamily="49" charset="0"/>
              </a:rPr>
              <a:t>END AS STATUS</a:t>
            </a:r>
          </a:p>
          <a:p>
            <a:pPr marL="0" indent="0">
              <a:lnSpc>
                <a:spcPts val="1425"/>
              </a:lnSpc>
              <a:buNone/>
            </a:pPr>
            <a:r>
              <a:rPr lang="en-US" sz="1400" b="0" dirty="0">
                <a:solidFill>
                  <a:schemeClr val="tx1"/>
                </a:solidFill>
                <a:effectLst/>
                <a:latin typeface="Consolas" panose="020B0609020204030204" pitchFamily="49" charset="0"/>
              </a:rPr>
              <a:t>FROM WALMART_SALES W</a:t>
            </a:r>
          </a:p>
          <a:p>
            <a:pPr marL="0" indent="0">
              <a:lnSpc>
                <a:spcPts val="1425"/>
              </a:lnSpc>
              <a:buNone/>
            </a:pPr>
            <a:r>
              <a:rPr lang="en-US" sz="1400" b="0" dirty="0">
                <a:solidFill>
                  <a:schemeClr val="tx1"/>
                </a:solidFill>
                <a:effectLst/>
                <a:latin typeface="Consolas" panose="020B0609020204030204" pitchFamily="49" charset="0"/>
              </a:rPr>
              <a:t>JOIN AVEAGE_SALES AS A</a:t>
            </a:r>
          </a:p>
          <a:p>
            <a:pPr marL="0" indent="0">
              <a:lnSpc>
                <a:spcPts val="1425"/>
              </a:lnSpc>
              <a:buNone/>
            </a:pPr>
            <a:r>
              <a:rPr lang="en-US" sz="1400" b="0" dirty="0">
                <a:solidFill>
                  <a:schemeClr val="tx1"/>
                </a:solidFill>
                <a:effectLst/>
                <a:latin typeface="Consolas" panose="020B0609020204030204" pitchFamily="49" charset="0"/>
              </a:rPr>
              <a:t>ON W.PRODUCT_LINE = A.PRODUCT_LINE</a:t>
            </a:r>
          </a:p>
          <a:p>
            <a:pPr marL="0" indent="0">
              <a:lnSpc>
                <a:spcPts val="1425"/>
              </a:lnSpc>
              <a:buNone/>
            </a:pPr>
            <a:r>
              <a:rPr lang="en-US" sz="1400" b="0" dirty="0">
                <a:solidFill>
                  <a:schemeClr val="tx1"/>
                </a:solidFill>
                <a:effectLst/>
                <a:latin typeface="Consolas" panose="020B0609020204030204" pitchFamily="49" charset="0"/>
              </a:rPr>
              <a:t>WHERE (W.TOTAL - A.AVG_SALES) &gt; 2 * A.AVG_SALES ;</a:t>
            </a:r>
          </a:p>
          <a:p>
            <a:pPr marL="0" indent="0">
              <a:buNone/>
            </a:pPr>
            <a:endParaRPr lang="en-US" sz="1400" b="0" dirty="0">
              <a:solidFill>
                <a:schemeClr val="tx1"/>
              </a:solidFill>
              <a:effectLst/>
              <a:latin typeface="Consolas" panose="020B0609020204030204" pitchFamily="49" charset="0"/>
            </a:endParaRPr>
          </a:p>
          <a:p>
            <a:endParaRPr lang="en-IN" dirty="0"/>
          </a:p>
        </p:txBody>
      </p:sp>
      <p:sp>
        <p:nvSpPr>
          <p:cNvPr id="4" name="Content Placeholder 3">
            <a:extLst>
              <a:ext uri="{FF2B5EF4-FFF2-40B4-BE49-F238E27FC236}">
                <a16:creationId xmlns:a16="http://schemas.microsoft.com/office/drawing/2014/main" id="{E0993C38-EE79-C27A-9634-A809E9AF0E96}"/>
              </a:ext>
            </a:extLst>
          </p:cNvPr>
          <p:cNvSpPr>
            <a:spLocks noGrp="1"/>
          </p:cNvSpPr>
          <p:nvPr>
            <p:ph sz="half" idx="2"/>
          </p:nvPr>
        </p:nvSpPr>
        <p:spPr>
          <a:xfrm>
            <a:off x="6184489" y="491612"/>
            <a:ext cx="6007510" cy="6366387"/>
          </a:xfrm>
        </p:spPr>
        <p:txBody>
          <a:bodyPr>
            <a:normAutofit/>
          </a:bodyPr>
          <a:lstStyle/>
          <a:p>
            <a:pPr marL="0" indent="0">
              <a:buNone/>
            </a:pPr>
            <a:r>
              <a:rPr lang="en-IN" sz="1600" b="1" dirty="0">
                <a:solidFill>
                  <a:srgbClr val="00B0F0"/>
                </a:solidFill>
              </a:rPr>
              <a:t>OUTPUT :</a:t>
            </a:r>
          </a:p>
          <a:p>
            <a:pPr marL="0" indent="0">
              <a:buNone/>
            </a:pPr>
            <a:endParaRPr lang="en-IN" sz="1600" b="1" dirty="0"/>
          </a:p>
        </p:txBody>
      </p:sp>
      <p:graphicFrame>
        <p:nvGraphicFramePr>
          <p:cNvPr id="7" name="Table 6">
            <a:extLst>
              <a:ext uri="{FF2B5EF4-FFF2-40B4-BE49-F238E27FC236}">
                <a16:creationId xmlns:a16="http://schemas.microsoft.com/office/drawing/2014/main" id="{4BE59C9C-1465-C2F3-5067-0B98CFF539B3}"/>
              </a:ext>
            </a:extLst>
          </p:cNvPr>
          <p:cNvGraphicFramePr>
            <a:graphicFrameLocks noGrp="1"/>
          </p:cNvGraphicFramePr>
          <p:nvPr>
            <p:extLst>
              <p:ext uri="{D42A27DB-BD31-4B8C-83A1-F6EECF244321}">
                <p14:modId xmlns:p14="http://schemas.microsoft.com/office/powerpoint/2010/main" val="3554956589"/>
              </p:ext>
            </p:extLst>
          </p:nvPr>
        </p:nvGraphicFramePr>
        <p:xfrm>
          <a:off x="6312308" y="932403"/>
          <a:ext cx="5751871" cy="2909551"/>
        </p:xfrm>
        <a:graphic>
          <a:graphicData uri="http://schemas.openxmlformats.org/drawingml/2006/table">
            <a:tbl>
              <a:tblPr/>
              <a:tblGrid>
                <a:gridCol w="1150374">
                  <a:extLst>
                    <a:ext uri="{9D8B030D-6E8A-4147-A177-3AD203B41FA5}">
                      <a16:colId xmlns:a16="http://schemas.microsoft.com/office/drawing/2014/main" val="3195707157"/>
                    </a:ext>
                  </a:extLst>
                </a:gridCol>
                <a:gridCol w="1896894">
                  <a:extLst>
                    <a:ext uri="{9D8B030D-6E8A-4147-A177-3AD203B41FA5}">
                      <a16:colId xmlns:a16="http://schemas.microsoft.com/office/drawing/2014/main" val="2787536587"/>
                    </a:ext>
                  </a:extLst>
                </a:gridCol>
                <a:gridCol w="979042">
                  <a:extLst>
                    <a:ext uri="{9D8B030D-6E8A-4147-A177-3AD203B41FA5}">
                      <a16:colId xmlns:a16="http://schemas.microsoft.com/office/drawing/2014/main" val="919706406"/>
                    </a:ext>
                  </a:extLst>
                </a:gridCol>
                <a:gridCol w="758757">
                  <a:extLst>
                    <a:ext uri="{9D8B030D-6E8A-4147-A177-3AD203B41FA5}">
                      <a16:colId xmlns:a16="http://schemas.microsoft.com/office/drawing/2014/main" val="1615702140"/>
                    </a:ext>
                  </a:extLst>
                </a:gridCol>
                <a:gridCol w="966804">
                  <a:extLst>
                    <a:ext uri="{9D8B030D-6E8A-4147-A177-3AD203B41FA5}">
                      <a16:colId xmlns:a16="http://schemas.microsoft.com/office/drawing/2014/main" val="2091547119"/>
                    </a:ext>
                  </a:extLst>
                </a:gridCol>
              </a:tblGrid>
              <a:tr h="290955">
                <a:tc>
                  <a:txBody>
                    <a:bodyPr/>
                    <a:lstStyle/>
                    <a:p>
                      <a:pPr algn="l" rtl="0" fontAlgn="ctr"/>
                      <a:r>
                        <a:rPr lang="en-IN" sz="1000" b="1" i="0" u="none" strike="noStrike">
                          <a:solidFill>
                            <a:srgbClr val="FFFFFF"/>
                          </a:solidFill>
                          <a:effectLst/>
                          <a:latin typeface="Century Gothic" panose="020B0502020202020204" pitchFamily="34" charset="0"/>
                        </a:rPr>
                        <a:t>Invoice_ID</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tc>
                  <a:txBody>
                    <a:bodyPr/>
                    <a:lstStyle/>
                    <a:p>
                      <a:pPr algn="l" rtl="0" fontAlgn="ctr"/>
                      <a:r>
                        <a:rPr lang="en-IN" sz="1000" b="1" i="0" u="none" strike="noStrike">
                          <a:solidFill>
                            <a:srgbClr val="FFFFFF"/>
                          </a:solidFill>
                          <a:effectLst/>
                          <a:latin typeface="Century Gothic" panose="020B0502020202020204" pitchFamily="34" charset="0"/>
                        </a:rPr>
                        <a:t>Product_Line</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tc>
                  <a:txBody>
                    <a:bodyPr/>
                    <a:lstStyle/>
                    <a:p>
                      <a:pPr algn="l" rtl="0" fontAlgn="ctr"/>
                      <a:r>
                        <a:rPr lang="en-IN" sz="1000" b="1" i="0" u="none" strike="noStrike">
                          <a:solidFill>
                            <a:srgbClr val="FFFFFF"/>
                          </a:solidFill>
                          <a:effectLst/>
                          <a:latin typeface="Century Gothic" panose="020B0502020202020204" pitchFamily="34" charset="0"/>
                        </a:rPr>
                        <a:t>sales_amount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tc>
                  <a:txBody>
                    <a:bodyPr/>
                    <a:lstStyle/>
                    <a:p>
                      <a:pPr algn="l" rtl="0" fontAlgn="ctr"/>
                      <a:r>
                        <a:rPr lang="en-IN" sz="1000" b="1" i="0" u="none" strike="noStrike">
                          <a:solidFill>
                            <a:srgbClr val="FFFFFF"/>
                          </a:solidFill>
                          <a:effectLst/>
                          <a:latin typeface="Century Gothic" panose="020B0502020202020204" pitchFamily="34" charset="0"/>
                        </a:rPr>
                        <a:t>avg_sales</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tc>
                  <a:txBody>
                    <a:bodyPr/>
                    <a:lstStyle/>
                    <a:p>
                      <a:pPr algn="l" rtl="0" fontAlgn="ctr"/>
                      <a:r>
                        <a:rPr lang="en-IN" sz="1000" b="1" i="0" u="none" strike="noStrike">
                          <a:solidFill>
                            <a:srgbClr val="FFFFFF"/>
                          </a:solidFill>
                          <a:effectLst/>
                          <a:latin typeface="Century Gothic" panose="020B0502020202020204" pitchFamily="34" charset="0"/>
                        </a:rPr>
                        <a:t>status</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extLst>
                  <a:ext uri="{0D108BD9-81ED-4DB2-BD59-A6C34878D82A}">
                    <a16:rowId xmlns:a16="http://schemas.microsoft.com/office/drawing/2014/main" val="1444386648"/>
                  </a:ext>
                </a:extLst>
              </a:tr>
              <a:tr h="302594">
                <a:tc>
                  <a:txBody>
                    <a:bodyPr/>
                    <a:lstStyle/>
                    <a:p>
                      <a:pPr algn="l" rtl="0" fontAlgn="ctr"/>
                      <a:r>
                        <a:rPr lang="en-IN" sz="1000" b="0" i="0" u="none" strike="noStrike">
                          <a:solidFill>
                            <a:srgbClr val="000000"/>
                          </a:solidFill>
                          <a:effectLst/>
                          <a:latin typeface="Century Gothic" panose="020B0502020202020204" pitchFamily="34" charset="0"/>
                        </a:rPr>
                        <a:t>303-96-2227</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dirty="0">
                          <a:solidFill>
                            <a:srgbClr val="000000"/>
                          </a:solidFill>
                          <a:effectLst/>
                          <a:latin typeface="Century Gothic" panose="020B0502020202020204" pitchFamily="34" charset="0"/>
                        </a:rPr>
                        <a:t>Home and lifestyle</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a:solidFill>
                            <a:srgbClr val="000000"/>
                          </a:solidFill>
                          <a:effectLst/>
                          <a:latin typeface="Century Gothic" panose="020B0502020202020204" pitchFamily="34" charset="0"/>
                        </a:rPr>
                        <a:t>1022.49</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a:solidFill>
                            <a:srgbClr val="000000"/>
                          </a:solidFill>
                          <a:effectLst/>
                          <a:latin typeface="Century Gothic" panose="020B0502020202020204" pitchFamily="34" charset="0"/>
                        </a:rPr>
                        <a:t>336.64</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a:solidFill>
                            <a:srgbClr val="000000"/>
                          </a:solidFill>
                          <a:effectLst/>
                          <a:latin typeface="Century Gothic" panose="020B0502020202020204" pitchFamily="34" charset="0"/>
                        </a:rPr>
                        <a:t>Anomaly</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2407347244"/>
                  </a:ext>
                </a:extLst>
              </a:tr>
              <a:tr h="290955">
                <a:tc>
                  <a:txBody>
                    <a:bodyPr/>
                    <a:lstStyle/>
                    <a:p>
                      <a:pPr algn="l" rtl="0" fontAlgn="ctr"/>
                      <a:r>
                        <a:rPr lang="en-IN" sz="1000" b="0" i="0" u="none" strike="noStrike">
                          <a:solidFill>
                            <a:srgbClr val="000000"/>
                          </a:solidFill>
                          <a:effectLst/>
                          <a:latin typeface="Century Gothic" panose="020B0502020202020204" pitchFamily="34" charset="0"/>
                        </a:rPr>
                        <a:t>744-16-7898</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000" b="0" i="0" u="none" strike="noStrike" dirty="0">
                          <a:solidFill>
                            <a:srgbClr val="000000"/>
                          </a:solidFill>
                          <a:effectLst/>
                          <a:latin typeface="Century Gothic" panose="020B0502020202020204" pitchFamily="34" charset="0"/>
                        </a:rPr>
                        <a:t>Home and lifestyle</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000" b="0" i="0" u="none" strike="noStrike">
                          <a:solidFill>
                            <a:srgbClr val="000000"/>
                          </a:solidFill>
                          <a:effectLst/>
                          <a:latin typeface="Century Gothic" panose="020B0502020202020204" pitchFamily="34" charset="0"/>
                        </a:rPr>
                        <a:t>1022.385</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000" b="0" i="0" u="none" strike="noStrike">
                          <a:solidFill>
                            <a:srgbClr val="000000"/>
                          </a:solidFill>
                          <a:effectLst/>
                          <a:latin typeface="Century Gothic" panose="020B0502020202020204" pitchFamily="34" charset="0"/>
                        </a:rPr>
                        <a:t>336.64</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000" b="0" i="0" u="none" strike="noStrike">
                          <a:solidFill>
                            <a:srgbClr val="000000"/>
                          </a:solidFill>
                          <a:effectLst/>
                          <a:latin typeface="Century Gothic" panose="020B0502020202020204" pitchFamily="34" charset="0"/>
                        </a:rPr>
                        <a:t>Anomaly</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2127184103"/>
                  </a:ext>
                </a:extLst>
              </a:tr>
              <a:tr h="290955">
                <a:tc>
                  <a:txBody>
                    <a:bodyPr/>
                    <a:lstStyle/>
                    <a:p>
                      <a:pPr algn="l" rtl="0" fontAlgn="ctr"/>
                      <a:r>
                        <a:rPr lang="en-IN" sz="1000" b="0" i="0" u="none" strike="noStrike">
                          <a:solidFill>
                            <a:srgbClr val="000000"/>
                          </a:solidFill>
                          <a:effectLst/>
                          <a:latin typeface="Century Gothic" panose="020B0502020202020204" pitchFamily="34" charset="0"/>
                        </a:rPr>
                        <a:t>751-41-9720</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dirty="0">
                          <a:solidFill>
                            <a:srgbClr val="000000"/>
                          </a:solidFill>
                          <a:effectLst/>
                          <a:latin typeface="Century Gothic" panose="020B0502020202020204" pitchFamily="34" charset="0"/>
                        </a:rPr>
                        <a:t>Home and lifestyle</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a:solidFill>
                            <a:srgbClr val="000000"/>
                          </a:solidFill>
                          <a:effectLst/>
                          <a:latin typeface="Century Gothic" panose="020B0502020202020204" pitchFamily="34" charset="0"/>
                        </a:rPr>
                        <a:t>1023.75</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a:solidFill>
                            <a:srgbClr val="000000"/>
                          </a:solidFill>
                          <a:effectLst/>
                          <a:latin typeface="Century Gothic" panose="020B0502020202020204" pitchFamily="34" charset="0"/>
                        </a:rPr>
                        <a:t>336.64</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a:solidFill>
                            <a:srgbClr val="000000"/>
                          </a:solidFill>
                          <a:effectLst/>
                          <a:latin typeface="Century Gothic" panose="020B0502020202020204" pitchFamily="34" charset="0"/>
                        </a:rPr>
                        <a:t>Anomaly</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2057487110"/>
                  </a:ext>
                </a:extLst>
              </a:tr>
              <a:tr h="290955">
                <a:tc>
                  <a:txBody>
                    <a:bodyPr/>
                    <a:lstStyle/>
                    <a:p>
                      <a:pPr algn="l" rtl="0" fontAlgn="ctr"/>
                      <a:r>
                        <a:rPr lang="en-IN" sz="1000" b="0" i="0" u="none" strike="noStrike">
                          <a:solidFill>
                            <a:srgbClr val="000000"/>
                          </a:solidFill>
                          <a:effectLst/>
                          <a:latin typeface="Century Gothic" panose="020B0502020202020204" pitchFamily="34" charset="0"/>
                        </a:rPr>
                        <a:t>554-42-2417</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000" b="0" i="0" u="none" strike="noStrike">
                          <a:solidFill>
                            <a:srgbClr val="000000"/>
                          </a:solidFill>
                          <a:effectLst/>
                          <a:latin typeface="Century Gothic" panose="020B0502020202020204" pitchFamily="34" charset="0"/>
                        </a:rPr>
                        <a:t>Sports and travel</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000" b="0" i="0" u="none" strike="noStrike">
                          <a:solidFill>
                            <a:srgbClr val="000000"/>
                          </a:solidFill>
                          <a:effectLst/>
                          <a:latin typeface="Century Gothic" panose="020B0502020202020204" pitchFamily="34" charset="0"/>
                        </a:rPr>
                        <a:t>1002.12</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000" b="0" i="0" u="none" strike="noStrike">
                          <a:solidFill>
                            <a:srgbClr val="000000"/>
                          </a:solidFill>
                          <a:effectLst/>
                          <a:latin typeface="Century Gothic" panose="020B0502020202020204" pitchFamily="34" charset="0"/>
                        </a:rPr>
                        <a:t>332.07</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000" b="0" i="0" u="none" strike="noStrike">
                          <a:solidFill>
                            <a:srgbClr val="000000"/>
                          </a:solidFill>
                          <a:effectLst/>
                          <a:latin typeface="Century Gothic" panose="020B0502020202020204" pitchFamily="34" charset="0"/>
                        </a:rPr>
                        <a:t>Anomaly</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1655681816"/>
                  </a:ext>
                </a:extLst>
              </a:tr>
              <a:tr h="290955">
                <a:tc>
                  <a:txBody>
                    <a:bodyPr/>
                    <a:lstStyle/>
                    <a:p>
                      <a:pPr algn="l" rtl="0" fontAlgn="ctr"/>
                      <a:r>
                        <a:rPr lang="en-IN" sz="1000" b="0" i="0" u="none" strike="noStrike">
                          <a:solidFill>
                            <a:srgbClr val="000000"/>
                          </a:solidFill>
                          <a:effectLst/>
                          <a:latin typeface="Century Gothic" panose="020B0502020202020204" pitchFamily="34" charset="0"/>
                        </a:rPr>
                        <a:t>283-26-5248</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a:solidFill>
                            <a:srgbClr val="000000"/>
                          </a:solidFill>
                          <a:effectLst/>
                          <a:latin typeface="Century Gothic" panose="020B0502020202020204" pitchFamily="34" charset="0"/>
                        </a:rPr>
                        <a:t>Food and beverages</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a:solidFill>
                            <a:srgbClr val="000000"/>
                          </a:solidFill>
                          <a:effectLst/>
                          <a:latin typeface="Century Gothic" panose="020B0502020202020204" pitchFamily="34" charset="0"/>
                        </a:rPr>
                        <a:t>1034.46</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a:solidFill>
                            <a:srgbClr val="000000"/>
                          </a:solidFill>
                          <a:effectLst/>
                          <a:latin typeface="Century Gothic" panose="020B0502020202020204" pitchFamily="34" charset="0"/>
                        </a:rPr>
                        <a:t>322.67</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a:solidFill>
                            <a:srgbClr val="000000"/>
                          </a:solidFill>
                          <a:effectLst/>
                          <a:latin typeface="Century Gothic" panose="020B0502020202020204" pitchFamily="34" charset="0"/>
                        </a:rPr>
                        <a:t>Anomaly</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1380097748"/>
                  </a:ext>
                </a:extLst>
              </a:tr>
              <a:tr h="290955">
                <a:tc>
                  <a:txBody>
                    <a:bodyPr/>
                    <a:lstStyle/>
                    <a:p>
                      <a:pPr algn="l" rtl="0" fontAlgn="ctr"/>
                      <a:r>
                        <a:rPr lang="en-IN" sz="1000" b="0" i="0" u="none" strike="noStrike">
                          <a:solidFill>
                            <a:srgbClr val="000000"/>
                          </a:solidFill>
                          <a:effectLst/>
                          <a:latin typeface="Century Gothic" panose="020B0502020202020204" pitchFamily="34" charset="0"/>
                        </a:rPr>
                        <a:t>702-83-5291</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000" b="0" i="0" u="none" strike="noStrike">
                          <a:solidFill>
                            <a:srgbClr val="000000"/>
                          </a:solidFill>
                          <a:effectLst/>
                          <a:latin typeface="Century Gothic" panose="020B0502020202020204" pitchFamily="34" charset="0"/>
                        </a:rPr>
                        <a:t>Fashion accessories</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000" b="0" i="0" u="none" strike="noStrike">
                          <a:solidFill>
                            <a:srgbClr val="000000"/>
                          </a:solidFill>
                          <a:effectLst/>
                          <a:latin typeface="Century Gothic" panose="020B0502020202020204" pitchFamily="34" charset="0"/>
                        </a:rPr>
                        <a:t>943.299</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000" b="0" i="0" u="none" strike="noStrike">
                          <a:solidFill>
                            <a:srgbClr val="000000"/>
                          </a:solidFill>
                          <a:effectLst/>
                          <a:latin typeface="Century Gothic" panose="020B0502020202020204" pitchFamily="34" charset="0"/>
                        </a:rPr>
                        <a:t>305.09</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000" b="0" i="0" u="none" strike="noStrike">
                          <a:solidFill>
                            <a:srgbClr val="000000"/>
                          </a:solidFill>
                          <a:effectLst/>
                          <a:latin typeface="Century Gothic" panose="020B0502020202020204" pitchFamily="34" charset="0"/>
                        </a:rPr>
                        <a:t>Anomaly</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1599307053"/>
                  </a:ext>
                </a:extLst>
              </a:tr>
              <a:tr h="290955">
                <a:tc>
                  <a:txBody>
                    <a:bodyPr/>
                    <a:lstStyle/>
                    <a:p>
                      <a:pPr algn="l" rtl="0" fontAlgn="ctr"/>
                      <a:r>
                        <a:rPr lang="en-IN" sz="1000" b="0" i="0" u="none" strike="noStrike">
                          <a:solidFill>
                            <a:srgbClr val="000000"/>
                          </a:solidFill>
                          <a:effectLst/>
                          <a:latin typeface="Century Gothic" panose="020B0502020202020204" pitchFamily="34" charset="0"/>
                        </a:rPr>
                        <a:t>271-88-8734</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a:solidFill>
                            <a:srgbClr val="000000"/>
                          </a:solidFill>
                          <a:effectLst/>
                          <a:latin typeface="Century Gothic" panose="020B0502020202020204" pitchFamily="34" charset="0"/>
                        </a:rPr>
                        <a:t>Fashion accessories</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a:solidFill>
                            <a:srgbClr val="000000"/>
                          </a:solidFill>
                          <a:effectLst/>
                          <a:latin typeface="Century Gothic" panose="020B0502020202020204" pitchFamily="34" charset="0"/>
                        </a:rPr>
                        <a:t>1020.705</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a:solidFill>
                            <a:srgbClr val="000000"/>
                          </a:solidFill>
                          <a:effectLst/>
                          <a:latin typeface="Century Gothic" panose="020B0502020202020204" pitchFamily="34" charset="0"/>
                        </a:rPr>
                        <a:t>305.09</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a:solidFill>
                            <a:srgbClr val="000000"/>
                          </a:solidFill>
                          <a:effectLst/>
                          <a:latin typeface="Century Gothic" panose="020B0502020202020204" pitchFamily="34" charset="0"/>
                        </a:rPr>
                        <a:t>Anomaly</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2503078630"/>
                  </a:ext>
                </a:extLst>
              </a:tr>
              <a:tr h="290955">
                <a:tc>
                  <a:txBody>
                    <a:bodyPr/>
                    <a:lstStyle/>
                    <a:p>
                      <a:pPr algn="l" rtl="0" fontAlgn="ctr"/>
                      <a:r>
                        <a:rPr lang="en-IN" sz="1000" b="0" i="0" u="none" strike="noStrike">
                          <a:solidFill>
                            <a:srgbClr val="000000"/>
                          </a:solidFill>
                          <a:effectLst/>
                          <a:latin typeface="Century Gothic" panose="020B0502020202020204" pitchFamily="34" charset="0"/>
                        </a:rPr>
                        <a:t>860-79-0874</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000" b="0" i="0" u="none" strike="noStrike">
                          <a:solidFill>
                            <a:srgbClr val="000000"/>
                          </a:solidFill>
                          <a:effectLst/>
                          <a:latin typeface="Century Gothic" panose="020B0502020202020204" pitchFamily="34" charset="0"/>
                        </a:rPr>
                        <a:t>Fashion accessories</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000" b="0" i="0" u="none" strike="noStrike">
                          <a:solidFill>
                            <a:srgbClr val="000000"/>
                          </a:solidFill>
                          <a:effectLst/>
                          <a:latin typeface="Century Gothic" panose="020B0502020202020204" pitchFamily="34" charset="0"/>
                        </a:rPr>
                        <a:t>1042.65</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000" b="0" i="0" u="none" strike="noStrike">
                          <a:solidFill>
                            <a:srgbClr val="000000"/>
                          </a:solidFill>
                          <a:effectLst/>
                          <a:latin typeface="Century Gothic" panose="020B0502020202020204" pitchFamily="34" charset="0"/>
                        </a:rPr>
                        <a:t>305.09</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000" b="0" i="0" u="none" strike="noStrike">
                          <a:solidFill>
                            <a:srgbClr val="000000"/>
                          </a:solidFill>
                          <a:effectLst/>
                          <a:latin typeface="Century Gothic" panose="020B0502020202020204" pitchFamily="34" charset="0"/>
                        </a:rPr>
                        <a:t>Anomaly</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1917106779"/>
                  </a:ext>
                </a:extLst>
              </a:tr>
              <a:tr h="279317">
                <a:tc>
                  <a:txBody>
                    <a:bodyPr/>
                    <a:lstStyle/>
                    <a:p>
                      <a:pPr algn="l" rtl="0" fontAlgn="ctr"/>
                      <a:r>
                        <a:rPr lang="en-IN" sz="1000" b="0" i="0" u="none" strike="noStrike" dirty="0">
                          <a:solidFill>
                            <a:srgbClr val="000000"/>
                          </a:solidFill>
                          <a:effectLst/>
                          <a:latin typeface="Century Gothic" panose="020B0502020202020204" pitchFamily="34" charset="0"/>
                        </a:rPr>
                        <a:t>687-47-8271</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a:solidFill>
                            <a:srgbClr val="000000"/>
                          </a:solidFill>
                          <a:effectLst/>
                          <a:latin typeface="Century Gothic" panose="020B0502020202020204" pitchFamily="34" charset="0"/>
                        </a:rPr>
                        <a:t>Fashion accessories</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a:solidFill>
                            <a:srgbClr val="000000"/>
                          </a:solidFill>
                          <a:effectLst/>
                          <a:latin typeface="Century Gothic" panose="020B0502020202020204" pitchFamily="34" charset="0"/>
                        </a:rPr>
                        <a:t>1039.29</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a:solidFill>
                            <a:srgbClr val="000000"/>
                          </a:solidFill>
                          <a:effectLst/>
                          <a:latin typeface="Century Gothic" panose="020B0502020202020204" pitchFamily="34" charset="0"/>
                        </a:rPr>
                        <a:t>305.09</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000" b="0" i="0" u="none" strike="noStrike" dirty="0">
                          <a:solidFill>
                            <a:srgbClr val="000000"/>
                          </a:solidFill>
                          <a:effectLst/>
                          <a:latin typeface="Century Gothic" panose="020B0502020202020204" pitchFamily="34" charset="0"/>
                        </a:rPr>
                        <a:t>Anomaly</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3886756928"/>
                  </a:ext>
                </a:extLst>
              </a:tr>
            </a:tbl>
          </a:graphicData>
        </a:graphic>
      </p:graphicFrame>
    </p:spTree>
    <p:extLst>
      <p:ext uri="{BB962C8B-B14F-4D97-AF65-F5344CB8AC3E}">
        <p14:creationId xmlns:p14="http://schemas.microsoft.com/office/powerpoint/2010/main" val="1563220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B70E1-239D-B962-8A4D-35E75504F6B8}"/>
              </a:ext>
            </a:extLst>
          </p:cNvPr>
          <p:cNvSpPr>
            <a:spLocks noGrp="1"/>
          </p:cNvSpPr>
          <p:nvPr>
            <p:ph type="title"/>
          </p:nvPr>
        </p:nvSpPr>
        <p:spPr>
          <a:xfrm>
            <a:off x="0" y="1"/>
            <a:ext cx="12192000" cy="550605"/>
          </a:xfrm>
        </p:spPr>
        <p:txBody>
          <a:bodyPr>
            <a:normAutofit/>
          </a:bodyPr>
          <a:lstStyle/>
          <a:p>
            <a:pPr algn="ctr"/>
            <a:r>
              <a:rPr lang="en-US" sz="2000" dirty="0">
                <a:solidFill>
                  <a:srgbClr val="00B0F0"/>
                </a:solidFill>
              </a:rPr>
              <a:t>Most Popular Payment Method by City</a:t>
            </a:r>
            <a:endParaRPr lang="en-IN" sz="2000" dirty="0">
              <a:solidFill>
                <a:srgbClr val="00B0F0"/>
              </a:solidFill>
            </a:endParaRPr>
          </a:p>
        </p:txBody>
      </p:sp>
      <p:sp>
        <p:nvSpPr>
          <p:cNvPr id="3" name="Content Placeholder 2">
            <a:extLst>
              <a:ext uri="{FF2B5EF4-FFF2-40B4-BE49-F238E27FC236}">
                <a16:creationId xmlns:a16="http://schemas.microsoft.com/office/drawing/2014/main" id="{8AC9925B-C883-ECF6-D12E-67C4BA216FF1}"/>
              </a:ext>
            </a:extLst>
          </p:cNvPr>
          <p:cNvSpPr>
            <a:spLocks noGrp="1"/>
          </p:cNvSpPr>
          <p:nvPr>
            <p:ph sz="half" idx="1"/>
          </p:nvPr>
        </p:nvSpPr>
        <p:spPr>
          <a:xfrm>
            <a:off x="476654" y="550606"/>
            <a:ext cx="5668561" cy="6307393"/>
          </a:xfrm>
        </p:spPr>
        <p:txBody>
          <a:bodyPr>
            <a:normAutofit/>
          </a:bodyPr>
          <a:lstStyle/>
          <a:p>
            <a:pPr marL="0" indent="0">
              <a:buNone/>
            </a:pPr>
            <a:r>
              <a:rPr lang="en-IN" sz="1600" b="1" dirty="0">
                <a:solidFill>
                  <a:srgbClr val="00B0F0"/>
                </a:solidFill>
              </a:rPr>
              <a:t>SQL QUERY :</a:t>
            </a:r>
          </a:p>
          <a:p>
            <a:pPr marL="0" indent="0">
              <a:lnSpc>
                <a:spcPts val="1425"/>
              </a:lnSpc>
              <a:buNone/>
            </a:pPr>
            <a:r>
              <a:rPr lang="en-US" sz="1400" b="0" dirty="0">
                <a:solidFill>
                  <a:schemeClr val="tx1"/>
                </a:solidFill>
                <a:effectLst/>
                <a:latin typeface="Consolas" panose="020B0609020204030204" pitchFamily="49" charset="0"/>
              </a:rPr>
              <a:t>WITH TOTAL_PAYMENTS AS</a:t>
            </a:r>
          </a:p>
          <a:p>
            <a:pPr marL="0" indent="0">
              <a:lnSpc>
                <a:spcPts val="1425"/>
              </a:lnSpc>
              <a:buNone/>
            </a:pPr>
            <a:r>
              <a:rPr lang="en-US" sz="1400" b="0" dirty="0">
                <a:solidFill>
                  <a:schemeClr val="tx1"/>
                </a:solidFill>
                <a:effectLst/>
                <a:latin typeface="Consolas" panose="020B0609020204030204" pitchFamily="49" charset="0"/>
              </a:rPr>
              <a:t>(</a:t>
            </a:r>
          </a:p>
          <a:p>
            <a:pPr marL="0" indent="0">
              <a:lnSpc>
                <a:spcPts val="1425"/>
              </a:lnSpc>
              <a:buNone/>
            </a:pPr>
            <a:r>
              <a:rPr lang="en-US" sz="1400" b="0" dirty="0">
                <a:solidFill>
                  <a:schemeClr val="tx1"/>
                </a:solidFill>
                <a:effectLst/>
                <a:latin typeface="Consolas" panose="020B0609020204030204" pitchFamily="49" charset="0"/>
              </a:rPr>
              <a:t>SELECT CITY, PAYMENT, COUNT(PAYMENT) AS </a:t>
            </a:r>
            <a:r>
              <a:rPr lang="en-US" sz="1400" dirty="0">
                <a:solidFill>
                  <a:schemeClr val="tx1"/>
                </a:solidFill>
                <a:latin typeface="Consolas" panose="020B0609020204030204" pitchFamily="49" charset="0"/>
              </a:rPr>
              <a:t>NO_</a:t>
            </a:r>
            <a:r>
              <a:rPr lang="en-US" sz="1400" b="0" dirty="0">
                <a:solidFill>
                  <a:schemeClr val="tx1"/>
                </a:solidFill>
                <a:effectLst/>
                <a:latin typeface="Consolas" panose="020B0609020204030204" pitchFamily="49" charset="0"/>
              </a:rPr>
              <a:t>PAYMENTS FROM WALMART_SALES</a:t>
            </a:r>
          </a:p>
          <a:p>
            <a:pPr marL="0" indent="0">
              <a:lnSpc>
                <a:spcPts val="1425"/>
              </a:lnSpc>
              <a:buNone/>
            </a:pPr>
            <a:r>
              <a:rPr lang="en-US" sz="1400" b="0" dirty="0">
                <a:solidFill>
                  <a:schemeClr val="tx1"/>
                </a:solidFill>
                <a:effectLst/>
                <a:latin typeface="Consolas" panose="020B0609020204030204" pitchFamily="49" charset="0"/>
              </a:rPr>
              <a:t>GROUP BY CITY, PAYMENT</a:t>
            </a:r>
          </a:p>
          <a:p>
            <a:pPr marL="0" indent="0">
              <a:lnSpc>
                <a:spcPts val="1425"/>
              </a:lnSpc>
              <a:buNone/>
            </a:pPr>
            <a:r>
              <a:rPr lang="en-US" sz="1400" b="0" dirty="0">
                <a:solidFill>
                  <a:schemeClr val="tx1"/>
                </a:solidFill>
                <a:effectLst/>
                <a:latin typeface="Consolas" panose="020B0609020204030204" pitchFamily="49" charset="0"/>
              </a:rPr>
              <a:t>ORDER BY CITY</a:t>
            </a:r>
          </a:p>
          <a:p>
            <a:pPr marL="0" indent="0">
              <a:lnSpc>
                <a:spcPts val="1425"/>
              </a:lnSpc>
              <a:buNone/>
            </a:pPr>
            <a:r>
              <a:rPr lang="en-US" sz="1400" b="0" dirty="0">
                <a:solidFill>
                  <a:schemeClr val="tx1"/>
                </a:solidFill>
                <a:effectLst/>
                <a:latin typeface="Consolas" panose="020B0609020204030204" pitchFamily="49" charset="0"/>
              </a:rPr>
              <a:t>),</a:t>
            </a:r>
          </a:p>
          <a:p>
            <a:pPr marL="0" indent="0">
              <a:lnSpc>
                <a:spcPts val="1425"/>
              </a:lnSpc>
              <a:buNone/>
            </a:pPr>
            <a:r>
              <a:rPr lang="en-US" sz="1400" b="0" dirty="0">
                <a:solidFill>
                  <a:schemeClr val="tx1"/>
                </a:solidFill>
                <a:effectLst/>
                <a:latin typeface="Consolas" panose="020B0609020204030204" pitchFamily="49" charset="0"/>
              </a:rPr>
              <a:t>POPULAR_PAYMENTS AS</a:t>
            </a:r>
          </a:p>
          <a:p>
            <a:pPr marL="0" indent="0">
              <a:lnSpc>
                <a:spcPts val="1425"/>
              </a:lnSpc>
              <a:buNone/>
            </a:pPr>
            <a:r>
              <a:rPr lang="en-US" sz="1400" b="0" dirty="0">
                <a:solidFill>
                  <a:schemeClr val="tx1"/>
                </a:solidFill>
                <a:effectLst/>
                <a:latin typeface="Consolas" panose="020B0609020204030204" pitchFamily="49" charset="0"/>
              </a:rPr>
              <a:t>(</a:t>
            </a:r>
          </a:p>
          <a:p>
            <a:pPr marL="0" indent="0">
              <a:lnSpc>
                <a:spcPts val="1425"/>
              </a:lnSpc>
              <a:buNone/>
            </a:pPr>
            <a:r>
              <a:rPr lang="en-US" sz="1400" b="0" dirty="0">
                <a:solidFill>
                  <a:schemeClr val="tx1"/>
                </a:solidFill>
                <a:effectLst/>
                <a:latin typeface="Consolas" panose="020B0609020204030204" pitchFamily="49" charset="0"/>
              </a:rPr>
              <a:t>SELECT CITY, PAYMENT, NO_PAYMENTS,</a:t>
            </a:r>
          </a:p>
          <a:p>
            <a:pPr marL="0" indent="0">
              <a:lnSpc>
                <a:spcPts val="1425"/>
              </a:lnSpc>
              <a:buNone/>
            </a:pPr>
            <a:r>
              <a:rPr lang="en-US" sz="1400" b="0" dirty="0">
                <a:solidFill>
                  <a:schemeClr val="tx1"/>
                </a:solidFill>
                <a:effectLst/>
                <a:latin typeface="Consolas" panose="020B0609020204030204" pitchFamily="49" charset="0"/>
              </a:rPr>
              <a:t>RANK() OVER</a:t>
            </a:r>
          </a:p>
          <a:p>
            <a:pPr marL="0" indent="0">
              <a:lnSpc>
                <a:spcPts val="1425"/>
              </a:lnSpc>
              <a:buNone/>
            </a:pPr>
            <a:r>
              <a:rPr lang="en-US" sz="1400" b="0" dirty="0">
                <a:solidFill>
                  <a:schemeClr val="tx1"/>
                </a:solidFill>
                <a:effectLst/>
                <a:latin typeface="Consolas" panose="020B0609020204030204" pitchFamily="49" charset="0"/>
              </a:rPr>
              <a:t>(PARTITION BY CITY ORDER BY PAYMENT) AS RANKS </a:t>
            </a:r>
          </a:p>
          <a:p>
            <a:pPr marL="0" indent="0">
              <a:lnSpc>
                <a:spcPts val="1425"/>
              </a:lnSpc>
              <a:buNone/>
            </a:pPr>
            <a:r>
              <a:rPr lang="en-US" sz="1400" b="0" dirty="0">
                <a:solidFill>
                  <a:schemeClr val="tx1"/>
                </a:solidFill>
                <a:effectLst/>
                <a:latin typeface="Consolas" panose="020B0609020204030204" pitchFamily="49" charset="0"/>
              </a:rPr>
              <a:t>FROM TOTAL_PAYMENTS</a:t>
            </a:r>
          </a:p>
          <a:p>
            <a:pPr marL="0" indent="0">
              <a:lnSpc>
                <a:spcPts val="1425"/>
              </a:lnSpc>
              <a:buNone/>
            </a:pPr>
            <a:r>
              <a:rPr lang="en-US" sz="1400" b="0" dirty="0">
                <a:solidFill>
                  <a:schemeClr val="tx1"/>
                </a:solidFill>
                <a:effectLst/>
                <a:latin typeface="Consolas" panose="020B0609020204030204" pitchFamily="49" charset="0"/>
              </a:rPr>
              <a:t>)</a:t>
            </a:r>
          </a:p>
          <a:p>
            <a:pPr marL="0" indent="0">
              <a:lnSpc>
                <a:spcPts val="1425"/>
              </a:lnSpc>
              <a:buNone/>
            </a:pPr>
            <a:r>
              <a:rPr lang="en-US" sz="1400" b="0" dirty="0">
                <a:solidFill>
                  <a:schemeClr val="tx1"/>
                </a:solidFill>
                <a:effectLst/>
                <a:latin typeface="Consolas" panose="020B0609020204030204" pitchFamily="49" charset="0"/>
              </a:rPr>
              <a:t>SELECT CITY, PAYMENT, NO_PAYMENTS FROM POPULAR_PAYMENTS</a:t>
            </a:r>
          </a:p>
          <a:p>
            <a:pPr marL="0" indent="0">
              <a:lnSpc>
                <a:spcPts val="1425"/>
              </a:lnSpc>
              <a:buNone/>
            </a:pPr>
            <a:r>
              <a:rPr lang="en-US" sz="1400" b="0" dirty="0">
                <a:solidFill>
                  <a:schemeClr val="tx1"/>
                </a:solidFill>
                <a:effectLst/>
                <a:latin typeface="Consolas" panose="020B0609020204030204" pitchFamily="49" charset="0"/>
              </a:rPr>
              <a:t>WHERE RANKS = 1;</a:t>
            </a:r>
          </a:p>
        </p:txBody>
      </p:sp>
      <p:sp>
        <p:nvSpPr>
          <p:cNvPr id="4" name="Content Placeholder 3">
            <a:extLst>
              <a:ext uri="{FF2B5EF4-FFF2-40B4-BE49-F238E27FC236}">
                <a16:creationId xmlns:a16="http://schemas.microsoft.com/office/drawing/2014/main" id="{9F183915-CE19-640D-4BA0-F4E0EB768360}"/>
              </a:ext>
            </a:extLst>
          </p:cNvPr>
          <p:cNvSpPr>
            <a:spLocks noGrp="1"/>
          </p:cNvSpPr>
          <p:nvPr>
            <p:ph sz="half" idx="2"/>
          </p:nvPr>
        </p:nvSpPr>
        <p:spPr>
          <a:xfrm>
            <a:off x="6390968" y="550606"/>
            <a:ext cx="5801032" cy="6307393"/>
          </a:xfrm>
        </p:spPr>
        <p:txBody>
          <a:bodyPr>
            <a:normAutofit/>
          </a:bodyPr>
          <a:lstStyle/>
          <a:p>
            <a:pPr marL="0" indent="0">
              <a:buNone/>
            </a:pPr>
            <a:r>
              <a:rPr lang="en-IN" sz="1600" b="1" dirty="0">
                <a:solidFill>
                  <a:srgbClr val="00B0F0"/>
                </a:solidFill>
              </a:rPr>
              <a:t>OUTPUT :</a:t>
            </a:r>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r>
              <a:rPr lang="en-IN" sz="1600" b="1" dirty="0">
                <a:solidFill>
                  <a:srgbClr val="00B0F0"/>
                </a:solidFill>
              </a:rPr>
              <a:t>VISUAL :</a:t>
            </a:r>
          </a:p>
          <a:p>
            <a:pPr marL="0" indent="0">
              <a:buNone/>
            </a:pPr>
            <a:endParaRPr lang="en-IN" sz="1600" b="1" dirty="0"/>
          </a:p>
          <a:p>
            <a:pPr marL="0" indent="0">
              <a:buNone/>
            </a:pPr>
            <a:endParaRPr lang="en-IN" sz="1600" b="1" dirty="0"/>
          </a:p>
        </p:txBody>
      </p:sp>
      <p:graphicFrame>
        <p:nvGraphicFramePr>
          <p:cNvPr id="5" name="Table 4">
            <a:extLst>
              <a:ext uri="{FF2B5EF4-FFF2-40B4-BE49-F238E27FC236}">
                <a16:creationId xmlns:a16="http://schemas.microsoft.com/office/drawing/2014/main" id="{C2CC4B4A-B61F-BB30-0547-BFE564C709C3}"/>
              </a:ext>
            </a:extLst>
          </p:cNvPr>
          <p:cNvGraphicFramePr>
            <a:graphicFrameLocks noGrp="1"/>
          </p:cNvGraphicFramePr>
          <p:nvPr>
            <p:extLst>
              <p:ext uri="{D42A27DB-BD31-4B8C-83A1-F6EECF244321}">
                <p14:modId xmlns:p14="http://schemas.microsoft.com/office/powerpoint/2010/main" val="4168661697"/>
              </p:ext>
            </p:extLst>
          </p:nvPr>
        </p:nvGraphicFramePr>
        <p:xfrm>
          <a:off x="6733407" y="969640"/>
          <a:ext cx="4829329" cy="1468760"/>
        </p:xfrm>
        <a:graphic>
          <a:graphicData uri="http://schemas.openxmlformats.org/drawingml/2006/table">
            <a:tbl>
              <a:tblPr/>
              <a:tblGrid>
                <a:gridCol w="1751295">
                  <a:extLst>
                    <a:ext uri="{9D8B030D-6E8A-4147-A177-3AD203B41FA5}">
                      <a16:colId xmlns:a16="http://schemas.microsoft.com/office/drawing/2014/main" val="1280810456"/>
                    </a:ext>
                  </a:extLst>
                </a:gridCol>
                <a:gridCol w="1300204">
                  <a:extLst>
                    <a:ext uri="{9D8B030D-6E8A-4147-A177-3AD203B41FA5}">
                      <a16:colId xmlns:a16="http://schemas.microsoft.com/office/drawing/2014/main" val="4131466893"/>
                    </a:ext>
                  </a:extLst>
                </a:gridCol>
                <a:gridCol w="1777830">
                  <a:extLst>
                    <a:ext uri="{9D8B030D-6E8A-4147-A177-3AD203B41FA5}">
                      <a16:colId xmlns:a16="http://schemas.microsoft.com/office/drawing/2014/main" val="2163486325"/>
                    </a:ext>
                  </a:extLst>
                </a:gridCol>
              </a:tblGrid>
              <a:tr h="514694">
                <a:tc>
                  <a:txBody>
                    <a:bodyPr/>
                    <a:lstStyle/>
                    <a:p>
                      <a:pPr algn="l" rtl="0" fontAlgn="ctr"/>
                      <a:r>
                        <a:rPr lang="en-IN" sz="1400" b="1" i="0" u="none" strike="noStrike" dirty="0">
                          <a:solidFill>
                            <a:srgbClr val="FFFFFF"/>
                          </a:solidFill>
                          <a:effectLst/>
                          <a:latin typeface="Century Gothic" panose="020B0502020202020204" pitchFamily="34" charset="0"/>
                        </a:rPr>
                        <a:t>City</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tc>
                  <a:txBody>
                    <a:bodyPr/>
                    <a:lstStyle/>
                    <a:p>
                      <a:pPr algn="l" rtl="0" fontAlgn="ctr"/>
                      <a:r>
                        <a:rPr lang="en-IN" sz="1400" b="1" i="0" u="none" strike="noStrike" dirty="0">
                          <a:solidFill>
                            <a:srgbClr val="FFFFFF"/>
                          </a:solidFill>
                          <a:effectLst/>
                          <a:latin typeface="Century Gothic" panose="020B0502020202020204" pitchFamily="34" charset="0"/>
                        </a:rPr>
                        <a:t>Payment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tc>
                  <a:txBody>
                    <a:bodyPr/>
                    <a:lstStyle/>
                    <a:p>
                      <a:pPr algn="l" rtl="0" fontAlgn="ctr"/>
                      <a:r>
                        <a:rPr lang="en-IN" sz="1400" b="1" i="0" u="none" strike="noStrike" dirty="0">
                          <a:solidFill>
                            <a:srgbClr val="FFFFFF"/>
                          </a:solidFill>
                          <a:effectLst/>
                          <a:latin typeface="Century Gothic" panose="020B0502020202020204" pitchFamily="34" charset="0"/>
                        </a:rPr>
                        <a:t>No Payments</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extLst>
                  <a:ext uri="{0D108BD9-81ED-4DB2-BD59-A6C34878D82A}">
                    <a16:rowId xmlns:a16="http://schemas.microsoft.com/office/drawing/2014/main" val="1966457779"/>
                  </a:ext>
                </a:extLst>
              </a:tr>
              <a:tr h="326390">
                <a:tc>
                  <a:txBody>
                    <a:bodyPr/>
                    <a:lstStyle/>
                    <a:p>
                      <a:pPr algn="l" rtl="0" fontAlgn="ctr"/>
                      <a:r>
                        <a:rPr lang="en-IN" sz="1400" b="0" i="0" u="none" strike="noStrike" dirty="0">
                          <a:solidFill>
                            <a:srgbClr val="000000"/>
                          </a:solidFill>
                          <a:effectLst/>
                          <a:latin typeface="Century Gothic" panose="020B0502020202020204" pitchFamily="34" charset="0"/>
                        </a:rPr>
                        <a:t>Mandalay</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a:solidFill>
                            <a:srgbClr val="000000"/>
                          </a:solidFill>
                          <a:effectLst/>
                          <a:latin typeface="Century Gothic" panose="020B0502020202020204" pitchFamily="34" charset="0"/>
                        </a:rPr>
                        <a:t>Cash</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dirty="0">
                          <a:solidFill>
                            <a:srgbClr val="000000"/>
                          </a:solidFill>
                          <a:effectLst/>
                          <a:latin typeface="Century Gothic" panose="020B0502020202020204" pitchFamily="34" charset="0"/>
                        </a:rPr>
                        <a:t>110</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1546073904"/>
                  </a:ext>
                </a:extLst>
              </a:tr>
              <a:tr h="313838">
                <a:tc>
                  <a:txBody>
                    <a:bodyPr/>
                    <a:lstStyle/>
                    <a:p>
                      <a:pPr algn="l" rtl="0" fontAlgn="ctr"/>
                      <a:r>
                        <a:rPr lang="en-IN" sz="1400" b="0" i="0" u="none" strike="noStrike" dirty="0">
                          <a:solidFill>
                            <a:srgbClr val="000000"/>
                          </a:solidFill>
                          <a:effectLst/>
                          <a:latin typeface="Century Gothic" panose="020B0502020202020204" pitchFamily="34" charset="0"/>
                        </a:rPr>
                        <a:t>Naypyitaw</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400" b="0" i="0" u="none" strike="noStrike" dirty="0">
                          <a:solidFill>
                            <a:srgbClr val="000000"/>
                          </a:solidFill>
                          <a:effectLst/>
                          <a:latin typeface="Century Gothic" panose="020B0502020202020204" pitchFamily="34" charset="0"/>
                        </a:rPr>
                        <a:t>Cash</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400" b="0" i="0" u="none" strike="noStrike" dirty="0">
                          <a:solidFill>
                            <a:srgbClr val="000000"/>
                          </a:solidFill>
                          <a:effectLst/>
                          <a:latin typeface="Century Gothic" panose="020B0502020202020204" pitchFamily="34" charset="0"/>
                        </a:rPr>
                        <a:t>124</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4124815486"/>
                  </a:ext>
                </a:extLst>
              </a:tr>
              <a:tr h="313838">
                <a:tc>
                  <a:txBody>
                    <a:bodyPr/>
                    <a:lstStyle/>
                    <a:p>
                      <a:pPr algn="l" rtl="0" fontAlgn="ctr"/>
                      <a:r>
                        <a:rPr lang="en-IN" sz="1400" b="0" i="0" u="none" strike="noStrike">
                          <a:solidFill>
                            <a:srgbClr val="000000"/>
                          </a:solidFill>
                          <a:effectLst/>
                          <a:latin typeface="Century Gothic" panose="020B0502020202020204" pitchFamily="34" charset="0"/>
                        </a:rPr>
                        <a:t>Yangon</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a:solidFill>
                            <a:srgbClr val="000000"/>
                          </a:solidFill>
                          <a:effectLst/>
                          <a:latin typeface="Century Gothic" panose="020B0502020202020204" pitchFamily="34" charset="0"/>
                        </a:rPr>
                        <a:t>Cash</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dirty="0">
                          <a:solidFill>
                            <a:srgbClr val="000000"/>
                          </a:solidFill>
                          <a:effectLst/>
                          <a:latin typeface="Century Gothic" panose="020B0502020202020204" pitchFamily="34" charset="0"/>
                        </a:rPr>
                        <a:t>110</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524673009"/>
                  </a:ext>
                </a:extLst>
              </a:tr>
            </a:tbl>
          </a:graphicData>
        </a:graphic>
      </p:graphicFrame>
      <p:graphicFrame>
        <p:nvGraphicFramePr>
          <p:cNvPr id="8" name="Chart 7">
            <a:extLst>
              <a:ext uri="{FF2B5EF4-FFF2-40B4-BE49-F238E27FC236}">
                <a16:creationId xmlns:a16="http://schemas.microsoft.com/office/drawing/2014/main" id="{5C60862D-B237-5B3E-7ACD-E1E0C512D620}"/>
              </a:ext>
            </a:extLst>
          </p:cNvPr>
          <p:cNvGraphicFramePr>
            <a:graphicFrameLocks/>
          </p:cNvGraphicFramePr>
          <p:nvPr>
            <p:extLst>
              <p:ext uri="{D42A27DB-BD31-4B8C-83A1-F6EECF244321}">
                <p14:modId xmlns:p14="http://schemas.microsoft.com/office/powerpoint/2010/main" val="1105717811"/>
              </p:ext>
            </p:extLst>
          </p:nvPr>
        </p:nvGraphicFramePr>
        <p:xfrm>
          <a:off x="6733407" y="3564194"/>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29231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560B0-AF5F-00CB-F507-242BE19008B3}"/>
              </a:ext>
            </a:extLst>
          </p:cNvPr>
          <p:cNvSpPr>
            <a:spLocks noGrp="1"/>
          </p:cNvSpPr>
          <p:nvPr>
            <p:ph type="title"/>
          </p:nvPr>
        </p:nvSpPr>
        <p:spPr>
          <a:xfrm>
            <a:off x="0" y="1"/>
            <a:ext cx="12192000" cy="462115"/>
          </a:xfrm>
        </p:spPr>
        <p:txBody>
          <a:bodyPr>
            <a:normAutofit/>
          </a:bodyPr>
          <a:lstStyle/>
          <a:p>
            <a:pPr algn="ctr"/>
            <a:r>
              <a:rPr lang="en-US" sz="2000" dirty="0">
                <a:solidFill>
                  <a:srgbClr val="00B0F0"/>
                </a:solidFill>
              </a:rPr>
              <a:t>Monthly Sales Distribution by Gender</a:t>
            </a:r>
            <a:endParaRPr lang="en-IN" sz="2000" dirty="0">
              <a:solidFill>
                <a:srgbClr val="00B0F0"/>
              </a:solidFill>
            </a:endParaRPr>
          </a:p>
        </p:txBody>
      </p:sp>
      <p:sp>
        <p:nvSpPr>
          <p:cNvPr id="3" name="Content Placeholder 2">
            <a:extLst>
              <a:ext uri="{FF2B5EF4-FFF2-40B4-BE49-F238E27FC236}">
                <a16:creationId xmlns:a16="http://schemas.microsoft.com/office/drawing/2014/main" id="{9D5984ED-3B7F-5F16-9042-4DB3EACFD093}"/>
              </a:ext>
            </a:extLst>
          </p:cNvPr>
          <p:cNvSpPr>
            <a:spLocks noGrp="1"/>
          </p:cNvSpPr>
          <p:nvPr>
            <p:ph sz="half" idx="1"/>
          </p:nvPr>
        </p:nvSpPr>
        <p:spPr>
          <a:xfrm>
            <a:off x="515566" y="462116"/>
            <a:ext cx="5580434" cy="6395883"/>
          </a:xfrm>
        </p:spPr>
        <p:txBody>
          <a:bodyPr>
            <a:normAutofit/>
          </a:bodyPr>
          <a:lstStyle/>
          <a:p>
            <a:pPr marL="0" indent="0">
              <a:buNone/>
            </a:pPr>
            <a:r>
              <a:rPr lang="en-IN" sz="1600" b="1" dirty="0">
                <a:solidFill>
                  <a:srgbClr val="00B0F0"/>
                </a:solidFill>
              </a:rPr>
              <a:t>SQL QUERY :</a:t>
            </a:r>
          </a:p>
          <a:p>
            <a:pPr marL="0" indent="0">
              <a:lnSpc>
                <a:spcPts val="1425"/>
              </a:lnSpc>
              <a:buNone/>
            </a:pPr>
            <a:r>
              <a:rPr lang="en-US" sz="1400" b="0" dirty="0">
                <a:solidFill>
                  <a:schemeClr val="tx1"/>
                </a:solidFill>
                <a:effectLst/>
                <a:latin typeface="Consolas" panose="020B0609020204030204" pitchFamily="49" charset="0"/>
              </a:rPr>
              <a:t>SELECT GENDER, </a:t>
            </a:r>
          </a:p>
          <a:p>
            <a:pPr marL="0" indent="0">
              <a:lnSpc>
                <a:spcPts val="1425"/>
              </a:lnSpc>
              <a:buNone/>
            </a:pPr>
            <a:r>
              <a:rPr lang="en-US" sz="1400" b="0" dirty="0">
                <a:solidFill>
                  <a:schemeClr val="tx1"/>
                </a:solidFill>
                <a:effectLst/>
                <a:latin typeface="Consolas" panose="020B0609020204030204" pitchFamily="49" charset="0"/>
              </a:rPr>
              <a:t>MONTH(DATE) AS MONTHS, </a:t>
            </a:r>
          </a:p>
          <a:p>
            <a:pPr marL="0" indent="0">
              <a:lnSpc>
                <a:spcPts val="1425"/>
              </a:lnSpc>
              <a:buNone/>
            </a:pPr>
            <a:r>
              <a:rPr lang="en-US" sz="1400" b="0" dirty="0">
                <a:solidFill>
                  <a:schemeClr val="tx1"/>
                </a:solidFill>
                <a:effectLst/>
                <a:latin typeface="Consolas" panose="020B0609020204030204" pitchFamily="49" charset="0"/>
              </a:rPr>
              <a:t>ROUND(SUM(TOTAL), 2) AS SALES </a:t>
            </a:r>
          </a:p>
          <a:p>
            <a:pPr marL="0" indent="0">
              <a:lnSpc>
                <a:spcPts val="1425"/>
              </a:lnSpc>
              <a:buNone/>
            </a:pPr>
            <a:r>
              <a:rPr lang="en-US" sz="1400" b="0" dirty="0">
                <a:solidFill>
                  <a:schemeClr val="tx1"/>
                </a:solidFill>
                <a:effectLst/>
                <a:latin typeface="Consolas" panose="020B0609020204030204" pitchFamily="49" charset="0"/>
              </a:rPr>
              <a:t>FROM WALMART_SALES</a:t>
            </a:r>
          </a:p>
          <a:p>
            <a:pPr marL="0" indent="0">
              <a:lnSpc>
                <a:spcPts val="1425"/>
              </a:lnSpc>
              <a:buNone/>
            </a:pPr>
            <a:r>
              <a:rPr lang="en-US" sz="1400" b="0" dirty="0">
                <a:solidFill>
                  <a:schemeClr val="tx1"/>
                </a:solidFill>
                <a:effectLst/>
                <a:latin typeface="Consolas" panose="020B0609020204030204" pitchFamily="49" charset="0"/>
              </a:rPr>
              <a:t>GROUP BY GENDER, MONTHS</a:t>
            </a:r>
          </a:p>
          <a:p>
            <a:pPr marL="0" indent="0">
              <a:lnSpc>
                <a:spcPts val="1425"/>
              </a:lnSpc>
              <a:buNone/>
            </a:pPr>
            <a:r>
              <a:rPr lang="en-US" sz="1400" b="0" dirty="0">
                <a:solidFill>
                  <a:schemeClr val="tx1"/>
                </a:solidFill>
                <a:effectLst/>
                <a:latin typeface="Consolas" panose="020B0609020204030204" pitchFamily="49" charset="0"/>
              </a:rPr>
              <a:t>ORDER BY GENDER;</a:t>
            </a:r>
          </a:p>
          <a:p>
            <a:endParaRPr lang="en-IN" sz="1600" b="1" dirty="0"/>
          </a:p>
        </p:txBody>
      </p:sp>
      <p:sp>
        <p:nvSpPr>
          <p:cNvPr id="4" name="Content Placeholder 3">
            <a:extLst>
              <a:ext uri="{FF2B5EF4-FFF2-40B4-BE49-F238E27FC236}">
                <a16:creationId xmlns:a16="http://schemas.microsoft.com/office/drawing/2014/main" id="{634D5A4F-FDD8-5F2B-D18A-109A7B6B12D3}"/>
              </a:ext>
            </a:extLst>
          </p:cNvPr>
          <p:cNvSpPr>
            <a:spLocks noGrp="1"/>
          </p:cNvSpPr>
          <p:nvPr>
            <p:ph sz="half" idx="2"/>
          </p:nvPr>
        </p:nvSpPr>
        <p:spPr>
          <a:xfrm>
            <a:off x="6312310" y="462116"/>
            <a:ext cx="5879689" cy="6395883"/>
          </a:xfrm>
        </p:spPr>
        <p:txBody>
          <a:bodyPr>
            <a:normAutofit/>
          </a:bodyPr>
          <a:lstStyle/>
          <a:p>
            <a:pPr marL="0" indent="0">
              <a:buNone/>
            </a:pPr>
            <a:r>
              <a:rPr lang="en-IN" sz="1600" b="1" dirty="0">
                <a:solidFill>
                  <a:srgbClr val="00B0F0"/>
                </a:solidFill>
              </a:rPr>
              <a:t>OUTPUT :</a:t>
            </a:r>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r>
              <a:rPr lang="en-IN" sz="1600" b="1" dirty="0">
                <a:solidFill>
                  <a:srgbClr val="00B0F0"/>
                </a:solidFill>
              </a:rPr>
              <a:t>VISUAL :</a:t>
            </a:r>
          </a:p>
          <a:p>
            <a:pPr marL="0" indent="0">
              <a:buNone/>
            </a:pPr>
            <a:endParaRPr lang="en-IN" sz="1600" b="1" dirty="0"/>
          </a:p>
          <a:p>
            <a:pPr marL="0" indent="0">
              <a:buNone/>
            </a:pPr>
            <a:endParaRPr lang="en-IN" sz="1600" b="1" dirty="0"/>
          </a:p>
          <a:p>
            <a:pPr marL="0" indent="0">
              <a:buNone/>
            </a:pPr>
            <a:endParaRPr lang="en-IN" sz="1600" b="1" dirty="0"/>
          </a:p>
        </p:txBody>
      </p:sp>
      <p:graphicFrame>
        <p:nvGraphicFramePr>
          <p:cNvPr id="5" name="Table 4">
            <a:extLst>
              <a:ext uri="{FF2B5EF4-FFF2-40B4-BE49-F238E27FC236}">
                <a16:creationId xmlns:a16="http://schemas.microsoft.com/office/drawing/2014/main" id="{27B90CFE-03EB-AA6A-2A1E-1863396B7B8F}"/>
              </a:ext>
            </a:extLst>
          </p:cNvPr>
          <p:cNvGraphicFramePr>
            <a:graphicFrameLocks noGrp="1"/>
          </p:cNvGraphicFramePr>
          <p:nvPr>
            <p:extLst>
              <p:ext uri="{D42A27DB-BD31-4B8C-83A1-F6EECF244321}">
                <p14:modId xmlns:p14="http://schemas.microsoft.com/office/powerpoint/2010/main" val="289102402"/>
              </p:ext>
            </p:extLst>
          </p:nvPr>
        </p:nvGraphicFramePr>
        <p:xfrm>
          <a:off x="6425944" y="816077"/>
          <a:ext cx="4242056" cy="1700983"/>
        </p:xfrm>
        <a:graphic>
          <a:graphicData uri="http://schemas.openxmlformats.org/drawingml/2006/table">
            <a:tbl>
              <a:tblPr/>
              <a:tblGrid>
                <a:gridCol w="1414019">
                  <a:extLst>
                    <a:ext uri="{9D8B030D-6E8A-4147-A177-3AD203B41FA5}">
                      <a16:colId xmlns:a16="http://schemas.microsoft.com/office/drawing/2014/main" val="2849657515"/>
                    </a:ext>
                  </a:extLst>
                </a:gridCol>
                <a:gridCol w="1275389">
                  <a:extLst>
                    <a:ext uri="{9D8B030D-6E8A-4147-A177-3AD203B41FA5}">
                      <a16:colId xmlns:a16="http://schemas.microsoft.com/office/drawing/2014/main" val="1771176707"/>
                    </a:ext>
                  </a:extLst>
                </a:gridCol>
                <a:gridCol w="1552648">
                  <a:extLst>
                    <a:ext uri="{9D8B030D-6E8A-4147-A177-3AD203B41FA5}">
                      <a16:colId xmlns:a16="http://schemas.microsoft.com/office/drawing/2014/main" val="2866536799"/>
                    </a:ext>
                  </a:extLst>
                </a:gridCol>
              </a:tblGrid>
              <a:tr h="241617">
                <a:tc>
                  <a:txBody>
                    <a:bodyPr/>
                    <a:lstStyle/>
                    <a:p>
                      <a:pPr algn="l" rtl="0" fontAlgn="ctr"/>
                      <a:r>
                        <a:rPr lang="en-IN" sz="1400" b="1" i="0" u="none" strike="noStrike" dirty="0">
                          <a:solidFill>
                            <a:srgbClr val="FFFFFF"/>
                          </a:solidFill>
                          <a:effectLst/>
                          <a:latin typeface="Century Gothic" panose="020B0502020202020204" pitchFamily="34" charset="0"/>
                        </a:rPr>
                        <a:t>Gender</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tc>
                  <a:txBody>
                    <a:bodyPr/>
                    <a:lstStyle/>
                    <a:p>
                      <a:pPr algn="l" rtl="0" fontAlgn="ctr"/>
                      <a:r>
                        <a:rPr lang="en-IN" sz="1400" b="1" i="0" u="none" strike="noStrike">
                          <a:solidFill>
                            <a:srgbClr val="FFFFFF"/>
                          </a:solidFill>
                          <a:effectLst/>
                          <a:latin typeface="Century Gothic" panose="020B0502020202020204" pitchFamily="34" charset="0"/>
                        </a:rPr>
                        <a:t>Month</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tc>
                  <a:txBody>
                    <a:bodyPr/>
                    <a:lstStyle/>
                    <a:p>
                      <a:pPr algn="l" rtl="0" fontAlgn="ctr"/>
                      <a:r>
                        <a:rPr lang="en-IN" sz="1400" b="1" i="0" u="none" strike="noStrike">
                          <a:solidFill>
                            <a:srgbClr val="FFFFFF"/>
                          </a:solidFill>
                          <a:effectLst/>
                          <a:latin typeface="Century Gothic" panose="020B0502020202020204" pitchFamily="34" charset="0"/>
                        </a:rPr>
                        <a:t>Sales</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extLst>
                  <a:ext uri="{0D108BD9-81ED-4DB2-BD59-A6C34878D82A}">
                    <a16:rowId xmlns:a16="http://schemas.microsoft.com/office/drawing/2014/main" val="261762496"/>
                  </a:ext>
                </a:extLst>
              </a:tr>
              <a:tr h="251281">
                <a:tc>
                  <a:txBody>
                    <a:bodyPr/>
                    <a:lstStyle/>
                    <a:p>
                      <a:pPr algn="l" rtl="0" fontAlgn="ctr"/>
                      <a:r>
                        <a:rPr lang="en-IN" sz="1400" b="0" i="0" u="none" strike="noStrike" dirty="0">
                          <a:solidFill>
                            <a:srgbClr val="000000"/>
                          </a:solidFill>
                          <a:effectLst/>
                          <a:latin typeface="Century Gothic" panose="020B0502020202020204" pitchFamily="34" charset="0"/>
                        </a:rPr>
                        <a:t>Female</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a:solidFill>
                            <a:srgbClr val="000000"/>
                          </a:solidFill>
                          <a:effectLst/>
                          <a:latin typeface="Century Gothic" panose="020B0502020202020204" pitchFamily="34" charset="0"/>
                        </a:rPr>
                        <a:t>1</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a:solidFill>
                            <a:srgbClr val="000000"/>
                          </a:solidFill>
                          <a:effectLst/>
                          <a:latin typeface="Century Gothic" panose="020B0502020202020204" pitchFamily="34" charset="0"/>
                        </a:rPr>
                        <a:t>59138.98</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2510965628"/>
                  </a:ext>
                </a:extLst>
              </a:tr>
              <a:tr h="241617">
                <a:tc>
                  <a:txBody>
                    <a:bodyPr/>
                    <a:lstStyle/>
                    <a:p>
                      <a:pPr algn="l" rtl="0" fontAlgn="ctr"/>
                      <a:r>
                        <a:rPr lang="en-IN" sz="1400" b="0" i="0" u="none" strike="noStrike" dirty="0">
                          <a:solidFill>
                            <a:srgbClr val="000000"/>
                          </a:solidFill>
                          <a:effectLst/>
                          <a:latin typeface="Century Gothic" panose="020B0502020202020204" pitchFamily="34" charset="0"/>
                        </a:rPr>
                        <a:t>Female</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400" b="0" i="0" u="none" strike="noStrike">
                          <a:solidFill>
                            <a:srgbClr val="000000"/>
                          </a:solidFill>
                          <a:effectLst/>
                          <a:latin typeface="Century Gothic" panose="020B0502020202020204" pitchFamily="34" charset="0"/>
                        </a:rPr>
                        <a:t>2</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400" b="0" i="0" u="none" strike="noStrike">
                          <a:solidFill>
                            <a:srgbClr val="000000"/>
                          </a:solidFill>
                          <a:effectLst/>
                          <a:latin typeface="Century Gothic" panose="020B0502020202020204" pitchFamily="34" charset="0"/>
                        </a:rPr>
                        <a:t>56335.56</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3759155569"/>
                  </a:ext>
                </a:extLst>
              </a:tr>
              <a:tr h="241617">
                <a:tc>
                  <a:txBody>
                    <a:bodyPr/>
                    <a:lstStyle/>
                    <a:p>
                      <a:pPr algn="l" rtl="0" fontAlgn="ctr"/>
                      <a:r>
                        <a:rPr lang="en-IN" sz="1400" b="0" i="0" u="none" strike="noStrike" dirty="0">
                          <a:solidFill>
                            <a:srgbClr val="000000"/>
                          </a:solidFill>
                          <a:effectLst/>
                          <a:latin typeface="Century Gothic" panose="020B0502020202020204" pitchFamily="34" charset="0"/>
                        </a:rPr>
                        <a:t>Female</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dirty="0">
                          <a:solidFill>
                            <a:srgbClr val="000000"/>
                          </a:solidFill>
                          <a:effectLst/>
                          <a:latin typeface="Century Gothic" panose="020B0502020202020204" pitchFamily="34" charset="0"/>
                        </a:rPr>
                        <a:t>3</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a:solidFill>
                            <a:srgbClr val="000000"/>
                          </a:solidFill>
                          <a:effectLst/>
                          <a:latin typeface="Century Gothic" panose="020B0502020202020204" pitchFamily="34" charset="0"/>
                        </a:rPr>
                        <a:t>52408.39</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789160005"/>
                  </a:ext>
                </a:extLst>
              </a:tr>
              <a:tr h="241617">
                <a:tc>
                  <a:txBody>
                    <a:bodyPr/>
                    <a:lstStyle/>
                    <a:p>
                      <a:pPr algn="l" rtl="0" fontAlgn="ctr"/>
                      <a:r>
                        <a:rPr lang="en-IN" sz="1400" b="0" i="0" u="none" strike="noStrike">
                          <a:solidFill>
                            <a:srgbClr val="000000"/>
                          </a:solidFill>
                          <a:effectLst/>
                          <a:latin typeface="Century Gothic" panose="020B0502020202020204" pitchFamily="34" charset="0"/>
                        </a:rPr>
                        <a:t>Male</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400" b="0" i="0" u="none" strike="noStrike" dirty="0">
                          <a:solidFill>
                            <a:srgbClr val="000000"/>
                          </a:solidFill>
                          <a:effectLst/>
                          <a:latin typeface="Century Gothic" panose="020B0502020202020204" pitchFamily="34" charset="0"/>
                        </a:rPr>
                        <a:t>1</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400" b="0" i="0" u="none" strike="noStrike" dirty="0">
                          <a:solidFill>
                            <a:srgbClr val="000000"/>
                          </a:solidFill>
                          <a:effectLst/>
                          <a:latin typeface="Century Gothic" panose="020B0502020202020204" pitchFamily="34" charset="0"/>
                        </a:rPr>
                        <a:t>57152.89</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1374494106"/>
                  </a:ext>
                </a:extLst>
              </a:tr>
              <a:tr h="241617">
                <a:tc>
                  <a:txBody>
                    <a:bodyPr/>
                    <a:lstStyle/>
                    <a:p>
                      <a:pPr algn="l" rtl="0" fontAlgn="ctr"/>
                      <a:r>
                        <a:rPr lang="en-IN" sz="1400" b="0" i="0" u="none" strike="noStrike">
                          <a:solidFill>
                            <a:srgbClr val="000000"/>
                          </a:solidFill>
                          <a:effectLst/>
                          <a:latin typeface="Century Gothic" panose="020B0502020202020204" pitchFamily="34" charset="0"/>
                        </a:rPr>
                        <a:t>Male</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a:solidFill>
                            <a:srgbClr val="000000"/>
                          </a:solidFill>
                          <a:effectLst/>
                          <a:latin typeface="Century Gothic" panose="020B0502020202020204" pitchFamily="34" charset="0"/>
                        </a:rPr>
                        <a:t>2</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dirty="0">
                          <a:solidFill>
                            <a:srgbClr val="000000"/>
                          </a:solidFill>
                          <a:effectLst/>
                          <a:latin typeface="Century Gothic" panose="020B0502020202020204" pitchFamily="34" charset="0"/>
                        </a:rPr>
                        <a:t>40883.82</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2941844800"/>
                  </a:ext>
                </a:extLst>
              </a:tr>
              <a:tr h="241617">
                <a:tc>
                  <a:txBody>
                    <a:bodyPr/>
                    <a:lstStyle/>
                    <a:p>
                      <a:pPr algn="l" rtl="0" fontAlgn="ctr"/>
                      <a:r>
                        <a:rPr lang="en-IN" sz="1400" b="0" i="0" u="none" strike="noStrike" dirty="0">
                          <a:solidFill>
                            <a:srgbClr val="000000"/>
                          </a:solidFill>
                          <a:effectLst/>
                          <a:latin typeface="Century Gothic" panose="020B0502020202020204" pitchFamily="34" charset="0"/>
                        </a:rPr>
                        <a:t>Male</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400" b="0" i="0" u="none" strike="noStrike">
                          <a:solidFill>
                            <a:srgbClr val="000000"/>
                          </a:solidFill>
                          <a:effectLst/>
                          <a:latin typeface="Century Gothic" panose="020B0502020202020204" pitchFamily="34" charset="0"/>
                        </a:rPr>
                        <a:t>3</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400" b="0" i="0" u="none" strike="noStrike" dirty="0">
                          <a:solidFill>
                            <a:srgbClr val="000000"/>
                          </a:solidFill>
                          <a:effectLst/>
                          <a:latin typeface="Century Gothic" panose="020B0502020202020204" pitchFamily="34" charset="0"/>
                        </a:rPr>
                        <a:t>57047.12</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4112385567"/>
                  </a:ext>
                </a:extLst>
              </a:tr>
            </a:tbl>
          </a:graphicData>
        </a:graphic>
      </p:graphicFrame>
      <p:graphicFrame>
        <p:nvGraphicFramePr>
          <p:cNvPr id="6" name="Chart 5">
            <a:extLst>
              <a:ext uri="{FF2B5EF4-FFF2-40B4-BE49-F238E27FC236}">
                <a16:creationId xmlns:a16="http://schemas.microsoft.com/office/drawing/2014/main" id="{734BFBED-938A-1C4B-3ED7-49B28CC21D18}"/>
              </a:ext>
            </a:extLst>
          </p:cNvPr>
          <p:cNvGraphicFramePr>
            <a:graphicFrameLocks/>
          </p:cNvGraphicFramePr>
          <p:nvPr>
            <p:extLst>
              <p:ext uri="{D42A27DB-BD31-4B8C-83A1-F6EECF244321}">
                <p14:modId xmlns:p14="http://schemas.microsoft.com/office/powerpoint/2010/main" val="2552933098"/>
              </p:ext>
            </p:extLst>
          </p:nvPr>
        </p:nvGraphicFramePr>
        <p:xfrm>
          <a:off x="6534098" y="3610897"/>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55088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536FA-2A34-10CF-5359-F86582A8F0A1}"/>
              </a:ext>
            </a:extLst>
          </p:cNvPr>
          <p:cNvSpPr>
            <a:spLocks noGrp="1"/>
          </p:cNvSpPr>
          <p:nvPr>
            <p:ph type="title"/>
          </p:nvPr>
        </p:nvSpPr>
        <p:spPr>
          <a:xfrm>
            <a:off x="0" y="1"/>
            <a:ext cx="12192000" cy="521109"/>
          </a:xfrm>
        </p:spPr>
        <p:txBody>
          <a:bodyPr>
            <a:normAutofit/>
          </a:bodyPr>
          <a:lstStyle/>
          <a:p>
            <a:pPr algn="ctr"/>
            <a:r>
              <a:rPr lang="en-US" sz="2000" dirty="0">
                <a:solidFill>
                  <a:srgbClr val="00B0F0"/>
                </a:solidFill>
              </a:rPr>
              <a:t>Best Product Line by Customer Type</a:t>
            </a:r>
            <a:endParaRPr lang="en-IN" sz="2000" dirty="0">
              <a:solidFill>
                <a:srgbClr val="00B0F0"/>
              </a:solidFill>
            </a:endParaRPr>
          </a:p>
        </p:txBody>
      </p:sp>
      <p:sp>
        <p:nvSpPr>
          <p:cNvPr id="3" name="Content Placeholder 2">
            <a:extLst>
              <a:ext uri="{FF2B5EF4-FFF2-40B4-BE49-F238E27FC236}">
                <a16:creationId xmlns:a16="http://schemas.microsoft.com/office/drawing/2014/main" id="{75B0EA8F-3E43-72AE-C171-45BCC195468B}"/>
              </a:ext>
            </a:extLst>
          </p:cNvPr>
          <p:cNvSpPr>
            <a:spLocks noGrp="1"/>
          </p:cNvSpPr>
          <p:nvPr>
            <p:ph sz="half" idx="1"/>
          </p:nvPr>
        </p:nvSpPr>
        <p:spPr>
          <a:xfrm>
            <a:off x="486382" y="521110"/>
            <a:ext cx="5833457" cy="6336890"/>
          </a:xfrm>
        </p:spPr>
        <p:txBody>
          <a:bodyPr>
            <a:normAutofit/>
          </a:bodyPr>
          <a:lstStyle/>
          <a:p>
            <a:pPr marL="0" indent="0">
              <a:buNone/>
            </a:pPr>
            <a:r>
              <a:rPr lang="en-IN" sz="1600" b="1" dirty="0">
                <a:solidFill>
                  <a:srgbClr val="00B0F0"/>
                </a:solidFill>
              </a:rPr>
              <a:t>SQL QUERY </a:t>
            </a:r>
            <a:r>
              <a:rPr lang="en-IN" sz="1600" dirty="0">
                <a:solidFill>
                  <a:srgbClr val="00B0F0"/>
                </a:solidFill>
              </a:rPr>
              <a:t>:</a:t>
            </a:r>
          </a:p>
          <a:p>
            <a:pPr marL="0" indent="0">
              <a:lnSpc>
                <a:spcPts val="1425"/>
              </a:lnSpc>
              <a:buNone/>
            </a:pPr>
            <a:r>
              <a:rPr lang="en-US" sz="1400" b="0" dirty="0">
                <a:solidFill>
                  <a:schemeClr val="tx1"/>
                </a:solidFill>
                <a:effectLst/>
                <a:latin typeface="Consolas" panose="020B0609020204030204" pitchFamily="49" charset="0"/>
              </a:rPr>
              <a:t>WITH TOTAL_SALES AS</a:t>
            </a:r>
          </a:p>
          <a:p>
            <a:pPr marL="0" indent="0">
              <a:lnSpc>
                <a:spcPts val="1425"/>
              </a:lnSpc>
              <a:buNone/>
            </a:pPr>
            <a:r>
              <a:rPr lang="en-US" sz="1400" b="0" dirty="0">
                <a:solidFill>
                  <a:schemeClr val="tx1"/>
                </a:solidFill>
                <a:effectLst/>
                <a:latin typeface="Consolas" panose="020B0609020204030204" pitchFamily="49" charset="0"/>
              </a:rPr>
              <a:t>(</a:t>
            </a:r>
          </a:p>
          <a:p>
            <a:pPr marL="0" indent="0">
              <a:lnSpc>
                <a:spcPts val="1425"/>
              </a:lnSpc>
              <a:buNone/>
            </a:pPr>
            <a:r>
              <a:rPr lang="en-US" sz="1400" b="0" dirty="0">
                <a:solidFill>
                  <a:schemeClr val="tx1"/>
                </a:solidFill>
                <a:effectLst/>
                <a:latin typeface="Consolas" panose="020B0609020204030204" pitchFamily="49" charset="0"/>
              </a:rPr>
              <a:t>SELECT CUSTOMER_TYPE, PRODUCT_LINE, SUM(TOTAL) AS SALES </a:t>
            </a:r>
          </a:p>
          <a:p>
            <a:pPr marL="0" indent="0">
              <a:lnSpc>
                <a:spcPts val="1425"/>
              </a:lnSpc>
              <a:buNone/>
            </a:pPr>
            <a:r>
              <a:rPr lang="en-US" sz="1400" b="0" dirty="0">
                <a:solidFill>
                  <a:schemeClr val="tx1"/>
                </a:solidFill>
                <a:effectLst/>
                <a:latin typeface="Consolas" panose="020B0609020204030204" pitchFamily="49" charset="0"/>
              </a:rPr>
              <a:t>FROM WALMART_SALES</a:t>
            </a:r>
          </a:p>
          <a:p>
            <a:pPr marL="0" indent="0">
              <a:lnSpc>
                <a:spcPts val="1425"/>
              </a:lnSpc>
              <a:buNone/>
            </a:pPr>
            <a:r>
              <a:rPr lang="en-US" sz="1400" b="0" dirty="0">
                <a:solidFill>
                  <a:schemeClr val="tx1"/>
                </a:solidFill>
                <a:effectLst/>
                <a:latin typeface="Consolas" panose="020B0609020204030204" pitchFamily="49" charset="0"/>
              </a:rPr>
              <a:t>GROUP BY CUSTOMER_TYPE, PRODUCT_LINE</a:t>
            </a:r>
          </a:p>
          <a:p>
            <a:pPr marL="0" indent="0">
              <a:lnSpc>
                <a:spcPts val="1425"/>
              </a:lnSpc>
              <a:buNone/>
            </a:pPr>
            <a:r>
              <a:rPr lang="en-US" sz="1400" b="0" dirty="0">
                <a:solidFill>
                  <a:schemeClr val="tx1"/>
                </a:solidFill>
                <a:effectLst/>
                <a:latin typeface="Consolas" panose="020B0609020204030204" pitchFamily="49" charset="0"/>
              </a:rPr>
              <a:t>ORDER BY CUSTOMER_TYPE</a:t>
            </a:r>
          </a:p>
          <a:p>
            <a:pPr marL="0" indent="0">
              <a:lnSpc>
                <a:spcPts val="1425"/>
              </a:lnSpc>
              <a:buNone/>
            </a:pPr>
            <a:r>
              <a:rPr lang="en-US" sz="1400" b="0" dirty="0">
                <a:solidFill>
                  <a:schemeClr val="tx1"/>
                </a:solidFill>
                <a:effectLst/>
                <a:latin typeface="Consolas" panose="020B0609020204030204" pitchFamily="49" charset="0"/>
              </a:rPr>
              <a:t>),</a:t>
            </a:r>
          </a:p>
          <a:p>
            <a:pPr marL="0" indent="0">
              <a:lnSpc>
                <a:spcPts val="1425"/>
              </a:lnSpc>
              <a:buNone/>
            </a:pPr>
            <a:r>
              <a:rPr lang="en-US" sz="1400" b="0" dirty="0">
                <a:solidFill>
                  <a:schemeClr val="tx1"/>
                </a:solidFill>
                <a:effectLst/>
                <a:latin typeface="Consolas" panose="020B0609020204030204" pitchFamily="49" charset="0"/>
              </a:rPr>
              <a:t>CUSTOMERTYPE_RANK AS</a:t>
            </a:r>
          </a:p>
          <a:p>
            <a:pPr marL="0" indent="0">
              <a:lnSpc>
                <a:spcPts val="1425"/>
              </a:lnSpc>
              <a:buNone/>
            </a:pPr>
            <a:r>
              <a:rPr lang="en-US" sz="1400" b="0" dirty="0">
                <a:solidFill>
                  <a:schemeClr val="tx1"/>
                </a:solidFill>
                <a:effectLst/>
                <a:latin typeface="Consolas" panose="020B0609020204030204" pitchFamily="49" charset="0"/>
              </a:rPr>
              <a:t>(</a:t>
            </a:r>
          </a:p>
          <a:p>
            <a:pPr marL="0" indent="0">
              <a:lnSpc>
                <a:spcPts val="1425"/>
              </a:lnSpc>
              <a:buNone/>
            </a:pPr>
            <a:r>
              <a:rPr lang="en-US" sz="1400" b="0" dirty="0">
                <a:solidFill>
                  <a:schemeClr val="tx1"/>
                </a:solidFill>
                <a:effectLst/>
                <a:latin typeface="Consolas" panose="020B0609020204030204" pitchFamily="49" charset="0"/>
              </a:rPr>
              <a:t>SELECT *,</a:t>
            </a:r>
          </a:p>
          <a:p>
            <a:pPr marL="0" indent="0">
              <a:lnSpc>
                <a:spcPts val="1425"/>
              </a:lnSpc>
              <a:buNone/>
            </a:pPr>
            <a:r>
              <a:rPr lang="en-US" sz="1400" b="0" dirty="0">
                <a:solidFill>
                  <a:schemeClr val="tx1"/>
                </a:solidFill>
                <a:effectLst/>
                <a:latin typeface="Consolas" panose="020B0609020204030204" pitchFamily="49" charset="0"/>
              </a:rPr>
              <a:t>RANK() OVER</a:t>
            </a:r>
          </a:p>
          <a:p>
            <a:pPr marL="0" indent="0">
              <a:lnSpc>
                <a:spcPts val="1425"/>
              </a:lnSpc>
              <a:buNone/>
            </a:pPr>
            <a:r>
              <a:rPr lang="en-US" sz="1400" b="0" dirty="0">
                <a:solidFill>
                  <a:schemeClr val="tx1"/>
                </a:solidFill>
                <a:effectLst/>
                <a:latin typeface="Consolas" panose="020B0609020204030204" pitchFamily="49" charset="0"/>
              </a:rPr>
              <a:t>(PARTITION BY CUSTOMER_TYPE ORDER BY SALES DESC) AS RANKS</a:t>
            </a:r>
          </a:p>
          <a:p>
            <a:pPr marL="0" indent="0">
              <a:lnSpc>
                <a:spcPts val="1425"/>
              </a:lnSpc>
              <a:buNone/>
            </a:pPr>
            <a:r>
              <a:rPr lang="en-US" sz="1400" b="0" dirty="0">
                <a:solidFill>
                  <a:schemeClr val="tx1"/>
                </a:solidFill>
                <a:effectLst/>
                <a:latin typeface="Consolas" panose="020B0609020204030204" pitchFamily="49" charset="0"/>
              </a:rPr>
              <a:t>FROM TOTAL_SALES</a:t>
            </a:r>
          </a:p>
          <a:p>
            <a:pPr marL="0" indent="0">
              <a:lnSpc>
                <a:spcPts val="1425"/>
              </a:lnSpc>
              <a:buNone/>
            </a:pPr>
            <a:r>
              <a:rPr lang="en-US" sz="1400" b="0" dirty="0">
                <a:solidFill>
                  <a:schemeClr val="tx1"/>
                </a:solidFill>
                <a:effectLst/>
                <a:latin typeface="Consolas" panose="020B0609020204030204" pitchFamily="49" charset="0"/>
              </a:rPr>
              <a:t>)</a:t>
            </a:r>
          </a:p>
          <a:p>
            <a:pPr marL="0" indent="0">
              <a:lnSpc>
                <a:spcPts val="1425"/>
              </a:lnSpc>
              <a:buNone/>
            </a:pPr>
            <a:r>
              <a:rPr lang="en-US" sz="1400" b="0" dirty="0">
                <a:solidFill>
                  <a:schemeClr val="tx1"/>
                </a:solidFill>
                <a:effectLst/>
                <a:latin typeface="Consolas" panose="020B0609020204030204" pitchFamily="49" charset="0"/>
              </a:rPr>
              <a:t>SELECT CUSTOMER_TYPE, PRODUCT_LINE, </a:t>
            </a:r>
          </a:p>
          <a:p>
            <a:pPr marL="0" indent="0">
              <a:lnSpc>
                <a:spcPts val="1425"/>
              </a:lnSpc>
              <a:buNone/>
            </a:pPr>
            <a:r>
              <a:rPr lang="en-US" sz="1400" b="0" dirty="0">
                <a:solidFill>
                  <a:schemeClr val="tx1"/>
                </a:solidFill>
                <a:effectLst/>
                <a:latin typeface="Consolas" panose="020B0609020204030204" pitchFamily="49" charset="0"/>
              </a:rPr>
              <a:t>ROUND (SALES) AS TOTAL_SALES FROM CUSTOMERTYPE_RANK</a:t>
            </a:r>
          </a:p>
          <a:p>
            <a:pPr marL="0" indent="0">
              <a:lnSpc>
                <a:spcPts val="1425"/>
              </a:lnSpc>
              <a:buNone/>
            </a:pPr>
            <a:r>
              <a:rPr lang="en-US" sz="1400" b="0" dirty="0">
                <a:solidFill>
                  <a:schemeClr val="tx1"/>
                </a:solidFill>
                <a:effectLst/>
                <a:latin typeface="Consolas" panose="020B0609020204030204" pitchFamily="49" charset="0"/>
              </a:rPr>
              <a:t>WHERE RANKS = 1;</a:t>
            </a:r>
          </a:p>
          <a:p>
            <a:pPr marL="0" indent="0">
              <a:buNone/>
            </a:pPr>
            <a:endParaRPr lang="en-IN" sz="1600" dirty="0"/>
          </a:p>
          <a:p>
            <a:pPr marL="0" indent="0">
              <a:buNone/>
            </a:pPr>
            <a:endParaRPr lang="en-IN" sz="1600" dirty="0"/>
          </a:p>
        </p:txBody>
      </p:sp>
      <p:sp>
        <p:nvSpPr>
          <p:cNvPr id="4" name="Content Placeholder 3">
            <a:extLst>
              <a:ext uri="{FF2B5EF4-FFF2-40B4-BE49-F238E27FC236}">
                <a16:creationId xmlns:a16="http://schemas.microsoft.com/office/drawing/2014/main" id="{E7E5DA00-050F-59B0-B58C-FB1FC67F764C}"/>
              </a:ext>
            </a:extLst>
          </p:cNvPr>
          <p:cNvSpPr>
            <a:spLocks noGrp="1"/>
          </p:cNvSpPr>
          <p:nvPr>
            <p:ph sz="half" idx="2"/>
          </p:nvPr>
        </p:nvSpPr>
        <p:spPr>
          <a:xfrm>
            <a:off x="6489290" y="521110"/>
            <a:ext cx="5702709" cy="6336889"/>
          </a:xfrm>
        </p:spPr>
        <p:txBody>
          <a:bodyPr>
            <a:normAutofit/>
          </a:bodyPr>
          <a:lstStyle/>
          <a:p>
            <a:pPr marL="0" indent="0">
              <a:buNone/>
            </a:pPr>
            <a:r>
              <a:rPr lang="en-IN" sz="1600" b="1" dirty="0">
                <a:solidFill>
                  <a:srgbClr val="00B0F0"/>
                </a:solidFill>
              </a:rPr>
              <a:t>OUTPUT :</a:t>
            </a:r>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r>
              <a:rPr lang="en-IN" sz="1600" b="1" dirty="0">
                <a:solidFill>
                  <a:srgbClr val="00B0F0"/>
                </a:solidFill>
              </a:rPr>
              <a:t>VISUAL :</a:t>
            </a:r>
          </a:p>
          <a:p>
            <a:pPr marL="0" indent="0">
              <a:buNone/>
            </a:pPr>
            <a:endParaRPr lang="en-IN" sz="1600" b="1" dirty="0"/>
          </a:p>
          <a:p>
            <a:pPr marL="0" indent="0">
              <a:buNone/>
            </a:pPr>
            <a:endParaRPr lang="en-IN" sz="1600" b="1" dirty="0"/>
          </a:p>
        </p:txBody>
      </p:sp>
      <p:graphicFrame>
        <p:nvGraphicFramePr>
          <p:cNvPr id="6" name="Table 5">
            <a:extLst>
              <a:ext uri="{FF2B5EF4-FFF2-40B4-BE49-F238E27FC236}">
                <a16:creationId xmlns:a16="http://schemas.microsoft.com/office/drawing/2014/main" id="{E81BC3E1-0D28-6A56-9CCF-B0DB8C47F067}"/>
              </a:ext>
            </a:extLst>
          </p:cNvPr>
          <p:cNvGraphicFramePr>
            <a:graphicFrameLocks noGrp="1"/>
          </p:cNvGraphicFramePr>
          <p:nvPr>
            <p:extLst>
              <p:ext uri="{D42A27DB-BD31-4B8C-83A1-F6EECF244321}">
                <p14:modId xmlns:p14="http://schemas.microsoft.com/office/powerpoint/2010/main" val="1615754445"/>
              </p:ext>
            </p:extLst>
          </p:nvPr>
        </p:nvGraphicFramePr>
        <p:xfrm>
          <a:off x="6634472" y="835742"/>
          <a:ext cx="4961449" cy="1563329"/>
        </p:xfrm>
        <a:graphic>
          <a:graphicData uri="http://schemas.openxmlformats.org/drawingml/2006/table">
            <a:tbl>
              <a:tblPr/>
              <a:tblGrid>
                <a:gridCol w="1486504">
                  <a:extLst>
                    <a:ext uri="{9D8B030D-6E8A-4147-A177-3AD203B41FA5}">
                      <a16:colId xmlns:a16="http://schemas.microsoft.com/office/drawing/2014/main" val="472332863"/>
                    </a:ext>
                  </a:extLst>
                </a:gridCol>
                <a:gridCol w="2393851">
                  <a:extLst>
                    <a:ext uri="{9D8B030D-6E8A-4147-A177-3AD203B41FA5}">
                      <a16:colId xmlns:a16="http://schemas.microsoft.com/office/drawing/2014/main" val="3993037955"/>
                    </a:ext>
                  </a:extLst>
                </a:gridCol>
                <a:gridCol w="1081094">
                  <a:extLst>
                    <a:ext uri="{9D8B030D-6E8A-4147-A177-3AD203B41FA5}">
                      <a16:colId xmlns:a16="http://schemas.microsoft.com/office/drawing/2014/main" val="4163856607"/>
                    </a:ext>
                  </a:extLst>
                </a:gridCol>
              </a:tblGrid>
              <a:tr h="514253">
                <a:tc>
                  <a:txBody>
                    <a:bodyPr/>
                    <a:lstStyle/>
                    <a:p>
                      <a:pPr algn="l" rtl="0" fontAlgn="ctr"/>
                      <a:r>
                        <a:rPr lang="en-IN" sz="1400" b="1" i="0" u="none" strike="noStrike" dirty="0">
                          <a:solidFill>
                            <a:srgbClr val="FFFFFF"/>
                          </a:solidFill>
                          <a:effectLst/>
                          <a:latin typeface="Century Gothic" panose="020B0502020202020204" pitchFamily="34" charset="0"/>
                        </a:rPr>
                        <a:t>Customer type</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tc>
                  <a:txBody>
                    <a:bodyPr/>
                    <a:lstStyle/>
                    <a:p>
                      <a:pPr algn="l" rtl="0" fontAlgn="ctr"/>
                      <a:r>
                        <a:rPr lang="en-IN" sz="1400" b="1" i="0" u="none" strike="noStrike" dirty="0">
                          <a:solidFill>
                            <a:srgbClr val="FFFFFF"/>
                          </a:solidFill>
                          <a:effectLst/>
                          <a:latin typeface="Century Gothic" panose="020B0502020202020204" pitchFamily="34" charset="0"/>
                        </a:rPr>
                        <a:t>Product line</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tc>
                  <a:txBody>
                    <a:bodyPr/>
                    <a:lstStyle/>
                    <a:p>
                      <a:pPr algn="l" rtl="0" fontAlgn="ctr"/>
                      <a:r>
                        <a:rPr lang="en-IN" sz="1400" b="1" i="0" u="none" strike="noStrike">
                          <a:solidFill>
                            <a:srgbClr val="FFFFFF"/>
                          </a:solidFill>
                          <a:effectLst/>
                          <a:latin typeface="Century Gothic" panose="020B0502020202020204" pitchFamily="34" charset="0"/>
                        </a:rPr>
                        <a:t>Total sales</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extLst>
                  <a:ext uri="{0D108BD9-81ED-4DB2-BD59-A6C34878D82A}">
                    <a16:rowId xmlns:a16="http://schemas.microsoft.com/office/drawing/2014/main" val="3899480267"/>
                  </a:ext>
                </a:extLst>
              </a:tr>
              <a:tr h="534823">
                <a:tc>
                  <a:txBody>
                    <a:bodyPr/>
                    <a:lstStyle/>
                    <a:p>
                      <a:pPr algn="l" rtl="0" fontAlgn="ctr"/>
                      <a:r>
                        <a:rPr lang="en-IN" sz="1400" b="0" i="0" u="none" strike="noStrike">
                          <a:solidFill>
                            <a:srgbClr val="000000"/>
                          </a:solidFill>
                          <a:effectLst/>
                          <a:latin typeface="Century Gothic" panose="020B0502020202020204" pitchFamily="34" charset="0"/>
                        </a:rPr>
                        <a:t>Member</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a:solidFill>
                            <a:srgbClr val="000000"/>
                          </a:solidFill>
                          <a:effectLst/>
                          <a:latin typeface="Century Gothic" panose="020B0502020202020204" pitchFamily="34" charset="0"/>
                        </a:rPr>
                        <a:t>Food and beverages</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a:solidFill>
                            <a:srgbClr val="000000"/>
                          </a:solidFill>
                          <a:effectLst/>
                          <a:latin typeface="Century Gothic" panose="020B0502020202020204" pitchFamily="34" charset="0"/>
                        </a:rPr>
                        <a:t>31358</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1390246405"/>
                  </a:ext>
                </a:extLst>
              </a:tr>
              <a:tr h="514253">
                <a:tc>
                  <a:txBody>
                    <a:bodyPr/>
                    <a:lstStyle/>
                    <a:p>
                      <a:pPr algn="l" rtl="0" fontAlgn="ctr"/>
                      <a:r>
                        <a:rPr lang="en-IN" sz="1400" b="0" i="0" u="none" strike="noStrike" dirty="0">
                          <a:solidFill>
                            <a:srgbClr val="000000"/>
                          </a:solidFill>
                          <a:effectLst/>
                          <a:latin typeface="Century Gothic" panose="020B0502020202020204" pitchFamily="34" charset="0"/>
                        </a:rPr>
                        <a:t>Normal</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400" b="0" i="0" u="none" strike="noStrike" dirty="0">
                          <a:solidFill>
                            <a:srgbClr val="000000"/>
                          </a:solidFill>
                          <a:effectLst/>
                          <a:latin typeface="Century Gothic" panose="020B0502020202020204" pitchFamily="34" charset="0"/>
                        </a:rPr>
                        <a:t>Electronic accessories</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400" b="0" i="0" u="none" strike="noStrike" dirty="0">
                          <a:solidFill>
                            <a:srgbClr val="000000"/>
                          </a:solidFill>
                          <a:effectLst/>
                          <a:latin typeface="Century Gothic" panose="020B0502020202020204" pitchFamily="34" charset="0"/>
                        </a:rPr>
                        <a:t>29839</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2713305099"/>
                  </a:ext>
                </a:extLst>
              </a:tr>
            </a:tbl>
          </a:graphicData>
        </a:graphic>
      </p:graphicFrame>
      <p:graphicFrame>
        <p:nvGraphicFramePr>
          <p:cNvPr id="10" name="Chart 9">
            <a:extLst>
              <a:ext uri="{FF2B5EF4-FFF2-40B4-BE49-F238E27FC236}">
                <a16:creationId xmlns:a16="http://schemas.microsoft.com/office/drawing/2014/main" id="{FA9A33AC-8508-A540-488F-65F80EF50799}"/>
              </a:ext>
            </a:extLst>
          </p:cNvPr>
          <p:cNvGraphicFramePr>
            <a:graphicFrameLocks/>
          </p:cNvGraphicFramePr>
          <p:nvPr>
            <p:extLst>
              <p:ext uri="{D42A27DB-BD31-4B8C-83A1-F6EECF244321}">
                <p14:modId xmlns:p14="http://schemas.microsoft.com/office/powerpoint/2010/main" val="702913953"/>
              </p:ext>
            </p:extLst>
          </p:nvPr>
        </p:nvGraphicFramePr>
        <p:xfrm>
          <a:off x="6489291" y="3256935"/>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3920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7B845-FFC7-F74E-F35E-2E08E953C0F1}"/>
              </a:ext>
            </a:extLst>
          </p:cNvPr>
          <p:cNvSpPr>
            <a:spLocks noGrp="1"/>
          </p:cNvSpPr>
          <p:nvPr>
            <p:ph type="title"/>
          </p:nvPr>
        </p:nvSpPr>
        <p:spPr>
          <a:xfrm>
            <a:off x="0" y="43273"/>
            <a:ext cx="12192000" cy="497502"/>
          </a:xfrm>
        </p:spPr>
        <p:txBody>
          <a:bodyPr>
            <a:normAutofit/>
          </a:bodyPr>
          <a:lstStyle/>
          <a:p>
            <a:pPr algn="ctr"/>
            <a:r>
              <a:rPr lang="en-IN" sz="2000" dirty="0">
                <a:solidFill>
                  <a:srgbClr val="00B0F0"/>
                </a:solidFill>
              </a:rPr>
              <a:t>Repeated Customers</a:t>
            </a:r>
          </a:p>
        </p:txBody>
      </p:sp>
      <p:sp>
        <p:nvSpPr>
          <p:cNvPr id="3" name="Content Placeholder 2">
            <a:extLst>
              <a:ext uri="{FF2B5EF4-FFF2-40B4-BE49-F238E27FC236}">
                <a16:creationId xmlns:a16="http://schemas.microsoft.com/office/drawing/2014/main" id="{F4C091C3-162E-1DAB-EC72-567DB36F0873}"/>
              </a:ext>
            </a:extLst>
          </p:cNvPr>
          <p:cNvSpPr>
            <a:spLocks noGrp="1"/>
          </p:cNvSpPr>
          <p:nvPr>
            <p:ph sz="half" idx="1"/>
          </p:nvPr>
        </p:nvSpPr>
        <p:spPr>
          <a:xfrm>
            <a:off x="554476" y="540774"/>
            <a:ext cx="6691897" cy="6317225"/>
          </a:xfrm>
        </p:spPr>
        <p:txBody>
          <a:bodyPr>
            <a:normAutofit/>
          </a:bodyPr>
          <a:lstStyle/>
          <a:p>
            <a:pPr marL="0" indent="0">
              <a:buNone/>
            </a:pPr>
            <a:r>
              <a:rPr lang="en-IN" sz="1600" b="1" dirty="0">
                <a:solidFill>
                  <a:srgbClr val="00B0F0"/>
                </a:solidFill>
              </a:rPr>
              <a:t>SQL QUERY :</a:t>
            </a:r>
          </a:p>
          <a:p>
            <a:pPr marL="0" indent="0">
              <a:lnSpc>
                <a:spcPts val="1425"/>
              </a:lnSpc>
              <a:buNone/>
            </a:pPr>
            <a:r>
              <a:rPr lang="en-US" sz="1400" b="0" dirty="0">
                <a:solidFill>
                  <a:schemeClr val="tx1"/>
                </a:solidFill>
                <a:effectLst/>
                <a:latin typeface="Consolas" panose="020B0609020204030204" pitchFamily="49" charset="0"/>
              </a:rPr>
              <a:t>WITH PREV_SALES AS</a:t>
            </a:r>
          </a:p>
          <a:p>
            <a:pPr marL="0" indent="0">
              <a:lnSpc>
                <a:spcPts val="1425"/>
              </a:lnSpc>
              <a:buNone/>
            </a:pPr>
            <a:r>
              <a:rPr lang="en-US" sz="1400" b="0" dirty="0">
                <a:solidFill>
                  <a:schemeClr val="tx1"/>
                </a:solidFill>
                <a:effectLst/>
                <a:latin typeface="Consolas" panose="020B0609020204030204" pitchFamily="49" charset="0"/>
              </a:rPr>
              <a:t>(</a:t>
            </a:r>
          </a:p>
          <a:p>
            <a:pPr marL="0" indent="0">
              <a:lnSpc>
                <a:spcPts val="1425"/>
              </a:lnSpc>
              <a:buNone/>
            </a:pPr>
            <a:r>
              <a:rPr lang="en-US" sz="1400" b="0" dirty="0">
                <a:solidFill>
                  <a:schemeClr val="tx1"/>
                </a:solidFill>
                <a:effectLst/>
                <a:latin typeface="Consolas" panose="020B0609020204030204" pitchFamily="49" charset="0"/>
              </a:rPr>
              <a:t>SELECT CUSTOMER_ID, DATE, </a:t>
            </a:r>
          </a:p>
          <a:p>
            <a:pPr marL="0" indent="0">
              <a:lnSpc>
                <a:spcPts val="1425"/>
              </a:lnSpc>
              <a:buNone/>
            </a:pPr>
            <a:r>
              <a:rPr lang="en-US" sz="1400" b="0" dirty="0">
                <a:solidFill>
                  <a:schemeClr val="tx1"/>
                </a:solidFill>
                <a:effectLst/>
                <a:latin typeface="Consolas" panose="020B0609020204030204" pitchFamily="49" charset="0"/>
              </a:rPr>
              <a:t>LAG (DATE) OVER</a:t>
            </a:r>
          </a:p>
          <a:p>
            <a:pPr marL="0" indent="0">
              <a:lnSpc>
                <a:spcPts val="1425"/>
              </a:lnSpc>
              <a:buNone/>
            </a:pPr>
            <a:r>
              <a:rPr lang="en-US" sz="1400" b="0" dirty="0">
                <a:solidFill>
                  <a:schemeClr val="tx1"/>
                </a:solidFill>
                <a:effectLst/>
                <a:latin typeface="Consolas" panose="020B0609020204030204" pitchFamily="49" charset="0"/>
              </a:rPr>
              <a:t>(PARTITION BY CUSTOMER_ID ORDER BY DATE) AS PREV_SALEDATE</a:t>
            </a:r>
          </a:p>
          <a:p>
            <a:pPr marL="0" indent="0">
              <a:lnSpc>
                <a:spcPts val="1425"/>
              </a:lnSpc>
              <a:buNone/>
            </a:pPr>
            <a:r>
              <a:rPr lang="en-US" sz="1400" b="0" dirty="0">
                <a:solidFill>
                  <a:schemeClr val="tx1"/>
                </a:solidFill>
                <a:effectLst/>
                <a:latin typeface="Consolas" panose="020B0609020204030204" pitchFamily="49" charset="0"/>
              </a:rPr>
              <a:t>FROM WALMART_SALES</a:t>
            </a:r>
          </a:p>
          <a:p>
            <a:pPr marL="0" indent="0">
              <a:lnSpc>
                <a:spcPts val="1425"/>
              </a:lnSpc>
              <a:buNone/>
            </a:pPr>
            <a:r>
              <a:rPr lang="en-US" sz="1400" b="0" dirty="0">
                <a:solidFill>
                  <a:schemeClr val="tx1"/>
                </a:solidFill>
                <a:effectLst/>
                <a:latin typeface="Consolas" panose="020B0609020204030204" pitchFamily="49" charset="0"/>
              </a:rPr>
              <a:t>),</a:t>
            </a:r>
          </a:p>
          <a:p>
            <a:pPr marL="0" indent="0">
              <a:lnSpc>
                <a:spcPts val="1425"/>
              </a:lnSpc>
              <a:buNone/>
            </a:pPr>
            <a:r>
              <a:rPr lang="en-US" sz="1400" b="0" dirty="0">
                <a:solidFill>
                  <a:schemeClr val="tx1"/>
                </a:solidFill>
                <a:effectLst/>
                <a:latin typeface="Consolas" panose="020B0609020204030204" pitchFamily="49" charset="0"/>
              </a:rPr>
              <a:t>SALES_DIFFERENCE AS</a:t>
            </a:r>
          </a:p>
          <a:p>
            <a:pPr marL="0" indent="0">
              <a:lnSpc>
                <a:spcPts val="1425"/>
              </a:lnSpc>
              <a:buNone/>
            </a:pPr>
            <a:r>
              <a:rPr lang="en-US" sz="1400" b="0" dirty="0">
                <a:solidFill>
                  <a:schemeClr val="tx1"/>
                </a:solidFill>
                <a:effectLst/>
                <a:latin typeface="Consolas" panose="020B0609020204030204" pitchFamily="49" charset="0"/>
              </a:rPr>
              <a:t>(</a:t>
            </a:r>
          </a:p>
          <a:p>
            <a:pPr marL="0" indent="0">
              <a:lnSpc>
                <a:spcPts val="1425"/>
              </a:lnSpc>
              <a:buNone/>
            </a:pPr>
            <a:r>
              <a:rPr lang="en-US" sz="1400" b="0" dirty="0">
                <a:solidFill>
                  <a:schemeClr val="tx1"/>
                </a:solidFill>
                <a:effectLst/>
                <a:latin typeface="Consolas" panose="020B0609020204030204" pitchFamily="49" charset="0"/>
              </a:rPr>
              <a:t>SELECT CUSTOMER_ID, DATE, PREV_SALEDATE, </a:t>
            </a:r>
          </a:p>
          <a:p>
            <a:pPr marL="0" indent="0">
              <a:lnSpc>
                <a:spcPts val="1425"/>
              </a:lnSpc>
              <a:buNone/>
            </a:pPr>
            <a:r>
              <a:rPr lang="en-US" sz="1400" b="0" dirty="0">
                <a:solidFill>
                  <a:schemeClr val="tx1"/>
                </a:solidFill>
                <a:effectLst/>
                <a:latin typeface="Consolas" panose="020B0609020204030204" pitchFamily="49" charset="0"/>
              </a:rPr>
              <a:t>DATEDIFF(DATE , PREV_SALEDATE) AS DIFFERNCE</a:t>
            </a:r>
          </a:p>
          <a:p>
            <a:pPr marL="0" indent="0">
              <a:lnSpc>
                <a:spcPts val="1425"/>
              </a:lnSpc>
              <a:buNone/>
            </a:pPr>
            <a:r>
              <a:rPr lang="en-US" sz="1400" b="0" dirty="0">
                <a:solidFill>
                  <a:schemeClr val="tx1"/>
                </a:solidFill>
                <a:effectLst/>
                <a:latin typeface="Consolas" panose="020B0609020204030204" pitchFamily="49" charset="0"/>
              </a:rPr>
              <a:t>FROM PREV_SALES</a:t>
            </a:r>
          </a:p>
          <a:p>
            <a:pPr marL="0" indent="0">
              <a:lnSpc>
                <a:spcPts val="1425"/>
              </a:lnSpc>
              <a:buNone/>
            </a:pPr>
            <a:r>
              <a:rPr lang="en-US" sz="1400" b="0" dirty="0">
                <a:solidFill>
                  <a:schemeClr val="tx1"/>
                </a:solidFill>
                <a:effectLst/>
                <a:latin typeface="Consolas" panose="020B0609020204030204" pitchFamily="49" charset="0"/>
              </a:rPr>
              <a:t>)</a:t>
            </a:r>
          </a:p>
          <a:p>
            <a:pPr marL="0" indent="0">
              <a:lnSpc>
                <a:spcPts val="1425"/>
              </a:lnSpc>
              <a:buNone/>
            </a:pPr>
            <a:r>
              <a:rPr lang="en-US" sz="1400" b="0" dirty="0">
                <a:solidFill>
                  <a:schemeClr val="tx1"/>
                </a:solidFill>
                <a:effectLst/>
                <a:latin typeface="Consolas" panose="020B0609020204030204" pitchFamily="49" charset="0"/>
              </a:rPr>
              <a:t>SELECT DISTINCT CUSTOMER_ID FROM SALES_DIFFERENCE</a:t>
            </a:r>
          </a:p>
          <a:p>
            <a:pPr marL="0" indent="0">
              <a:lnSpc>
                <a:spcPts val="1425"/>
              </a:lnSpc>
              <a:buNone/>
            </a:pPr>
            <a:r>
              <a:rPr lang="en-US" sz="1400" b="0" dirty="0">
                <a:solidFill>
                  <a:schemeClr val="tx1"/>
                </a:solidFill>
                <a:effectLst/>
                <a:latin typeface="Consolas" panose="020B0609020204030204" pitchFamily="49" charset="0"/>
              </a:rPr>
              <a:t>WHERE DIFFERNCE &lt;= 30 ;</a:t>
            </a:r>
          </a:p>
          <a:p>
            <a:pPr marL="0" indent="0">
              <a:buNone/>
            </a:pPr>
            <a:endParaRPr lang="en-IN" sz="1600" b="1" dirty="0"/>
          </a:p>
        </p:txBody>
      </p:sp>
      <p:sp>
        <p:nvSpPr>
          <p:cNvPr id="4" name="Content Placeholder 3">
            <a:extLst>
              <a:ext uri="{FF2B5EF4-FFF2-40B4-BE49-F238E27FC236}">
                <a16:creationId xmlns:a16="http://schemas.microsoft.com/office/drawing/2014/main" id="{236069F5-0C56-C782-AE73-229BCEF9EF40}"/>
              </a:ext>
            </a:extLst>
          </p:cNvPr>
          <p:cNvSpPr>
            <a:spLocks noGrp="1"/>
          </p:cNvSpPr>
          <p:nvPr>
            <p:ph sz="half" idx="2"/>
          </p:nvPr>
        </p:nvSpPr>
        <p:spPr>
          <a:xfrm>
            <a:off x="7649497" y="540774"/>
            <a:ext cx="4542502" cy="6273953"/>
          </a:xfrm>
        </p:spPr>
        <p:txBody>
          <a:bodyPr>
            <a:normAutofit/>
          </a:bodyPr>
          <a:lstStyle/>
          <a:p>
            <a:pPr marL="0" indent="0">
              <a:buNone/>
            </a:pPr>
            <a:r>
              <a:rPr lang="en-IN" sz="1600" b="1" dirty="0">
                <a:solidFill>
                  <a:srgbClr val="00B0F0"/>
                </a:solidFill>
              </a:rPr>
              <a:t>OUTPUT :</a:t>
            </a:r>
          </a:p>
          <a:p>
            <a:pPr marL="0" indent="0">
              <a:buNone/>
            </a:pPr>
            <a:endParaRPr lang="en-IN" sz="1600" b="1" dirty="0"/>
          </a:p>
        </p:txBody>
      </p:sp>
      <p:graphicFrame>
        <p:nvGraphicFramePr>
          <p:cNvPr id="5" name="Table 4">
            <a:extLst>
              <a:ext uri="{FF2B5EF4-FFF2-40B4-BE49-F238E27FC236}">
                <a16:creationId xmlns:a16="http://schemas.microsoft.com/office/drawing/2014/main" id="{FF3603F7-D7B5-8150-EC8D-958D5D23713F}"/>
              </a:ext>
            </a:extLst>
          </p:cNvPr>
          <p:cNvGraphicFramePr>
            <a:graphicFrameLocks noGrp="1"/>
          </p:cNvGraphicFramePr>
          <p:nvPr>
            <p:extLst>
              <p:ext uri="{D42A27DB-BD31-4B8C-83A1-F6EECF244321}">
                <p14:modId xmlns:p14="http://schemas.microsoft.com/office/powerpoint/2010/main" val="4019291018"/>
              </p:ext>
            </p:extLst>
          </p:nvPr>
        </p:nvGraphicFramePr>
        <p:xfrm>
          <a:off x="7793447" y="1001471"/>
          <a:ext cx="1684849" cy="3757336"/>
        </p:xfrm>
        <a:graphic>
          <a:graphicData uri="http://schemas.openxmlformats.org/drawingml/2006/table">
            <a:tbl>
              <a:tblPr/>
              <a:tblGrid>
                <a:gridCol w="1684849">
                  <a:extLst>
                    <a:ext uri="{9D8B030D-6E8A-4147-A177-3AD203B41FA5}">
                      <a16:colId xmlns:a16="http://schemas.microsoft.com/office/drawing/2014/main" val="212165439"/>
                    </a:ext>
                  </a:extLst>
                </a:gridCol>
              </a:tblGrid>
              <a:tr h="230229">
                <a:tc>
                  <a:txBody>
                    <a:bodyPr/>
                    <a:lstStyle/>
                    <a:p>
                      <a:pPr algn="l" rtl="0" fontAlgn="ctr"/>
                      <a:r>
                        <a:rPr lang="en-IN" sz="1400" b="1" i="0" u="none" strike="noStrike" dirty="0">
                          <a:solidFill>
                            <a:srgbClr val="FFFFFF"/>
                          </a:solidFill>
                          <a:effectLst/>
                          <a:latin typeface="Century Gothic" panose="020B0502020202020204" pitchFamily="34" charset="0"/>
                        </a:rPr>
                        <a:t>Customer ID</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extLst>
                  <a:ext uri="{0D108BD9-81ED-4DB2-BD59-A6C34878D82A}">
                    <a16:rowId xmlns:a16="http://schemas.microsoft.com/office/drawing/2014/main" val="1109159674"/>
                  </a:ext>
                </a:extLst>
              </a:tr>
              <a:tr h="239438">
                <a:tc>
                  <a:txBody>
                    <a:bodyPr/>
                    <a:lstStyle/>
                    <a:p>
                      <a:pPr algn="l" rtl="0" fontAlgn="ctr"/>
                      <a:r>
                        <a:rPr lang="en-IN" sz="1400" b="0" i="0" u="none" strike="noStrike" dirty="0">
                          <a:solidFill>
                            <a:srgbClr val="000000"/>
                          </a:solidFill>
                          <a:effectLst/>
                          <a:latin typeface="Century Gothic" panose="020B0502020202020204" pitchFamily="34" charset="0"/>
                        </a:rPr>
                        <a:t>1</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516446249"/>
                  </a:ext>
                </a:extLst>
              </a:tr>
              <a:tr h="230229">
                <a:tc>
                  <a:txBody>
                    <a:bodyPr/>
                    <a:lstStyle/>
                    <a:p>
                      <a:pPr algn="l" rtl="0" fontAlgn="ctr"/>
                      <a:r>
                        <a:rPr lang="en-IN" sz="1400" b="0" i="0" u="none" strike="noStrike">
                          <a:solidFill>
                            <a:srgbClr val="000000"/>
                          </a:solidFill>
                          <a:effectLst/>
                          <a:latin typeface="Century Gothic" panose="020B0502020202020204" pitchFamily="34" charset="0"/>
                        </a:rPr>
                        <a:t>2</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3036707972"/>
                  </a:ext>
                </a:extLst>
              </a:tr>
              <a:tr h="239438">
                <a:tc>
                  <a:txBody>
                    <a:bodyPr/>
                    <a:lstStyle/>
                    <a:p>
                      <a:pPr algn="l" rtl="0" fontAlgn="ctr"/>
                      <a:r>
                        <a:rPr lang="en-IN" sz="1400" b="0" i="0" u="none" strike="noStrike">
                          <a:solidFill>
                            <a:srgbClr val="000000"/>
                          </a:solidFill>
                          <a:effectLst/>
                          <a:latin typeface="Century Gothic" panose="020B0502020202020204" pitchFamily="34" charset="0"/>
                        </a:rPr>
                        <a:t>3</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2854767931"/>
                  </a:ext>
                </a:extLst>
              </a:tr>
              <a:tr h="230229">
                <a:tc>
                  <a:txBody>
                    <a:bodyPr/>
                    <a:lstStyle/>
                    <a:p>
                      <a:pPr algn="l" rtl="0" fontAlgn="ctr"/>
                      <a:r>
                        <a:rPr lang="en-IN" sz="1400" b="0" i="0" u="none" strike="noStrike">
                          <a:solidFill>
                            <a:srgbClr val="000000"/>
                          </a:solidFill>
                          <a:effectLst/>
                          <a:latin typeface="Century Gothic" panose="020B0502020202020204" pitchFamily="34" charset="0"/>
                        </a:rPr>
                        <a:t>4</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514059761"/>
                  </a:ext>
                </a:extLst>
              </a:tr>
              <a:tr h="239438">
                <a:tc>
                  <a:txBody>
                    <a:bodyPr/>
                    <a:lstStyle/>
                    <a:p>
                      <a:pPr algn="l" rtl="0" fontAlgn="ctr"/>
                      <a:r>
                        <a:rPr lang="en-IN" sz="1400" b="0" i="0" u="none" strike="noStrike" dirty="0">
                          <a:solidFill>
                            <a:srgbClr val="000000"/>
                          </a:solidFill>
                          <a:effectLst/>
                          <a:latin typeface="Century Gothic" panose="020B0502020202020204" pitchFamily="34" charset="0"/>
                        </a:rPr>
                        <a:t>5</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2832070243"/>
                  </a:ext>
                </a:extLst>
              </a:tr>
              <a:tr h="230229">
                <a:tc>
                  <a:txBody>
                    <a:bodyPr/>
                    <a:lstStyle/>
                    <a:p>
                      <a:pPr algn="l" rtl="0" fontAlgn="ctr"/>
                      <a:r>
                        <a:rPr lang="en-IN" sz="1400" b="0" i="0" u="none" strike="noStrike">
                          <a:solidFill>
                            <a:srgbClr val="000000"/>
                          </a:solidFill>
                          <a:effectLst/>
                          <a:latin typeface="Century Gothic" panose="020B0502020202020204" pitchFamily="34" charset="0"/>
                        </a:rPr>
                        <a:t>6</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732874818"/>
                  </a:ext>
                </a:extLst>
              </a:tr>
              <a:tr h="239438">
                <a:tc>
                  <a:txBody>
                    <a:bodyPr/>
                    <a:lstStyle/>
                    <a:p>
                      <a:pPr algn="l" rtl="0" fontAlgn="ctr"/>
                      <a:r>
                        <a:rPr lang="en-IN" sz="1400" b="0" i="0" u="none" strike="noStrike">
                          <a:solidFill>
                            <a:srgbClr val="000000"/>
                          </a:solidFill>
                          <a:effectLst/>
                          <a:latin typeface="Century Gothic" panose="020B0502020202020204" pitchFamily="34" charset="0"/>
                        </a:rPr>
                        <a:t>7</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4126888851"/>
                  </a:ext>
                </a:extLst>
              </a:tr>
              <a:tr h="230229">
                <a:tc>
                  <a:txBody>
                    <a:bodyPr/>
                    <a:lstStyle/>
                    <a:p>
                      <a:pPr algn="l" rtl="0" fontAlgn="ctr"/>
                      <a:r>
                        <a:rPr lang="en-IN" sz="1400" b="0" i="0" u="none" strike="noStrike">
                          <a:solidFill>
                            <a:srgbClr val="000000"/>
                          </a:solidFill>
                          <a:effectLst/>
                          <a:latin typeface="Century Gothic" panose="020B0502020202020204" pitchFamily="34" charset="0"/>
                        </a:rPr>
                        <a:t>8</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966487726"/>
                  </a:ext>
                </a:extLst>
              </a:tr>
              <a:tr h="239438">
                <a:tc>
                  <a:txBody>
                    <a:bodyPr/>
                    <a:lstStyle/>
                    <a:p>
                      <a:pPr algn="l" rtl="0" fontAlgn="ctr"/>
                      <a:r>
                        <a:rPr lang="en-IN" sz="1400" b="0" i="0" u="none" strike="noStrike">
                          <a:solidFill>
                            <a:srgbClr val="000000"/>
                          </a:solidFill>
                          <a:effectLst/>
                          <a:latin typeface="Century Gothic" panose="020B0502020202020204" pitchFamily="34" charset="0"/>
                        </a:rPr>
                        <a:t>9</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1663841972"/>
                  </a:ext>
                </a:extLst>
              </a:tr>
              <a:tr h="230229">
                <a:tc>
                  <a:txBody>
                    <a:bodyPr/>
                    <a:lstStyle/>
                    <a:p>
                      <a:pPr algn="l" rtl="0" fontAlgn="ctr"/>
                      <a:r>
                        <a:rPr lang="en-IN" sz="1400" b="0" i="0" u="none" strike="noStrike">
                          <a:solidFill>
                            <a:srgbClr val="000000"/>
                          </a:solidFill>
                          <a:effectLst/>
                          <a:latin typeface="Century Gothic" panose="020B0502020202020204" pitchFamily="34" charset="0"/>
                        </a:rPr>
                        <a:t>10</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1755571834"/>
                  </a:ext>
                </a:extLst>
              </a:tr>
              <a:tr h="239438">
                <a:tc>
                  <a:txBody>
                    <a:bodyPr/>
                    <a:lstStyle/>
                    <a:p>
                      <a:pPr algn="l" rtl="0" fontAlgn="ctr"/>
                      <a:r>
                        <a:rPr lang="en-IN" sz="1400" b="0" i="0" u="none" strike="noStrike">
                          <a:solidFill>
                            <a:srgbClr val="000000"/>
                          </a:solidFill>
                          <a:effectLst/>
                          <a:latin typeface="Century Gothic" panose="020B0502020202020204" pitchFamily="34" charset="0"/>
                        </a:rPr>
                        <a:t>11</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2731791688"/>
                  </a:ext>
                </a:extLst>
              </a:tr>
              <a:tr h="230229">
                <a:tc>
                  <a:txBody>
                    <a:bodyPr/>
                    <a:lstStyle/>
                    <a:p>
                      <a:pPr algn="l" rtl="0" fontAlgn="ctr"/>
                      <a:r>
                        <a:rPr lang="en-IN" sz="1400" b="0" i="0" u="none" strike="noStrike">
                          <a:solidFill>
                            <a:srgbClr val="000000"/>
                          </a:solidFill>
                          <a:effectLst/>
                          <a:latin typeface="Century Gothic" panose="020B0502020202020204" pitchFamily="34" charset="0"/>
                        </a:rPr>
                        <a:t>12</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321505660"/>
                  </a:ext>
                </a:extLst>
              </a:tr>
              <a:tr h="239438">
                <a:tc>
                  <a:txBody>
                    <a:bodyPr/>
                    <a:lstStyle/>
                    <a:p>
                      <a:pPr algn="l" rtl="0" fontAlgn="ctr"/>
                      <a:r>
                        <a:rPr lang="en-IN" sz="1400" b="0" i="0" u="none" strike="noStrike">
                          <a:solidFill>
                            <a:srgbClr val="000000"/>
                          </a:solidFill>
                          <a:effectLst/>
                          <a:latin typeface="Century Gothic" panose="020B0502020202020204" pitchFamily="34" charset="0"/>
                        </a:rPr>
                        <a:t>13</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183157113"/>
                  </a:ext>
                </a:extLst>
              </a:tr>
              <a:tr h="230229">
                <a:tc>
                  <a:txBody>
                    <a:bodyPr/>
                    <a:lstStyle/>
                    <a:p>
                      <a:pPr algn="l" rtl="0" fontAlgn="ctr"/>
                      <a:r>
                        <a:rPr lang="en-IN" sz="1400" b="0" i="0" u="none" strike="noStrike">
                          <a:solidFill>
                            <a:srgbClr val="000000"/>
                          </a:solidFill>
                          <a:effectLst/>
                          <a:latin typeface="Century Gothic" panose="020B0502020202020204" pitchFamily="34" charset="0"/>
                        </a:rPr>
                        <a:t>14</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3955168367"/>
                  </a:ext>
                </a:extLst>
              </a:tr>
              <a:tr h="239438">
                <a:tc>
                  <a:txBody>
                    <a:bodyPr/>
                    <a:lstStyle/>
                    <a:p>
                      <a:pPr algn="l" rtl="0" fontAlgn="ctr"/>
                      <a:r>
                        <a:rPr lang="en-IN" sz="1400" b="0" i="0" u="none" strike="noStrike" dirty="0">
                          <a:solidFill>
                            <a:srgbClr val="000000"/>
                          </a:solidFill>
                          <a:effectLst/>
                          <a:latin typeface="Century Gothic" panose="020B0502020202020204" pitchFamily="34" charset="0"/>
                        </a:rPr>
                        <a:t>15</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3532592069"/>
                  </a:ext>
                </a:extLst>
              </a:tr>
            </a:tbl>
          </a:graphicData>
        </a:graphic>
      </p:graphicFrame>
    </p:spTree>
    <p:extLst>
      <p:ext uri="{BB962C8B-B14F-4D97-AF65-F5344CB8AC3E}">
        <p14:creationId xmlns:p14="http://schemas.microsoft.com/office/powerpoint/2010/main" val="2630814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28B4F-27A0-7559-6E51-6FCF66558436}"/>
              </a:ext>
            </a:extLst>
          </p:cNvPr>
          <p:cNvSpPr>
            <a:spLocks noGrp="1"/>
          </p:cNvSpPr>
          <p:nvPr>
            <p:ph type="title"/>
          </p:nvPr>
        </p:nvSpPr>
        <p:spPr>
          <a:xfrm>
            <a:off x="0" y="1"/>
            <a:ext cx="12192000" cy="442451"/>
          </a:xfrm>
        </p:spPr>
        <p:txBody>
          <a:bodyPr>
            <a:normAutofit/>
          </a:bodyPr>
          <a:lstStyle/>
          <a:p>
            <a:pPr algn="ctr"/>
            <a:r>
              <a:rPr lang="en-US" sz="2000" dirty="0">
                <a:solidFill>
                  <a:srgbClr val="00B0F0"/>
                </a:solidFill>
              </a:rPr>
              <a:t>Top 5 Customers by Sales Volume</a:t>
            </a:r>
            <a:endParaRPr lang="en-IN" sz="2000" dirty="0">
              <a:solidFill>
                <a:srgbClr val="00B0F0"/>
              </a:solidFill>
            </a:endParaRPr>
          </a:p>
        </p:txBody>
      </p:sp>
      <p:sp>
        <p:nvSpPr>
          <p:cNvPr id="3" name="Content Placeholder 2">
            <a:extLst>
              <a:ext uri="{FF2B5EF4-FFF2-40B4-BE49-F238E27FC236}">
                <a16:creationId xmlns:a16="http://schemas.microsoft.com/office/drawing/2014/main" id="{3992CF53-F454-98BE-A60D-83613C81BCE4}"/>
              </a:ext>
            </a:extLst>
          </p:cNvPr>
          <p:cNvSpPr>
            <a:spLocks noGrp="1"/>
          </p:cNvSpPr>
          <p:nvPr>
            <p:ph sz="half" idx="1"/>
          </p:nvPr>
        </p:nvSpPr>
        <p:spPr>
          <a:xfrm>
            <a:off x="505838" y="521109"/>
            <a:ext cx="5442733" cy="6336889"/>
          </a:xfrm>
        </p:spPr>
        <p:txBody>
          <a:bodyPr>
            <a:normAutofit/>
          </a:bodyPr>
          <a:lstStyle/>
          <a:p>
            <a:pPr marL="0" indent="0">
              <a:buNone/>
            </a:pPr>
            <a:r>
              <a:rPr lang="en-IN" sz="1600" b="1" dirty="0">
                <a:solidFill>
                  <a:srgbClr val="00B0F0"/>
                </a:solidFill>
              </a:rPr>
              <a:t>SQL QUERY :</a:t>
            </a:r>
          </a:p>
          <a:p>
            <a:pPr marL="0" indent="0">
              <a:lnSpc>
                <a:spcPts val="1425"/>
              </a:lnSpc>
              <a:buNone/>
            </a:pPr>
            <a:r>
              <a:rPr lang="en-US" sz="1400" b="0" dirty="0">
                <a:solidFill>
                  <a:schemeClr val="tx1"/>
                </a:solidFill>
                <a:effectLst/>
                <a:latin typeface="Consolas" panose="020B0609020204030204" pitchFamily="49" charset="0"/>
              </a:rPr>
              <a:t>SELECT CUSTOMER_ID, </a:t>
            </a:r>
          </a:p>
          <a:p>
            <a:pPr marL="0" indent="0">
              <a:lnSpc>
                <a:spcPts val="1425"/>
              </a:lnSpc>
              <a:buNone/>
            </a:pPr>
            <a:r>
              <a:rPr lang="en-US" sz="1400" b="0" dirty="0">
                <a:solidFill>
                  <a:schemeClr val="tx1"/>
                </a:solidFill>
                <a:effectLst/>
                <a:latin typeface="Consolas" panose="020B0609020204030204" pitchFamily="49" charset="0"/>
              </a:rPr>
              <a:t>ROUND(SUM(TOTAL), 2) AS AMOUNT </a:t>
            </a:r>
          </a:p>
          <a:p>
            <a:pPr marL="0" indent="0">
              <a:lnSpc>
                <a:spcPts val="1425"/>
              </a:lnSpc>
              <a:buNone/>
            </a:pPr>
            <a:r>
              <a:rPr lang="en-US" sz="1400" b="0" dirty="0">
                <a:solidFill>
                  <a:schemeClr val="tx1"/>
                </a:solidFill>
                <a:effectLst/>
                <a:latin typeface="Consolas" panose="020B0609020204030204" pitchFamily="49" charset="0"/>
              </a:rPr>
              <a:t>FROM WALMART_SALES</a:t>
            </a:r>
          </a:p>
          <a:p>
            <a:pPr marL="0" indent="0">
              <a:lnSpc>
                <a:spcPts val="1425"/>
              </a:lnSpc>
              <a:buNone/>
            </a:pPr>
            <a:r>
              <a:rPr lang="en-US" sz="1400" b="0" dirty="0">
                <a:solidFill>
                  <a:schemeClr val="tx1"/>
                </a:solidFill>
                <a:effectLst/>
                <a:latin typeface="Consolas" panose="020B0609020204030204" pitchFamily="49" charset="0"/>
              </a:rPr>
              <a:t>GROUP BY CUSTOMER_ID</a:t>
            </a:r>
          </a:p>
          <a:p>
            <a:pPr marL="0" indent="0">
              <a:lnSpc>
                <a:spcPts val="1425"/>
              </a:lnSpc>
              <a:buNone/>
            </a:pPr>
            <a:r>
              <a:rPr lang="en-US" sz="1400" b="0" dirty="0">
                <a:solidFill>
                  <a:schemeClr val="tx1"/>
                </a:solidFill>
                <a:effectLst/>
                <a:latin typeface="Consolas" panose="020B0609020204030204" pitchFamily="49" charset="0"/>
              </a:rPr>
              <a:t>ORDER BY AMOUNT DESC</a:t>
            </a:r>
          </a:p>
          <a:p>
            <a:pPr marL="0" indent="0">
              <a:lnSpc>
                <a:spcPts val="1425"/>
              </a:lnSpc>
              <a:buNone/>
            </a:pPr>
            <a:r>
              <a:rPr lang="en-US" sz="1400" b="0" dirty="0">
                <a:solidFill>
                  <a:schemeClr val="tx1"/>
                </a:solidFill>
                <a:effectLst/>
                <a:latin typeface="Consolas" panose="020B0609020204030204" pitchFamily="49" charset="0"/>
              </a:rPr>
              <a:t>LIMIT 5;</a:t>
            </a:r>
          </a:p>
          <a:p>
            <a:pPr marL="0" indent="0">
              <a:buNone/>
            </a:pPr>
            <a:endParaRPr lang="en-IN" sz="1600" b="1" dirty="0"/>
          </a:p>
        </p:txBody>
      </p:sp>
      <p:sp>
        <p:nvSpPr>
          <p:cNvPr id="4" name="Content Placeholder 3">
            <a:extLst>
              <a:ext uri="{FF2B5EF4-FFF2-40B4-BE49-F238E27FC236}">
                <a16:creationId xmlns:a16="http://schemas.microsoft.com/office/drawing/2014/main" id="{C913846F-D56E-B1DF-2604-B90928A6988E}"/>
              </a:ext>
            </a:extLst>
          </p:cNvPr>
          <p:cNvSpPr>
            <a:spLocks noGrp="1"/>
          </p:cNvSpPr>
          <p:nvPr>
            <p:ph sz="half" idx="2"/>
          </p:nvPr>
        </p:nvSpPr>
        <p:spPr>
          <a:xfrm>
            <a:off x="6319840" y="521109"/>
            <a:ext cx="5872160" cy="6336888"/>
          </a:xfrm>
        </p:spPr>
        <p:txBody>
          <a:bodyPr/>
          <a:lstStyle/>
          <a:p>
            <a:pPr marL="0" indent="0">
              <a:buNone/>
            </a:pPr>
            <a:r>
              <a:rPr lang="en-IN" sz="1600" b="1" dirty="0">
                <a:solidFill>
                  <a:srgbClr val="00B0F0"/>
                </a:solidFill>
              </a:rPr>
              <a:t>OUTPUT :</a:t>
            </a:r>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dirty="0"/>
          </a:p>
        </p:txBody>
      </p:sp>
      <p:graphicFrame>
        <p:nvGraphicFramePr>
          <p:cNvPr id="5" name="Table 4">
            <a:extLst>
              <a:ext uri="{FF2B5EF4-FFF2-40B4-BE49-F238E27FC236}">
                <a16:creationId xmlns:a16="http://schemas.microsoft.com/office/drawing/2014/main" id="{B1D4828C-9FAC-E674-3B5B-9F184BA13CF6}"/>
              </a:ext>
            </a:extLst>
          </p:cNvPr>
          <p:cNvGraphicFramePr>
            <a:graphicFrameLocks noGrp="1"/>
          </p:cNvGraphicFramePr>
          <p:nvPr>
            <p:extLst>
              <p:ext uri="{D42A27DB-BD31-4B8C-83A1-F6EECF244321}">
                <p14:modId xmlns:p14="http://schemas.microsoft.com/office/powerpoint/2010/main" val="3791635180"/>
              </p:ext>
            </p:extLst>
          </p:nvPr>
        </p:nvGraphicFramePr>
        <p:xfrm>
          <a:off x="6319839" y="899339"/>
          <a:ext cx="2312884" cy="2355138"/>
        </p:xfrm>
        <a:graphic>
          <a:graphicData uri="http://schemas.openxmlformats.org/drawingml/2006/table">
            <a:tbl>
              <a:tblPr/>
              <a:tblGrid>
                <a:gridCol w="1156442">
                  <a:extLst>
                    <a:ext uri="{9D8B030D-6E8A-4147-A177-3AD203B41FA5}">
                      <a16:colId xmlns:a16="http://schemas.microsoft.com/office/drawing/2014/main" val="973332224"/>
                    </a:ext>
                  </a:extLst>
                </a:gridCol>
                <a:gridCol w="1156442">
                  <a:extLst>
                    <a:ext uri="{9D8B030D-6E8A-4147-A177-3AD203B41FA5}">
                      <a16:colId xmlns:a16="http://schemas.microsoft.com/office/drawing/2014/main" val="410703813"/>
                    </a:ext>
                  </a:extLst>
                </a:gridCol>
              </a:tblGrid>
              <a:tr h="571365">
                <a:tc>
                  <a:txBody>
                    <a:bodyPr/>
                    <a:lstStyle/>
                    <a:p>
                      <a:pPr algn="l" rtl="0" fontAlgn="ctr"/>
                      <a:r>
                        <a:rPr lang="en-IN" sz="1400" b="1" i="0" u="none" strike="noStrike">
                          <a:solidFill>
                            <a:srgbClr val="FFFFFF"/>
                          </a:solidFill>
                          <a:effectLst/>
                          <a:latin typeface="Century Gothic" panose="020B0502020202020204" pitchFamily="34" charset="0"/>
                        </a:rPr>
                        <a:t>Customer ID</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tc>
                  <a:txBody>
                    <a:bodyPr/>
                    <a:lstStyle/>
                    <a:p>
                      <a:pPr algn="l" rtl="0" fontAlgn="ctr"/>
                      <a:r>
                        <a:rPr lang="en-IN" sz="1400" b="1" i="0" u="none" strike="noStrike">
                          <a:solidFill>
                            <a:srgbClr val="FFFFFF"/>
                          </a:solidFill>
                          <a:effectLst/>
                          <a:latin typeface="Century Gothic" panose="020B0502020202020204" pitchFamily="34" charset="0"/>
                        </a:rPr>
                        <a:t>Amount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extLst>
                  <a:ext uri="{0D108BD9-81ED-4DB2-BD59-A6C34878D82A}">
                    <a16:rowId xmlns:a16="http://schemas.microsoft.com/office/drawing/2014/main" val="40376154"/>
                  </a:ext>
                </a:extLst>
              </a:tr>
              <a:tr h="362329">
                <a:tc>
                  <a:txBody>
                    <a:bodyPr/>
                    <a:lstStyle/>
                    <a:p>
                      <a:pPr algn="l" rtl="0" fontAlgn="ctr"/>
                      <a:r>
                        <a:rPr lang="en-IN" sz="1400" b="0" i="0" u="none" strike="noStrike">
                          <a:solidFill>
                            <a:srgbClr val="000000"/>
                          </a:solidFill>
                          <a:effectLst/>
                          <a:latin typeface="Century Gothic" panose="020B0502020202020204" pitchFamily="34" charset="0"/>
                        </a:rPr>
                        <a:t>8</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a:solidFill>
                            <a:srgbClr val="000000"/>
                          </a:solidFill>
                          <a:effectLst/>
                          <a:latin typeface="Century Gothic" panose="020B0502020202020204" pitchFamily="34" charset="0"/>
                        </a:rPr>
                        <a:t>26634.34</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2405873774"/>
                  </a:ext>
                </a:extLst>
              </a:tr>
              <a:tr h="362329">
                <a:tc>
                  <a:txBody>
                    <a:bodyPr/>
                    <a:lstStyle/>
                    <a:p>
                      <a:pPr algn="l" rtl="0" fontAlgn="ctr"/>
                      <a:r>
                        <a:rPr lang="en-IN" sz="1400" b="0" i="0" u="none" strike="noStrike">
                          <a:solidFill>
                            <a:srgbClr val="000000"/>
                          </a:solidFill>
                          <a:effectLst/>
                          <a:latin typeface="Century Gothic" panose="020B0502020202020204" pitchFamily="34" charset="0"/>
                        </a:rPr>
                        <a:t>3</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400" b="0" i="0" u="none" strike="noStrike">
                          <a:solidFill>
                            <a:srgbClr val="000000"/>
                          </a:solidFill>
                          <a:effectLst/>
                          <a:latin typeface="Century Gothic" panose="020B0502020202020204" pitchFamily="34" charset="0"/>
                        </a:rPr>
                        <a:t>23402.26</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2891906717"/>
                  </a:ext>
                </a:extLst>
              </a:tr>
              <a:tr h="348393">
                <a:tc>
                  <a:txBody>
                    <a:bodyPr/>
                    <a:lstStyle/>
                    <a:p>
                      <a:pPr algn="l" rtl="0" fontAlgn="ctr"/>
                      <a:r>
                        <a:rPr lang="en-IN" sz="1400" b="0" i="0" u="none" strike="noStrike">
                          <a:solidFill>
                            <a:srgbClr val="000000"/>
                          </a:solidFill>
                          <a:effectLst/>
                          <a:latin typeface="Century Gothic" panose="020B0502020202020204" pitchFamily="34" charset="0"/>
                        </a:rPr>
                        <a:t>2</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a:solidFill>
                            <a:srgbClr val="000000"/>
                          </a:solidFill>
                          <a:effectLst/>
                          <a:latin typeface="Century Gothic" panose="020B0502020202020204" pitchFamily="34" charset="0"/>
                        </a:rPr>
                        <a:t>23392.28</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3416814674"/>
                  </a:ext>
                </a:extLst>
              </a:tr>
              <a:tr h="362329">
                <a:tc>
                  <a:txBody>
                    <a:bodyPr/>
                    <a:lstStyle/>
                    <a:p>
                      <a:pPr algn="l" rtl="0" fontAlgn="ctr"/>
                      <a:r>
                        <a:rPr lang="en-IN" sz="1400" b="0" i="0" u="none" strike="noStrike">
                          <a:solidFill>
                            <a:srgbClr val="000000"/>
                          </a:solidFill>
                          <a:effectLst/>
                          <a:latin typeface="Century Gothic" panose="020B0502020202020204" pitchFamily="34" charset="0"/>
                        </a:rPr>
                        <a:t>15</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400" b="0" i="0" u="none" strike="noStrike">
                          <a:solidFill>
                            <a:srgbClr val="000000"/>
                          </a:solidFill>
                          <a:effectLst/>
                          <a:latin typeface="Century Gothic" panose="020B0502020202020204" pitchFamily="34" charset="0"/>
                        </a:rPr>
                        <a:t>22674.46</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1187091732"/>
                  </a:ext>
                </a:extLst>
              </a:tr>
              <a:tr h="348393">
                <a:tc>
                  <a:txBody>
                    <a:bodyPr/>
                    <a:lstStyle/>
                    <a:p>
                      <a:pPr algn="l" rtl="0" fontAlgn="ctr"/>
                      <a:r>
                        <a:rPr lang="en-IN" sz="1400" b="0" i="0" u="none" strike="noStrike">
                          <a:solidFill>
                            <a:srgbClr val="000000"/>
                          </a:solidFill>
                          <a:effectLst/>
                          <a:latin typeface="Century Gothic" panose="020B0502020202020204" pitchFamily="34" charset="0"/>
                        </a:rPr>
                        <a:t>1</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dirty="0">
                          <a:solidFill>
                            <a:srgbClr val="000000"/>
                          </a:solidFill>
                          <a:effectLst/>
                          <a:latin typeface="Century Gothic" panose="020B0502020202020204" pitchFamily="34" charset="0"/>
                        </a:rPr>
                        <a:t>22634.55</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2749836908"/>
                  </a:ext>
                </a:extLst>
              </a:tr>
            </a:tbl>
          </a:graphicData>
        </a:graphic>
      </p:graphicFrame>
    </p:spTree>
    <p:extLst>
      <p:ext uri="{BB962C8B-B14F-4D97-AF65-F5344CB8AC3E}">
        <p14:creationId xmlns:p14="http://schemas.microsoft.com/office/powerpoint/2010/main" val="3637730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7B327-5F5A-3C79-B94A-6C0B52249157}"/>
              </a:ext>
            </a:extLst>
          </p:cNvPr>
          <p:cNvSpPr>
            <a:spLocks noGrp="1"/>
          </p:cNvSpPr>
          <p:nvPr>
            <p:ph type="title"/>
          </p:nvPr>
        </p:nvSpPr>
        <p:spPr>
          <a:xfrm>
            <a:off x="0" y="1"/>
            <a:ext cx="12192000" cy="580102"/>
          </a:xfrm>
        </p:spPr>
        <p:txBody>
          <a:bodyPr>
            <a:normAutofit/>
          </a:bodyPr>
          <a:lstStyle/>
          <a:p>
            <a:pPr algn="ctr"/>
            <a:r>
              <a:rPr lang="en-US" sz="2000" dirty="0">
                <a:solidFill>
                  <a:srgbClr val="00B0F0"/>
                </a:solidFill>
              </a:rPr>
              <a:t>Sales Trends by Day of the Week</a:t>
            </a:r>
            <a:endParaRPr lang="en-IN" sz="2000" dirty="0">
              <a:solidFill>
                <a:srgbClr val="00B0F0"/>
              </a:solidFill>
            </a:endParaRPr>
          </a:p>
        </p:txBody>
      </p:sp>
      <p:sp>
        <p:nvSpPr>
          <p:cNvPr id="3" name="Content Placeholder 2">
            <a:extLst>
              <a:ext uri="{FF2B5EF4-FFF2-40B4-BE49-F238E27FC236}">
                <a16:creationId xmlns:a16="http://schemas.microsoft.com/office/drawing/2014/main" id="{8E58CD50-6778-6BA4-4212-17F71CAC6911}"/>
              </a:ext>
            </a:extLst>
          </p:cNvPr>
          <p:cNvSpPr>
            <a:spLocks noGrp="1"/>
          </p:cNvSpPr>
          <p:nvPr>
            <p:ph sz="half" idx="1"/>
          </p:nvPr>
        </p:nvSpPr>
        <p:spPr>
          <a:xfrm>
            <a:off x="554476" y="580103"/>
            <a:ext cx="5590739" cy="6277896"/>
          </a:xfrm>
        </p:spPr>
        <p:txBody>
          <a:bodyPr>
            <a:normAutofit/>
          </a:bodyPr>
          <a:lstStyle/>
          <a:p>
            <a:pPr marL="0" indent="0">
              <a:buNone/>
            </a:pPr>
            <a:r>
              <a:rPr lang="en-IN" sz="1600" b="1" dirty="0">
                <a:solidFill>
                  <a:srgbClr val="00B0F0"/>
                </a:solidFill>
                <a:latin typeface="Consolas" panose="020B0609020204030204" pitchFamily="49" charset="0"/>
              </a:rPr>
              <a:t>SQL QUERY :</a:t>
            </a:r>
          </a:p>
          <a:p>
            <a:pPr marL="0" indent="0">
              <a:lnSpc>
                <a:spcPts val="1425"/>
              </a:lnSpc>
              <a:buNone/>
            </a:pPr>
            <a:r>
              <a:rPr lang="en-US" sz="1600" b="0" dirty="0">
                <a:solidFill>
                  <a:schemeClr val="tx1"/>
                </a:solidFill>
                <a:effectLst/>
                <a:latin typeface="Consolas" panose="020B0609020204030204" pitchFamily="49" charset="0"/>
              </a:rPr>
              <a:t>SELECT DAYNAME(DATE) AS DAY_OF_WEEK,</a:t>
            </a:r>
          </a:p>
          <a:p>
            <a:pPr marL="0" indent="0">
              <a:lnSpc>
                <a:spcPts val="1425"/>
              </a:lnSpc>
              <a:buNone/>
            </a:pPr>
            <a:r>
              <a:rPr lang="en-US" sz="1600" b="0" dirty="0">
                <a:solidFill>
                  <a:schemeClr val="tx1"/>
                </a:solidFill>
                <a:effectLst/>
                <a:latin typeface="Consolas" panose="020B0609020204030204" pitchFamily="49" charset="0"/>
              </a:rPr>
              <a:t>ROUND(SUM(TOTAL), 2) AS TOTAL_SALE </a:t>
            </a:r>
          </a:p>
          <a:p>
            <a:pPr marL="0" indent="0">
              <a:lnSpc>
                <a:spcPts val="1425"/>
              </a:lnSpc>
              <a:buNone/>
            </a:pPr>
            <a:r>
              <a:rPr lang="en-US" sz="1600" b="0" dirty="0">
                <a:solidFill>
                  <a:schemeClr val="tx1"/>
                </a:solidFill>
                <a:effectLst/>
                <a:latin typeface="Consolas" panose="020B0609020204030204" pitchFamily="49" charset="0"/>
              </a:rPr>
              <a:t>FROM WALMART_SALES</a:t>
            </a:r>
          </a:p>
          <a:p>
            <a:pPr marL="0" indent="0">
              <a:lnSpc>
                <a:spcPts val="1425"/>
              </a:lnSpc>
              <a:buNone/>
            </a:pPr>
            <a:r>
              <a:rPr lang="en-US" sz="1600" b="0" dirty="0">
                <a:solidFill>
                  <a:schemeClr val="tx1"/>
                </a:solidFill>
                <a:effectLst/>
                <a:latin typeface="Consolas" panose="020B0609020204030204" pitchFamily="49" charset="0"/>
              </a:rPr>
              <a:t>GROUP BY DAY_OF_WEEK</a:t>
            </a:r>
          </a:p>
          <a:p>
            <a:pPr marL="0" indent="0">
              <a:lnSpc>
                <a:spcPts val="1425"/>
              </a:lnSpc>
              <a:buNone/>
            </a:pPr>
            <a:r>
              <a:rPr lang="en-US" sz="1600" b="0" dirty="0">
                <a:solidFill>
                  <a:schemeClr val="tx1"/>
                </a:solidFill>
                <a:effectLst/>
                <a:latin typeface="Consolas" panose="020B0609020204030204" pitchFamily="49" charset="0"/>
              </a:rPr>
              <a:t>ORDER BY TOTAL_SALE DESC;</a:t>
            </a:r>
          </a:p>
          <a:p>
            <a:pPr marL="0" indent="0">
              <a:buNone/>
            </a:pPr>
            <a:endParaRPr lang="en-IN" sz="1600" b="1" dirty="0">
              <a:latin typeface="Consolas" panose="020B0609020204030204" pitchFamily="49" charset="0"/>
            </a:endParaRPr>
          </a:p>
        </p:txBody>
      </p:sp>
      <p:sp>
        <p:nvSpPr>
          <p:cNvPr id="4" name="Content Placeholder 3">
            <a:extLst>
              <a:ext uri="{FF2B5EF4-FFF2-40B4-BE49-F238E27FC236}">
                <a16:creationId xmlns:a16="http://schemas.microsoft.com/office/drawing/2014/main" id="{CC265286-7F94-9950-0111-70660B69BAA9}"/>
              </a:ext>
            </a:extLst>
          </p:cNvPr>
          <p:cNvSpPr>
            <a:spLocks noGrp="1"/>
          </p:cNvSpPr>
          <p:nvPr>
            <p:ph sz="half" idx="2"/>
          </p:nvPr>
        </p:nvSpPr>
        <p:spPr>
          <a:xfrm>
            <a:off x="6319839" y="580102"/>
            <a:ext cx="5872161" cy="6277897"/>
          </a:xfrm>
        </p:spPr>
        <p:txBody>
          <a:bodyPr>
            <a:normAutofit/>
          </a:bodyPr>
          <a:lstStyle/>
          <a:p>
            <a:pPr marL="0" indent="0">
              <a:buNone/>
            </a:pPr>
            <a:r>
              <a:rPr lang="en-IN" sz="1600" b="1" dirty="0">
                <a:solidFill>
                  <a:srgbClr val="00B0F0"/>
                </a:solidFill>
              </a:rPr>
              <a:t>OUTPUT :</a:t>
            </a:r>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endParaRPr lang="en-IN" sz="1600" b="1" dirty="0"/>
          </a:p>
          <a:p>
            <a:pPr marL="0" indent="0">
              <a:buNone/>
            </a:pPr>
            <a:r>
              <a:rPr lang="en-IN" sz="1600" b="1" dirty="0">
                <a:solidFill>
                  <a:srgbClr val="00B0F0"/>
                </a:solidFill>
              </a:rPr>
              <a:t>VISUAL :</a:t>
            </a:r>
          </a:p>
          <a:p>
            <a:pPr marL="0" indent="0">
              <a:buNone/>
            </a:pPr>
            <a:endParaRPr lang="en-IN" sz="1600" b="1" dirty="0"/>
          </a:p>
          <a:p>
            <a:pPr marL="0" indent="0">
              <a:buNone/>
            </a:pPr>
            <a:endParaRPr lang="en-IN" sz="1600" b="1" dirty="0"/>
          </a:p>
        </p:txBody>
      </p:sp>
      <p:graphicFrame>
        <p:nvGraphicFramePr>
          <p:cNvPr id="5" name="Table 4">
            <a:extLst>
              <a:ext uri="{FF2B5EF4-FFF2-40B4-BE49-F238E27FC236}">
                <a16:creationId xmlns:a16="http://schemas.microsoft.com/office/drawing/2014/main" id="{C608F845-45FF-5ED3-6D8A-22EB694D1D20}"/>
              </a:ext>
            </a:extLst>
          </p:cNvPr>
          <p:cNvGraphicFramePr>
            <a:graphicFrameLocks noGrp="1"/>
          </p:cNvGraphicFramePr>
          <p:nvPr>
            <p:extLst>
              <p:ext uri="{D42A27DB-BD31-4B8C-83A1-F6EECF244321}">
                <p14:modId xmlns:p14="http://schemas.microsoft.com/office/powerpoint/2010/main" val="1656564891"/>
              </p:ext>
            </p:extLst>
          </p:nvPr>
        </p:nvGraphicFramePr>
        <p:xfrm>
          <a:off x="6319839" y="982300"/>
          <a:ext cx="3378252" cy="2446700"/>
        </p:xfrm>
        <a:graphic>
          <a:graphicData uri="http://schemas.openxmlformats.org/drawingml/2006/table">
            <a:tbl>
              <a:tblPr/>
              <a:tblGrid>
                <a:gridCol w="1923005">
                  <a:extLst>
                    <a:ext uri="{9D8B030D-6E8A-4147-A177-3AD203B41FA5}">
                      <a16:colId xmlns:a16="http://schemas.microsoft.com/office/drawing/2014/main" val="2820240029"/>
                    </a:ext>
                  </a:extLst>
                </a:gridCol>
                <a:gridCol w="1455247">
                  <a:extLst>
                    <a:ext uri="{9D8B030D-6E8A-4147-A177-3AD203B41FA5}">
                      <a16:colId xmlns:a16="http://schemas.microsoft.com/office/drawing/2014/main" val="267155368"/>
                    </a:ext>
                  </a:extLst>
                </a:gridCol>
              </a:tblGrid>
              <a:tr h="299841">
                <a:tc>
                  <a:txBody>
                    <a:bodyPr/>
                    <a:lstStyle/>
                    <a:p>
                      <a:pPr algn="l" rtl="0" fontAlgn="ctr"/>
                      <a:r>
                        <a:rPr lang="en-IN" sz="1400" b="1" i="0" u="none" strike="noStrike">
                          <a:solidFill>
                            <a:srgbClr val="FFFFFF"/>
                          </a:solidFill>
                          <a:effectLst/>
                          <a:latin typeface="Century Gothic" panose="020B0502020202020204" pitchFamily="34" charset="0"/>
                        </a:rPr>
                        <a:t>Days of week</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tc>
                  <a:txBody>
                    <a:bodyPr/>
                    <a:lstStyle/>
                    <a:p>
                      <a:pPr algn="l" rtl="0" fontAlgn="ctr"/>
                      <a:r>
                        <a:rPr lang="en-IN" sz="1400" b="1" i="0" u="none" strike="noStrike">
                          <a:solidFill>
                            <a:srgbClr val="FFFFFF"/>
                          </a:solidFill>
                          <a:effectLst/>
                          <a:latin typeface="Century Gothic" panose="020B0502020202020204" pitchFamily="34" charset="0"/>
                        </a:rPr>
                        <a:t>Total sales</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52F61"/>
                    </a:solidFill>
                  </a:tcPr>
                </a:tc>
                <a:extLst>
                  <a:ext uri="{0D108BD9-81ED-4DB2-BD59-A6C34878D82A}">
                    <a16:rowId xmlns:a16="http://schemas.microsoft.com/office/drawing/2014/main" val="4139083856"/>
                  </a:ext>
                </a:extLst>
              </a:tr>
              <a:tr h="311834">
                <a:tc>
                  <a:txBody>
                    <a:bodyPr/>
                    <a:lstStyle/>
                    <a:p>
                      <a:pPr algn="l" rtl="0" fontAlgn="ctr"/>
                      <a:r>
                        <a:rPr lang="en-IN" sz="1400" b="0" i="0" u="none" strike="noStrike">
                          <a:solidFill>
                            <a:srgbClr val="000000"/>
                          </a:solidFill>
                          <a:effectLst/>
                          <a:latin typeface="Century Gothic" panose="020B0502020202020204" pitchFamily="34" charset="0"/>
                        </a:rPr>
                        <a:t>Saturday</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a:solidFill>
                            <a:srgbClr val="000000"/>
                          </a:solidFill>
                          <a:effectLst/>
                          <a:latin typeface="Century Gothic" panose="020B0502020202020204" pitchFamily="34" charset="0"/>
                        </a:rPr>
                        <a:t>56120.81</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3990917259"/>
                  </a:ext>
                </a:extLst>
              </a:tr>
              <a:tr h="299841">
                <a:tc>
                  <a:txBody>
                    <a:bodyPr/>
                    <a:lstStyle/>
                    <a:p>
                      <a:pPr algn="l" rtl="0" fontAlgn="ctr"/>
                      <a:r>
                        <a:rPr lang="en-IN" sz="1400" b="0" i="0" u="none" strike="noStrike">
                          <a:solidFill>
                            <a:srgbClr val="000000"/>
                          </a:solidFill>
                          <a:effectLst/>
                          <a:latin typeface="Century Gothic" panose="020B0502020202020204" pitchFamily="34" charset="0"/>
                        </a:rPr>
                        <a:t>Tuesday</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400" b="0" i="0" u="none" strike="noStrike">
                          <a:solidFill>
                            <a:srgbClr val="000000"/>
                          </a:solidFill>
                          <a:effectLst/>
                          <a:latin typeface="Century Gothic" panose="020B0502020202020204" pitchFamily="34" charset="0"/>
                        </a:rPr>
                        <a:t>51482.25</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3468620903"/>
                  </a:ext>
                </a:extLst>
              </a:tr>
              <a:tr h="311834">
                <a:tc>
                  <a:txBody>
                    <a:bodyPr/>
                    <a:lstStyle/>
                    <a:p>
                      <a:pPr algn="l" rtl="0" fontAlgn="ctr"/>
                      <a:r>
                        <a:rPr lang="en-IN" sz="1400" b="0" i="0" u="none" strike="noStrike">
                          <a:solidFill>
                            <a:srgbClr val="000000"/>
                          </a:solidFill>
                          <a:effectLst/>
                          <a:latin typeface="Century Gothic" panose="020B0502020202020204" pitchFamily="34" charset="0"/>
                        </a:rPr>
                        <a:t>Thursday</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a:solidFill>
                            <a:srgbClr val="000000"/>
                          </a:solidFill>
                          <a:effectLst/>
                          <a:latin typeface="Century Gothic" panose="020B0502020202020204" pitchFamily="34" charset="0"/>
                        </a:rPr>
                        <a:t>45349.25</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1236564660"/>
                  </a:ext>
                </a:extLst>
              </a:tr>
              <a:tr h="299841">
                <a:tc>
                  <a:txBody>
                    <a:bodyPr/>
                    <a:lstStyle/>
                    <a:p>
                      <a:pPr algn="l" rtl="0" fontAlgn="ctr"/>
                      <a:r>
                        <a:rPr lang="en-IN" sz="1400" b="0" i="0" u="none" strike="noStrike">
                          <a:solidFill>
                            <a:srgbClr val="000000"/>
                          </a:solidFill>
                          <a:effectLst/>
                          <a:latin typeface="Century Gothic" panose="020B0502020202020204" pitchFamily="34" charset="0"/>
                        </a:rPr>
                        <a:t>Sunday</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400" b="0" i="0" u="none" strike="noStrike" dirty="0">
                          <a:solidFill>
                            <a:srgbClr val="000000"/>
                          </a:solidFill>
                          <a:effectLst/>
                          <a:latin typeface="Century Gothic" panose="020B0502020202020204" pitchFamily="34" charset="0"/>
                        </a:rPr>
                        <a:t>44457.89</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2416441679"/>
                  </a:ext>
                </a:extLst>
              </a:tr>
              <a:tr h="311834">
                <a:tc>
                  <a:txBody>
                    <a:bodyPr/>
                    <a:lstStyle/>
                    <a:p>
                      <a:pPr algn="l" rtl="0" fontAlgn="ctr"/>
                      <a:r>
                        <a:rPr lang="en-IN" sz="1400" b="0" i="0" u="none" strike="noStrike">
                          <a:solidFill>
                            <a:srgbClr val="000000"/>
                          </a:solidFill>
                          <a:effectLst/>
                          <a:latin typeface="Century Gothic" panose="020B0502020202020204" pitchFamily="34" charset="0"/>
                        </a:rPr>
                        <a:t>Friday</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a:solidFill>
                            <a:srgbClr val="000000"/>
                          </a:solidFill>
                          <a:effectLst/>
                          <a:latin typeface="Century Gothic" panose="020B0502020202020204" pitchFamily="34" charset="0"/>
                        </a:rPr>
                        <a:t>43926.34</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3155926835"/>
                  </a:ext>
                </a:extLst>
              </a:tr>
              <a:tr h="299841">
                <a:tc>
                  <a:txBody>
                    <a:bodyPr/>
                    <a:lstStyle/>
                    <a:p>
                      <a:pPr algn="l" rtl="0" fontAlgn="ctr"/>
                      <a:r>
                        <a:rPr lang="en-IN" sz="1400" b="0" i="0" u="none" strike="noStrike">
                          <a:solidFill>
                            <a:srgbClr val="000000"/>
                          </a:solidFill>
                          <a:effectLst/>
                          <a:latin typeface="Century Gothic" panose="020B0502020202020204" pitchFamily="34" charset="0"/>
                        </a:rPr>
                        <a:t>Wednesday</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algn="l" rtl="0" fontAlgn="ctr"/>
                      <a:r>
                        <a:rPr lang="en-IN" sz="1400" b="0" i="0" u="none" strike="noStrike">
                          <a:solidFill>
                            <a:srgbClr val="000000"/>
                          </a:solidFill>
                          <a:effectLst/>
                          <a:latin typeface="Century Gothic" panose="020B0502020202020204" pitchFamily="34" charset="0"/>
                        </a:rPr>
                        <a:t>43731.14</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1904532594"/>
                  </a:ext>
                </a:extLst>
              </a:tr>
              <a:tr h="311834">
                <a:tc>
                  <a:txBody>
                    <a:bodyPr/>
                    <a:lstStyle/>
                    <a:p>
                      <a:pPr algn="l" rtl="0" fontAlgn="ctr"/>
                      <a:r>
                        <a:rPr lang="en-IN" sz="1400" b="0" i="0" u="none" strike="noStrike">
                          <a:solidFill>
                            <a:srgbClr val="000000"/>
                          </a:solidFill>
                          <a:effectLst/>
                          <a:latin typeface="Century Gothic" panose="020B0502020202020204" pitchFamily="34" charset="0"/>
                        </a:rPr>
                        <a:t>Monday</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tc>
                  <a:txBody>
                    <a:bodyPr/>
                    <a:lstStyle/>
                    <a:p>
                      <a:pPr algn="l" rtl="0" fontAlgn="ctr"/>
                      <a:r>
                        <a:rPr lang="en-IN" sz="1400" b="0" i="0" u="none" strike="noStrike" dirty="0">
                          <a:solidFill>
                            <a:srgbClr val="000000"/>
                          </a:solidFill>
                          <a:effectLst/>
                          <a:latin typeface="Century Gothic" panose="020B0502020202020204" pitchFamily="34" charset="0"/>
                        </a:rPr>
                        <a:t>37899.08</a:t>
                      </a:r>
                    </a:p>
                  </a:txBody>
                  <a:tcPr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2"/>
                    </a:solidFill>
                  </a:tcPr>
                </a:tc>
                <a:extLst>
                  <a:ext uri="{0D108BD9-81ED-4DB2-BD59-A6C34878D82A}">
                    <a16:rowId xmlns:a16="http://schemas.microsoft.com/office/drawing/2014/main" val="967639106"/>
                  </a:ext>
                </a:extLst>
              </a:tr>
            </a:tbl>
          </a:graphicData>
        </a:graphic>
      </p:graphicFrame>
      <p:graphicFrame>
        <p:nvGraphicFramePr>
          <p:cNvPr id="6" name="Chart 5">
            <a:extLst>
              <a:ext uri="{FF2B5EF4-FFF2-40B4-BE49-F238E27FC236}">
                <a16:creationId xmlns:a16="http://schemas.microsoft.com/office/drawing/2014/main" id="{26A1E892-5AC1-6611-48F5-8B143AEBA338}"/>
              </a:ext>
            </a:extLst>
          </p:cNvPr>
          <p:cNvGraphicFramePr>
            <a:graphicFrameLocks/>
          </p:cNvGraphicFramePr>
          <p:nvPr>
            <p:extLst>
              <p:ext uri="{D42A27DB-BD31-4B8C-83A1-F6EECF244321}">
                <p14:modId xmlns:p14="http://schemas.microsoft.com/office/powerpoint/2010/main" val="2119665892"/>
              </p:ext>
            </p:extLst>
          </p:nvPr>
        </p:nvGraphicFramePr>
        <p:xfrm>
          <a:off x="6218903" y="4114799"/>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94344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5B7300-B8DB-3C90-D27B-EF7BAE3285C5}"/>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9A22DDE2-FB2D-421B-B377-F9AD495CE9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pic>
        <p:nvPicPr>
          <p:cNvPr id="15" name="Picture 14">
            <a:extLst>
              <a:ext uri="{FF2B5EF4-FFF2-40B4-BE49-F238E27FC236}">
                <a16:creationId xmlns:a16="http://schemas.microsoft.com/office/drawing/2014/main" id="{A995140B-9736-47E4-9A7D-ABB32F3AAA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useBgFill="1">
        <p:nvSpPr>
          <p:cNvPr id="17" name="Rectangle 16">
            <a:extLst>
              <a:ext uri="{FF2B5EF4-FFF2-40B4-BE49-F238E27FC236}">
                <a16:creationId xmlns:a16="http://schemas.microsoft.com/office/drawing/2014/main" id="{E770CA6A-B3B0-4826-A91F-B2B1F8922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3C51B9DA-B0CC-480A-8EA5-4D5C3E0515B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8" name="Title 7">
            <a:extLst>
              <a:ext uri="{FF2B5EF4-FFF2-40B4-BE49-F238E27FC236}">
                <a16:creationId xmlns:a16="http://schemas.microsoft.com/office/drawing/2014/main" id="{C22BDC2C-8FC7-624B-2809-F9B9BC442A7A}"/>
              </a:ext>
            </a:extLst>
          </p:cNvPr>
          <p:cNvSpPr>
            <a:spLocks noGrp="1"/>
          </p:cNvSpPr>
          <p:nvPr>
            <p:ph type="title"/>
          </p:nvPr>
        </p:nvSpPr>
        <p:spPr>
          <a:xfrm>
            <a:off x="4976028" y="965200"/>
            <a:ext cx="6170943" cy="4329641"/>
          </a:xfrm>
        </p:spPr>
        <p:txBody>
          <a:bodyPr vert="horz" lIns="91440" tIns="45720" rIns="91440" bIns="45720" rtlCol="0" anchor="ctr">
            <a:normAutofit/>
          </a:bodyPr>
          <a:lstStyle/>
          <a:p>
            <a:pPr algn="l"/>
            <a:r>
              <a:rPr lang="en-US" sz="5400" b="1" u="sng">
                <a:effectLst>
                  <a:outerShdw blurRad="38100" dist="38100" dir="2700000" algn="tl">
                    <a:srgbClr val="000000">
                      <a:alpha val="43137"/>
                    </a:srgbClr>
                  </a:outerShdw>
                </a:effectLst>
              </a:rPr>
              <a:t>THANK YOU</a:t>
            </a:r>
          </a:p>
        </p:txBody>
      </p:sp>
      <p:cxnSp>
        <p:nvCxnSpPr>
          <p:cNvPr id="21" name="Straight Connector 20">
            <a:extLst>
              <a:ext uri="{FF2B5EF4-FFF2-40B4-BE49-F238E27FC236}">
                <a16:creationId xmlns:a16="http://schemas.microsoft.com/office/drawing/2014/main" id="{6FE641DB-A503-41DE-ACA6-36B41C6C2B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621260"/>
            <a:ext cx="0" cy="30175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2962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TM04033937[[fn=Vapor Trail]]</Template>
  <TotalTime>598</TotalTime>
  <Words>1479</Words>
  <Application>Microsoft Office PowerPoint</Application>
  <PresentationFormat>Widescreen</PresentationFormat>
  <Paragraphs>458</Paragraphs>
  <Slides>17</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Century Gothic</vt:lpstr>
      <vt:lpstr>Consolas</vt:lpstr>
      <vt:lpstr>Wingdings</vt:lpstr>
      <vt:lpstr>Vapor Trail</vt:lpstr>
      <vt:lpstr>Sales Performance Analysis of Walmart Stores Using Advanced MySQL Techniques</vt:lpstr>
      <vt:lpstr>Table of Contents</vt:lpstr>
      <vt:lpstr>iNTRODUCTION</vt:lpstr>
      <vt:lpstr>BUSINESS pROBLEM</vt:lpstr>
      <vt:lpstr>TASKS AND QUERIES</vt:lpstr>
      <vt:lpstr>Changing Date Datatype</vt:lpstr>
      <vt:lpstr>Top Branch by Sales Growth Rate</vt:lpstr>
      <vt:lpstr>Most Profitable Product Line for Each Branch</vt:lpstr>
      <vt:lpstr>Customer Segmentation Based on Spending</vt:lpstr>
      <vt:lpstr>Anomalies in Sales Transactions</vt:lpstr>
      <vt:lpstr>Most Popular Payment Method by City</vt:lpstr>
      <vt:lpstr>Monthly Sales Distribution by Gender</vt:lpstr>
      <vt:lpstr>Best Product Line by Customer Type</vt:lpstr>
      <vt:lpstr>Repeated Customers</vt:lpstr>
      <vt:lpstr>Top 5 Customers by Sales Volume</vt:lpstr>
      <vt:lpstr>Sales Trends by Day of the Week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Shreeraj</dc:creator>
  <cp:lastModifiedBy>S Shreeraj</cp:lastModifiedBy>
  <cp:revision>9</cp:revision>
  <dcterms:created xsi:type="dcterms:W3CDTF">2024-12-31T05:45:45Z</dcterms:created>
  <dcterms:modified xsi:type="dcterms:W3CDTF">2025-01-04T04:47:31Z</dcterms:modified>
</cp:coreProperties>
</file>